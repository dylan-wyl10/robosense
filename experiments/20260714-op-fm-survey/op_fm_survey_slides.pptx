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8AD45-E656-4233-AEA6-6595A3612D18}" v="4" dt="2026-07-13T23:41:44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1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7-14T04:11:58.125" v="594" actId="313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del">
          <ac:chgData name="Yilin Wang" userId="06abc78b-9058-4e15-afda-57e086dc17fc" providerId="ADAL" clId="{82DDD170-D4B5-46ED-803B-C300EEBF3622}" dt="2026-07-13T22:43:51.955" v="0" actId="478"/>
          <ac:spMkLst>
            <pc:docMk/>
            <pc:sldMk cId="3471812488" sldId="256"/>
            <ac:spMk id="3" creationId="{9DDE8257-5A9C-7577-98E9-022DDB9156A0}"/>
          </ac:spMkLst>
        </pc:spChg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del">
        <pc:chgData name="Yilin Wang" userId="06abc78b-9058-4e15-afda-57e086dc17fc" providerId="ADAL" clId="{82DDD170-D4B5-46ED-803B-C300EEBF3622}" dt="2026-07-13T22:44:07.014" v="31" actId="47"/>
        <pc:sldMkLst>
          <pc:docMk/>
          <pc:sldMk cId="1301410514" sldId="258"/>
        </pc:sldMkLst>
      </pc:sldChg>
      <pc:sldChg chg="del">
        <pc:chgData name="Yilin Wang" userId="06abc78b-9058-4e15-afda-57e086dc17fc" providerId="ADAL" clId="{82DDD170-D4B5-46ED-803B-C300EEBF3622}" dt="2026-07-13T22:44:05.276" v="28" actId="47"/>
        <pc:sldMkLst>
          <pc:docMk/>
          <pc:sldMk cId="3614081668" sldId="262"/>
        </pc:sldMkLst>
      </pc:sldChg>
      <pc:sldChg chg="del">
        <pc:chgData name="Yilin Wang" userId="06abc78b-9058-4e15-afda-57e086dc17fc" providerId="ADAL" clId="{82DDD170-D4B5-46ED-803B-C300EEBF3622}" dt="2026-07-13T22:44:06.669" v="30" actId="47"/>
        <pc:sldMkLst>
          <pc:docMk/>
          <pc:sldMk cId="784894218" sldId="264"/>
        </pc:sldMkLst>
      </pc:sldChg>
      <pc:sldChg chg="del">
        <pc:chgData name="Yilin Wang" userId="06abc78b-9058-4e15-afda-57e086dc17fc" providerId="ADAL" clId="{82DDD170-D4B5-46ED-803B-C300EEBF3622}" dt="2026-07-13T22:44:07.688" v="34" actId="47"/>
        <pc:sldMkLst>
          <pc:docMk/>
          <pc:sldMk cId="162891556" sldId="265"/>
        </pc:sldMkLst>
      </pc:sldChg>
      <pc:sldChg chg="del">
        <pc:chgData name="Yilin Wang" userId="06abc78b-9058-4e15-afda-57e086dc17fc" providerId="ADAL" clId="{82DDD170-D4B5-46ED-803B-C300EEBF3622}" dt="2026-07-13T22:44:08.282" v="35" actId="47"/>
        <pc:sldMkLst>
          <pc:docMk/>
          <pc:sldMk cId="2690878361" sldId="266"/>
        </pc:sldMkLst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add del mo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" creationId="{B85E56BB-87BF-6D4F-1686-2041CC99F881}"/>
          </ac:spMkLst>
        </pc:spChg>
        <pc:spChg chg="add del mo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4" creationId="{64CF493E-5FDE-0E4D-132A-386815B9F666}"/>
          </ac:spMkLst>
        </pc:spChg>
        <pc:spChg chg="add del 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5" creationId="{8B564126-A1EB-F492-1005-A4EDE71F7B4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del">
        <pc:chgData name="Yilin Wang" userId="06abc78b-9058-4e15-afda-57e086dc17fc" providerId="ADAL" clId="{82DDD170-D4B5-46ED-803B-C300EEBF3622}" dt="2026-07-13T22:44:08.453" v="36" actId="47"/>
        <pc:sldMkLst>
          <pc:docMk/>
          <pc:sldMk cId="3241094962" sldId="273"/>
        </pc:sldMkLst>
      </pc:sldChg>
      <pc:sldChg chg="del">
        <pc:chgData name="Yilin Wang" userId="06abc78b-9058-4e15-afda-57e086dc17fc" providerId="ADAL" clId="{82DDD170-D4B5-46ED-803B-C300EEBF3622}" dt="2026-07-13T22:44:08.830" v="38" actId="47"/>
        <pc:sldMkLst>
          <pc:docMk/>
          <pc:sldMk cId="4120216339" sldId="274"/>
        </pc:sldMkLst>
      </pc:sldChg>
      <pc:sldChg chg="del">
        <pc:chgData name="Yilin Wang" userId="06abc78b-9058-4e15-afda-57e086dc17fc" providerId="ADAL" clId="{82DDD170-D4B5-46ED-803B-C300EEBF3622}" dt="2026-07-13T22:44:09.023" v="39" actId="47"/>
        <pc:sldMkLst>
          <pc:docMk/>
          <pc:sldMk cId="2763446820" sldId="275"/>
        </pc:sldMkLst>
      </pc:sldChg>
      <pc:sldChg chg="del">
        <pc:chgData name="Yilin Wang" userId="06abc78b-9058-4e15-afda-57e086dc17fc" providerId="ADAL" clId="{82DDD170-D4B5-46ED-803B-C300EEBF3622}" dt="2026-07-13T22:44:09.263" v="40" actId="47"/>
        <pc:sldMkLst>
          <pc:docMk/>
          <pc:sldMk cId="3257985449" sldId="276"/>
        </pc:sldMkLst>
      </pc:sldChg>
      <pc:sldChg chg="del">
        <pc:chgData name="Yilin Wang" userId="06abc78b-9058-4e15-afda-57e086dc17fc" providerId="ADAL" clId="{82DDD170-D4B5-46ED-803B-C300EEBF3622}" dt="2026-07-13T22:44:08.639" v="37" actId="47"/>
        <pc:sldMkLst>
          <pc:docMk/>
          <pc:sldMk cId="1897293927" sldId="279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del">
        <pc:chgData name="Yilin Wang" userId="06abc78b-9058-4e15-afda-57e086dc17fc" providerId="ADAL" clId="{82DDD170-D4B5-46ED-803B-C300EEBF3622}" dt="2026-07-13T22:44:10.009" v="41" actId="47"/>
        <pc:sldMkLst>
          <pc:docMk/>
          <pc:sldMk cId="1052492918" sldId="282"/>
        </pc:sldMkLst>
      </pc:sldChg>
      <pc:sldChg chg="del">
        <pc:chgData name="Yilin Wang" userId="06abc78b-9058-4e15-afda-57e086dc17fc" providerId="ADAL" clId="{82DDD170-D4B5-46ED-803B-C300EEBF3622}" dt="2026-07-13T22:44:10.623" v="43" actId="47"/>
        <pc:sldMkLst>
          <pc:docMk/>
          <pc:sldMk cId="2004708218" sldId="283"/>
        </pc:sldMkLst>
      </pc:sldChg>
      <pc:sldChg chg="del">
        <pc:chgData name="Yilin Wang" userId="06abc78b-9058-4e15-afda-57e086dc17fc" providerId="ADAL" clId="{82DDD170-D4B5-46ED-803B-C300EEBF3622}" dt="2026-07-13T22:44:10.745" v="44" actId="47"/>
        <pc:sldMkLst>
          <pc:docMk/>
          <pc:sldMk cId="3175540308" sldId="284"/>
        </pc:sldMkLst>
      </pc:sldChg>
      <pc:sldChg chg="del">
        <pc:chgData name="Yilin Wang" userId="06abc78b-9058-4e15-afda-57e086dc17fc" providerId="ADAL" clId="{82DDD170-D4B5-46ED-803B-C300EEBF3622}" dt="2026-07-13T22:44:10.352" v="42" actId="47"/>
        <pc:sldMkLst>
          <pc:docMk/>
          <pc:sldMk cId="86596453" sldId="286"/>
        </pc:sldMkLst>
      </pc:sldChg>
      <pc:sldChg chg="add del">
        <pc:chgData name="Yilin Wang" userId="06abc78b-9058-4e15-afda-57e086dc17fc" providerId="ADAL" clId="{82DDD170-D4B5-46ED-803B-C300EEBF3622}" dt="2026-07-13T22:44:52.818" v="78" actId="47"/>
        <pc:sldMkLst>
          <pc:docMk/>
          <pc:sldMk cId="3966750816" sldId="290"/>
        </pc:sldMkLst>
      </pc:sldChg>
      <pc:sldChg chg="del">
        <pc:chgData name="Yilin Wang" userId="06abc78b-9058-4e15-afda-57e086dc17fc" providerId="ADAL" clId="{82DDD170-D4B5-46ED-803B-C300EEBF3622}" dt="2026-07-13T22:44:07.458" v="33" actId="47"/>
        <pc:sldMkLst>
          <pc:docMk/>
          <pc:sldMk cId="387385694" sldId="291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48.267" v="69"/>
        <pc:sldMkLst>
          <pc:docMk/>
          <pc:sldMk cId="1311639791" sldId="293"/>
        </pc:sldMkLst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del">
        <pc:chgData name="Yilin Wang" userId="06abc78b-9058-4e15-afda-57e086dc17fc" providerId="ADAL" clId="{82DDD170-D4B5-46ED-803B-C300EEBF3622}" dt="2026-07-13T22:44:07.261" v="32" actId="47"/>
        <pc:sldMkLst>
          <pc:docMk/>
          <pc:sldMk cId="1547140243" sldId="295"/>
        </pc:sldMkLst>
      </pc:sldChg>
      <pc:sldChg chg="del">
        <pc:chgData name="Yilin Wang" userId="06abc78b-9058-4e15-afda-57e086dc17fc" providerId="ADAL" clId="{82DDD170-D4B5-46ED-803B-C300EEBF3622}" dt="2026-07-13T22:44:06.286" v="29" actId="47"/>
        <pc:sldMkLst>
          <pc:docMk/>
          <pc:sldMk cId="1829712606" sldId="296"/>
        </pc:sldMkLst>
      </pc:sldChg>
      <pc:sldChg chg="del">
        <pc:chgData name="Yilin Wang" userId="06abc78b-9058-4e15-afda-57e086dc17fc" providerId="ADAL" clId="{82DDD170-D4B5-46ED-803B-C300EEBF3622}" dt="2026-07-13T22:44:10.934" v="45" actId="47"/>
        <pc:sldMkLst>
          <pc:docMk/>
          <pc:sldMk cId="3953505861" sldId="298"/>
        </pc:sldMkLst>
      </pc:sldChg>
      <pc:sldChg chg="del">
        <pc:chgData name="Yilin Wang" userId="06abc78b-9058-4e15-afda-57e086dc17fc" providerId="ADAL" clId="{82DDD170-D4B5-46ED-803B-C300EEBF3622}" dt="2026-07-13T22:44:11.202" v="46" actId="47"/>
        <pc:sldMkLst>
          <pc:docMk/>
          <pc:sldMk cId="1618076526" sldId="300"/>
        </pc:sldMkLst>
      </pc:sldChg>
      <pc:sldChg chg="del">
        <pc:chgData name="Yilin Wang" userId="06abc78b-9058-4e15-afda-57e086dc17fc" providerId="ADAL" clId="{82DDD170-D4B5-46ED-803B-C300EEBF3622}" dt="2026-07-13T22:44:11.474" v="47" actId="47"/>
        <pc:sldMkLst>
          <pc:docMk/>
          <pc:sldMk cId="4138482302" sldId="301"/>
        </pc:sldMkLst>
      </pc:sldChg>
      <pc:sldChg chg="del">
        <pc:chgData name="Yilin Wang" userId="06abc78b-9058-4e15-afda-57e086dc17fc" providerId="ADAL" clId="{82DDD170-D4B5-46ED-803B-C300EEBF3622}" dt="2026-07-13T22:44:11.692" v="48" actId="47"/>
        <pc:sldMkLst>
          <pc:docMk/>
          <pc:sldMk cId="1119301075" sldId="302"/>
        </pc:sldMkLst>
      </pc:sldChg>
      <pc:sldChg chg="del">
        <pc:chgData name="Yilin Wang" userId="06abc78b-9058-4e15-afda-57e086dc17fc" providerId="ADAL" clId="{82DDD170-D4B5-46ED-803B-C300EEBF3622}" dt="2026-07-13T22:44:11.900" v="49" actId="47"/>
        <pc:sldMkLst>
          <pc:docMk/>
          <pc:sldMk cId="1366311776" sldId="303"/>
        </pc:sldMkLst>
      </pc:sldChg>
      <pc:sldChg chg="addSp delSp modSp add del mod delAnim">
        <pc:chgData name="Yilin Wang" userId="06abc78b-9058-4e15-afda-57e086dc17fc" providerId="ADAL" clId="{82DDD170-D4B5-46ED-803B-C300EEBF3622}" dt="2026-07-14T04:11:58.125" v="594" actId="313"/>
        <pc:sldMkLst>
          <pc:docMk/>
          <pc:sldMk cId="2074524224" sldId="304"/>
        </pc:sldMkLst>
        <pc:spChg chg="add mod">
          <ac:chgData name="Yilin Wang" userId="06abc78b-9058-4e15-afda-57e086dc17fc" providerId="ADAL" clId="{82DDD170-D4B5-46ED-803B-C300EEBF3622}" dt="2026-07-14T04:11:58.125" v="594" actId="313"/>
          <ac:spMkLst>
            <pc:docMk/>
            <pc:sldMk cId="2074524224" sldId="304"/>
            <ac:spMk id="5" creationId="{AA386F2D-949F-BE46-C29D-6B8589A54014}"/>
          </ac:spMkLst>
        </pc:spChg>
        <pc:spChg chg="del">
          <ac:chgData name="Yilin Wang" userId="06abc78b-9058-4e15-afda-57e086dc17fc" providerId="ADAL" clId="{82DDD170-D4B5-46ED-803B-C300EEBF3622}" dt="2026-07-13T23:26:02.915" v="153" actId="478"/>
          <ac:spMkLst>
            <pc:docMk/>
            <pc:sldMk cId="2074524224" sldId="304"/>
            <ac:spMk id="6" creationId="{6E3DD996-D728-8BAA-9720-6D3AB56923CC}"/>
          </ac:spMkLst>
        </pc:spChg>
        <pc:spChg chg="mod">
          <ac:chgData name="Yilin Wang" userId="06abc78b-9058-4e15-afda-57e086dc17fc" providerId="ADAL" clId="{82DDD170-D4B5-46ED-803B-C300EEBF3622}" dt="2026-07-13T23:25:51.657" v="142" actId="14100"/>
          <ac:spMkLst>
            <pc:docMk/>
            <pc:sldMk cId="2074524224" sldId="304"/>
            <ac:spMk id="7" creationId="{81D200EA-4FD4-7AAB-5CE2-40B53E6637AA}"/>
          </ac:spMkLst>
        </pc:spChg>
        <pc:spChg chg="del">
          <ac:chgData name="Yilin Wang" userId="06abc78b-9058-4e15-afda-57e086dc17fc" providerId="ADAL" clId="{82DDD170-D4B5-46ED-803B-C300EEBF3622}" dt="2026-07-13T23:26:02.310" v="152" actId="478"/>
          <ac:spMkLst>
            <pc:docMk/>
            <pc:sldMk cId="2074524224" sldId="304"/>
            <ac:spMk id="11" creationId="{F38B6961-62A1-723F-B356-288E8748A075}"/>
          </ac:spMkLst>
        </pc:spChg>
        <pc:spChg chg="del">
          <ac:chgData name="Yilin Wang" userId="06abc78b-9058-4e15-afda-57e086dc17fc" providerId="ADAL" clId="{82DDD170-D4B5-46ED-803B-C300EEBF3622}" dt="2026-07-13T23:26:00.586" v="148" actId="478"/>
          <ac:spMkLst>
            <pc:docMk/>
            <pc:sldMk cId="2074524224" sldId="304"/>
            <ac:spMk id="16" creationId="{78C6D178-20C0-619D-EBC2-8BFA0FC6FE01}"/>
          </ac:spMkLst>
        </pc:spChg>
        <pc:spChg chg="del">
          <ac:chgData name="Yilin Wang" userId="06abc78b-9058-4e15-afda-57e086dc17fc" providerId="ADAL" clId="{82DDD170-D4B5-46ED-803B-C300EEBF3622}" dt="2026-07-13T23:26:00.586" v="148" actId="478"/>
          <ac:spMkLst>
            <pc:docMk/>
            <pc:sldMk cId="2074524224" sldId="304"/>
            <ac:spMk id="17" creationId="{39E67635-E6C3-8311-2430-AA946B2063C2}"/>
          </ac:spMkLst>
        </pc:spChg>
        <pc:spChg chg="del">
          <ac:chgData name="Yilin Wang" userId="06abc78b-9058-4e15-afda-57e086dc17fc" providerId="ADAL" clId="{82DDD170-D4B5-46ED-803B-C300EEBF3622}" dt="2026-07-13T23:26:00.586" v="148" actId="478"/>
          <ac:spMkLst>
            <pc:docMk/>
            <pc:sldMk cId="2074524224" sldId="304"/>
            <ac:spMk id="18" creationId="{246744DE-F62B-094B-F262-8B60C6D7B1B1}"/>
          </ac:spMkLst>
        </pc:spChg>
        <pc:spChg chg="del">
          <ac:chgData name="Yilin Wang" userId="06abc78b-9058-4e15-afda-57e086dc17fc" providerId="ADAL" clId="{82DDD170-D4B5-46ED-803B-C300EEBF3622}" dt="2026-07-13T23:25:54.830" v="143" actId="478"/>
          <ac:spMkLst>
            <pc:docMk/>
            <pc:sldMk cId="2074524224" sldId="304"/>
            <ac:spMk id="55" creationId="{9B9FF93C-B97A-7D31-88B9-2CB21DFF81DA}"/>
          </ac:spMkLst>
        </pc:spChg>
        <pc:spChg chg="del">
          <ac:chgData name="Yilin Wang" userId="06abc78b-9058-4e15-afda-57e086dc17fc" providerId="ADAL" clId="{82DDD170-D4B5-46ED-803B-C300EEBF3622}" dt="2026-07-13T23:25:54.830" v="143" actId="478"/>
          <ac:spMkLst>
            <pc:docMk/>
            <pc:sldMk cId="2074524224" sldId="304"/>
            <ac:spMk id="56" creationId="{BBB5C9FC-6058-EF43-BD77-FF721B9DFBC6}"/>
          </ac:spMkLst>
        </pc:spChg>
        <pc:spChg chg="del">
          <ac:chgData name="Yilin Wang" userId="06abc78b-9058-4e15-afda-57e086dc17fc" providerId="ADAL" clId="{82DDD170-D4B5-46ED-803B-C300EEBF3622}" dt="2026-07-13T23:25:54.830" v="143" actId="478"/>
          <ac:spMkLst>
            <pc:docMk/>
            <pc:sldMk cId="2074524224" sldId="304"/>
            <ac:spMk id="58" creationId="{BC53321F-2A44-09CC-639B-F3411ECC791E}"/>
          </ac:spMkLst>
        </pc:spChg>
        <pc:spChg chg="del">
          <ac:chgData name="Yilin Wang" userId="06abc78b-9058-4e15-afda-57e086dc17fc" providerId="ADAL" clId="{82DDD170-D4B5-46ED-803B-C300EEBF3622}" dt="2026-07-13T23:25:54.830" v="143" actId="478"/>
          <ac:spMkLst>
            <pc:docMk/>
            <pc:sldMk cId="2074524224" sldId="304"/>
            <ac:spMk id="60" creationId="{2F1B02CE-AD31-52D9-468E-E4B8A8278BE5}"/>
          </ac:spMkLst>
        </pc:spChg>
        <pc:spChg chg="del">
          <ac:chgData name="Yilin Wang" userId="06abc78b-9058-4e15-afda-57e086dc17fc" providerId="ADAL" clId="{82DDD170-D4B5-46ED-803B-C300EEBF3622}" dt="2026-07-13T23:25:54.830" v="143" actId="478"/>
          <ac:spMkLst>
            <pc:docMk/>
            <pc:sldMk cId="2074524224" sldId="304"/>
            <ac:spMk id="62" creationId="{918ACBFE-27B8-8BA3-4B4F-0C6F9ED9EC0E}"/>
          </ac:spMkLst>
        </pc:spChg>
        <pc:spChg chg="mod">
          <ac:chgData name="Yilin Wang" userId="06abc78b-9058-4e15-afda-57e086dc17fc" providerId="ADAL" clId="{82DDD170-D4B5-46ED-803B-C300EEBF3622}" dt="2026-07-13T23:27:40.412" v="161" actId="20577"/>
          <ac:spMkLst>
            <pc:docMk/>
            <pc:sldMk cId="2074524224" sldId="304"/>
            <ac:spMk id="203" creationId="{1BEDC69D-400F-3205-C6F1-2E6EC6128B46}"/>
          </ac:spMkLst>
        </pc:spChg>
        <pc:picChg chg="add del mod">
          <ac:chgData name="Yilin Wang" userId="06abc78b-9058-4e15-afda-57e086dc17fc" providerId="ADAL" clId="{82DDD170-D4B5-46ED-803B-C300EEBF3622}" dt="2026-07-13T23:41:41.788" v="164" actId="478"/>
          <ac:picMkLst>
            <pc:docMk/>
            <pc:sldMk cId="2074524224" sldId="304"/>
            <ac:picMk id="3" creationId="{AFE123C3-C353-563B-7554-43CFCDE71D9A}"/>
          </ac:picMkLst>
        </pc:picChg>
        <pc:picChg chg="del">
          <ac:chgData name="Yilin Wang" userId="06abc78b-9058-4e15-afda-57e086dc17fc" providerId="ADAL" clId="{82DDD170-D4B5-46ED-803B-C300EEBF3622}" dt="2026-07-13T23:25:58.668" v="145" actId="478"/>
          <ac:picMkLst>
            <pc:docMk/>
            <pc:sldMk cId="2074524224" sldId="304"/>
            <ac:picMk id="4" creationId="{62882AFA-7D6C-2479-0606-74028592EE41}"/>
          </ac:picMkLst>
        </pc:picChg>
        <pc:picChg chg="del mod">
          <ac:chgData name="Yilin Wang" userId="06abc78b-9058-4e15-afda-57e086dc17fc" providerId="ADAL" clId="{82DDD170-D4B5-46ED-803B-C300EEBF3622}" dt="2026-07-13T23:25:59.040" v="147" actId="478"/>
          <ac:picMkLst>
            <pc:docMk/>
            <pc:sldMk cId="2074524224" sldId="304"/>
            <ac:picMk id="10" creationId="{876FEED3-C1BB-58C3-AC33-BC510FC5087F}"/>
          </ac:picMkLst>
        </pc:picChg>
        <pc:picChg chg="del">
          <ac:chgData name="Yilin Wang" userId="06abc78b-9058-4e15-afda-57e086dc17fc" providerId="ADAL" clId="{82DDD170-D4B5-46ED-803B-C300EEBF3622}" dt="2026-07-13T23:26:01.445" v="149" actId="478"/>
          <ac:picMkLst>
            <pc:docMk/>
            <pc:sldMk cId="2074524224" sldId="304"/>
            <ac:picMk id="13" creationId="{5912D004-E769-5697-4CBD-47395F019C59}"/>
          </ac:picMkLst>
        </pc:picChg>
        <pc:picChg chg="del mod">
          <ac:chgData name="Yilin Wang" userId="06abc78b-9058-4e15-afda-57e086dc17fc" providerId="ADAL" clId="{82DDD170-D4B5-46ED-803B-C300EEBF3622}" dt="2026-07-13T23:26:01.729" v="151" actId="478"/>
          <ac:picMkLst>
            <pc:docMk/>
            <pc:sldMk cId="2074524224" sldId="304"/>
            <ac:picMk id="15" creationId="{8848ECC6-56A7-804B-91D0-75017D727162}"/>
          </ac:picMkLst>
        </pc:picChg>
      </pc:sldChg>
      <pc:sldChg chg="add del">
        <pc:chgData name="Yilin Wang" userId="06abc78b-9058-4e15-afda-57e086dc17fc" providerId="ADAL" clId="{82DDD170-D4B5-46ED-803B-C300EEBF3622}" dt="2026-07-13T22:44:53.044" v="79" actId="47"/>
        <pc:sldMkLst>
          <pc:docMk/>
          <pc:sldMk cId="4255979582" sldId="305"/>
        </pc:sldMkLst>
      </pc:sldChg>
      <pc:sldChg chg="add">
        <pc:chgData name="Yilin Wang" userId="06abc78b-9058-4e15-afda-57e086dc17fc" providerId="ADAL" clId="{82DDD170-D4B5-46ED-803B-C300EEBF3622}" dt="2026-07-13T23:41:38.278" v="163"/>
        <pc:sldMkLst>
          <pc:docMk/>
          <pc:sldMk cId="907687665" sldId="30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66C6-D31B-B905-D12C-FE897EE1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4BB38B-45B6-A7EA-E58C-93444B521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8B2163-9D6C-FBEB-31F0-1A0A1331D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3F9F1-B127-1C93-BBD0-BBCE48BD7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28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0722-7C7C-8754-B391-8580D70F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29EC95-2C91-AFE9-0699-F6A8CC1BC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15BB0B-C47A-B68F-E765-A3E8B9816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EBC12-6AEB-93FB-42EB-78E9593BC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930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F285-4EBA-230F-0924-D4474E5A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15DE3E-7DC6-C400-9F7A-52F7A8FBF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9669F2-244A-95A5-001E-15CB5976A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BC1ED9-9CEC-9E9C-50F3-EB9177817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029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wang4517@purdue.edu" TargetMode="External"/><Relationship Id="rId3" Type="http://schemas.openxmlformats.org/officeDocument/2006/relationships/hyperlink" Target="mailto:feng333@purdue.edu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8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20.png"/><Relationship Id="rId4" Type="http://schemas.openxmlformats.org/officeDocument/2006/relationships/image" Target="../media/image230.png"/><Relationship Id="rId7" Type="http://schemas.openxmlformats.org/officeDocument/2006/relationships/image" Target="../media/image240.png"/><Relationship Id="rId8" Type="http://schemas.openxmlformats.org/officeDocument/2006/relationships/image" Target="../media/image250.png"/><Relationship Id="rId9" Type="http://schemas.openxmlformats.org/officeDocument/2006/relationships/image" Target="../media/image260.png"/><Relationship Id="rId10" Type="http://schemas.openxmlformats.org/officeDocument/2006/relationships/image" Target="../media/image270.png"/><Relationship Id="rId11" Type="http://schemas.openxmlformats.org/officeDocument/2006/relationships/image" Target="../media/image280.png"/><Relationship Id="rId12" Type="http://schemas.openxmlformats.org/officeDocument/2006/relationships/image" Target="../media/image290.png"/><Relationship Id="rId13" Type="http://schemas.openxmlformats.org/officeDocument/2006/relationships/image" Target="../media/image300.png"/><Relationship Id="rId14" Type="http://schemas.openxmlformats.org/officeDocument/2006/relationships/image" Target="../media/image3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0.png"/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350.png"/><Relationship Id="rId6" Type="http://schemas.openxmlformats.org/officeDocument/2006/relationships/image" Target="../media/image360.png"/><Relationship Id="rId7" Type="http://schemas.openxmlformats.org/officeDocument/2006/relationships/image" Target="../media/image370.png"/><Relationship Id="rId8" Type="http://schemas.openxmlformats.org/officeDocument/2006/relationships/image" Target="../media/image380.png"/><Relationship Id="rId9" Type="http://schemas.openxmlformats.org/officeDocument/2006/relationships/image" Target="../media/image390.png"/><Relationship Id="rId10" Type="http://schemas.openxmlformats.org/officeDocument/2006/relationships/image" Target="../media/image400.png"/><Relationship Id="rId11" Type="http://schemas.openxmlformats.org/officeDocument/2006/relationships/image" Target="../media/image410.png"/><Relationship Id="rId12" Type="http://schemas.openxmlformats.org/officeDocument/2006/relationships/image" Target="../media/image420.png"/><Relationship Id="rId13" Type="http://schemas.openxmlformats.org/officeDocument/2006/relationships/image" Target="../media/image430.png"/><Relationship Id="rId14" Type="http://schemas.openxmlformats.org/officeDocument/2006/relationships/image" Target="../media/image440.png"/><Relationship Id="rId15" Type="http://schemas.openxmlformats.org/officeDocument/2006/relationships/image" Target="../media/image450.png"/><Relationship Id="rId16" Type="http://schemas.openxmlformats.org/officeDocument/2006/relationships/image" Target="../media/image46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0.png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</a:t>
            </a:r>
            <a:br>
              <a:rPr lang="en-US" altLang="zh-CN" dirty="0"/>
            </a:br>
            <a:r>
              <a:rPr lang="en-US" altLang="zh-CN" dirty="0"/>
              <a:t>Dec.12</a:t>
            </a:r>
            <a:r>
              <a:rPr lang="en-US" altLang="zh-CN" baseline="30000" dirty="0"/>
              <a:t>nd</a:t>
            </a:r>
            <a:r>
              <a:rPr lang="en-US" altLang="zh-CN" dirty="0"/>
              <a:t> 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Group Meeting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Notes and Thoughts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8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5D17-E8BA-5697-21D7-76768AEB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3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8FF0-E787-935F-098A-F05EE537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LR1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Neural Combination Optimization (NCO) = leverage learning-based model to solve </a:t>
            </a:r>
            <a:r>
              <a:rPr lang="en-US" altLang="zh-CN" dirty="0" err="1">
                <a:latin typeface="Amasis MT Pro" panose="02040504050005020304" pitchFamily="18" charset="0"/>
              </a:rPr>
              <a:t>vrps</a:t>
            </a:r>
            <a:r>
              <a:rPr lang="en-US" altLang="zh-CN" dirty="0">
                <a:latin typeface="Amasis MT Pro" panose="02040504050005020304" pitchFamily="18" charset="0"/>
              </a:rPr>
              <a:t> without manual algorithm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Current NCO build one model for each problem.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In particular, we formulate VRPs as different combinations of a set of shared underlying attributes and solve them simultaneously via a single model through attribute 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Amasis MT Pro" panose="020405040500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Treat </a:t>
            </a:r>
            <a:r>
              <a:rPr lang="en-US" altLang="zh-CN" dirty="0" err="1">
                <a:latin typeface="Amasis MT Pro" panose="02040504050005020304" pitchFamily="18" charset="0"/>
              </a:rPr>
              <a:t>vrp</a:t>
            </a:r>
            <a:r>
              <a:rPr lang="en-US" altLang="zh-CN" dirty="0">
                <a:latin typeface="Amasis MT Pro" panose="02040504050005020304" pitchFamily="18" charset="0"/>
              </a:rPr>
              <a:t> variant as C+X </a:t>
            </a:r>
            <a:r>
              <a:rPr lang="zh-CN" altLang="en-US" dirty="0">
                <a:latin typeface="Amasis MT Pro" panose="02040504050005020304" pitchFamily="18" charset="0"/>
              </a:rPr>
              <a:t>（</a:t>
            </a:r>
            <a:r>
              <a:rPr lang="en-US" altLang="zh-CN" dirty="0">
                <a:latin typeface="Amasis MT Pro" panose="02040504050005020304" pitchFamily="18" charset="0"/>
              </a:rPr>
              <a:t>O/B/L/TW)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Unified representation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Single time encoder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" panose="02040504050005020304" pitchFamily="18" charset="0"/>
              </a:rPr>
              <a:t>Reward  = negative of </a:t>
            </a:r>
            <a:endParaRPr lang="zh-CN" altLang="en-US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52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D672-298D-2881-4769-69E6827A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2BE7FA6-AB30-3E87-F014-01FED33650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6927E594-3F5D-33E7-4F23-067A0F1818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LR1</a:t>
            </a:r>
            <a:endParaRPr lang="zh-CN" alt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199D6-3EBE-5B3A-86A4-A0B8430DC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134" y="834615"/>
            <a:ext cx="7057143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8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FAA4-4483-5D25-49B5-6509C1FD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815AF6D-C4EF-4D1D-4F71-48F463ABA7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DEA14EBE-7415-000E-4DF6-5C0195511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Routing Strategy </a:t>
            </a:r>
            <a:endParaRPr lang="zh-CN" altLang="en-US" sz="28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83D778C-1853-4990-1429-D2334892C0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6BF0494-E56E-4A16-5FEE-BF78CEEC2C68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8B5ED89-2226-CCF2-04CB-0069426EEB3B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067BBB1-0DE7-90F6-F4A2-843C8AC2043C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90DDB32-713C-E734-235F-98C9EE5A1819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433CBE-6C6D-8028-E235-D7A6E768BE47}"/>
              </a:ext>
            </a:extLst>
          </p:cNvPr>
          <p:cNvSpPr txBox="1"/>
          <p:nvPr/>
        </p:nvSpPr>
        <p:spPr>
          <a:xfrm>
            <a:off x="2163603" y="4393720"/>
            <a:ext cx="528193" cy="369332"/>
          </a:xfrm>
          <a:prstGeom prst="rect">
            <a:avLst/>
          </a:prstGeom>
          <a:solidFill>
            <a:srgbClr val="AE976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00"/>
                </a:solidFill>
                <a:latin typeface="Amasis MT Pro Medium" panose="02040604050005020304" pitchFamily="18" charset="0"/>
              </a:defRPr>
            </a:lvl1pPr>
          </a:lstStyle>
          <a:p>
            <a:pPr algn="ctr"/>
            <a:r>
              <a:rPr lang="en-US" altLang="zh-CN" dirty="0"/>
              <a:t>2%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0667FE-8515-B95F-5C1E-FADEF3F01B5B}"/>
              </a:ext>
            </a:extLst>
          </p:cNvPr>
          <p:cNvSpPr txBox="1"/>
          <p:nvPr/>
        </p:nvSpPr>
        <p:spPr>
          <a:xfrm>
            <a:off x="6321937" y="4393720"/>
            <a:ext cx="528193" cy="369332"/>
          </a:xfrm>
          <a:prstGeom prst="rect">
            <a:avLst/>
          </a:prstGeom>
          <a:solidFill>
            <a:srgbClr val="AE976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00"/>
                </a:solidFill>
                <a:latin typeface="Amasis MT Pro Medium" panose="02040604050005020304" pitchFamily="18" charset="0"/>
              </a:defRPr>
            </a:lvl1pPr>
          </a:lstStyle>
          <a:p>
            <a:pPr algn="ctr"/>
            <a:r>
              <a:rPr lang="en-US" altLang="zh-CN" dirty="0"/>
              <a:t>5%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DC6F38-8623-1300-D786-DB792773BAE2}"/>
              </a:ext>
            </a:extLst>
          </p:cNvPr>
          <p:cNvSpPr txBox="1"/>
          <p:nvPr/>
        </p:nvSpPr>
        <p:spPr>
          <a:xfrm>
            <a:off x="10319499" y="4393720"/>
            <a:ext cx="705174" cy="369332"/>
          </a:xfrm>
          <a:prstGeom prst="rect">
            <a:avLst/>
          </a:prstGeom>
          <a:solidFill>
            <a:srgbClr val="AE976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solidFill>
                  <a:srgbClr val="000000"/>
                </a:solidFill>
                <a:latin typeface="Amasis MT Pro Medium" panose="02040604050005020304" pitchFamily="18" charset="0"/>
              </a:defRPr>
            </a:lvl1pPr>
          </a:lstStyle>
          <a:p>
            <a:pPr algn="ctr"/>
            <a:r>
              <a:rPr lang="en-US" altLang="zh-CN" dirty="0"/>
              <a:t>10%</a:t>
            </a:r>
            <a:endParaRPr lang="zh-CN" altLang="en-US" dirty="0"/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5A16CE2E-6361-E338-1C19-78767DBE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6" y="2042652"/>
            <a:ext cx="3837189" cy="2289122"/>
          </a:xfrm>
          <a:prstGeom prst="rect">
            <a:avLst/>
          </a:prstGeom>
        </p:spPr>
      </p:pic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08CFBE2-4FD9-66AF-F68E-98B031354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295" y="2042652"/>
            <a:ext cx="3837189" cy="2289122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7ED5CB77-5458-3D6D-1169-4BFD1BA26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169" y="2042652"/>
            <a:ext cx="3837189" cy="22891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F5EF0CF-53BA-E290-FF15-3877BC0484B9}"/>
              </a:ext>
            </a:extLst>
          </p:cNvPr>
          <p:cNvSpPr txBox="1"/>
          <p:nvPr/>
        </p:nvSpPr>
        <p:spPr>
          <a:xfrm>
            <a:off x="303985" y="5014852"/>
            <a:ext cx="11801373" cy="646331"/>
          </a:xfrm>
          <a:prstGeom prst="rect">
            <a:avLst/>
          </a:prstGeom>
          <a:solidFill>
            <a:srgbClr val="AE976B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Amasis MT Pro Medium" panose="02040604050005020304" pitchFamily="18" charset="0"/>
              </a:rPr>
              <a:t>Conclusion 4:  The proposed routing algorithms demonstrate flexible strategies for identifying optimal routing plans based on different penetration levels, even with the same weight parameters. 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7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B5EFA-D413-B09C-C8E1-FDE7A3AD1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EA1C9C0-23F8-ADF0-6004-2A97D1E2E9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63E93B98-C22E-3542-E19E-A12585F7A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Conclusion</a:t>
            </a:r>
            <a:endParaRPr lang="zh-CN" altLang="en-US" sz="28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1DEC35F-DC71-1070-906D-CB13329A6D26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02C78D3-6771-4C45-05B6-8254071EB5FE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B46C245-DFA2-076C-6703-9ACF3AC3E80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E152E2C-9CDB-05A6-3E2C-DB1624E7DF85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FEE9F76-962D-9BA3-11FC-AA9B71878694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B212B3-2D16-B384-7C8B-2835A2B0CFAA}"/>
                  </a:ext>
                </a:extLst>
              </p:cNvPr>
              <p:cNvSpPr txBox="1"/>
              <p:nvPr/>
            </p:nvSpPr>
            <p:spPr>
              <a:xfrm>
                <a:off x="631030" y="1758047"/>
                <a:ext cx="10837069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masis MT Pro Medium" panose="02040604050005020304" pitchFamily="18" charset="0"/>
                  </a:rPr>
                  <a:t>From CAV’s perspective, increasing coverage weight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) increase the spatial-temporal network coverage, under all penetration rates.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masis MT Pro Medium" panose="02040604050005020304" pitchFamily="18" charset="0"/>
                  </a:rPr>
                  <a:t>Increasing spatiotemporal coverage improves the traffic information accuracy and improves CAV mobility and reach to a win-win condition.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masis MT Pro Medium" panose="02040604050005020304" pitchFamily="18" charset="0"/>
                  </a:rPr>
                  <a:t>An optimal operation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=1:100000) need to balance enough coverage, segment uniformity, and CAV fleet instead of extending travel distance.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Amasis MT Pro Medium" panose="02040604050005020304" pitchFamily="18" charset="0"/>
                  </a:rPr>
                  <a:t>The proposed algorithm shows different strategies between extending routing distance and finding optimal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path combination. </a:t>
                </a:r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B212B3-2D16-B384-7C8B-2835A2B0C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30" y="1758047"/>
                <a:ext cx="10837069" cy="2585323"/>
              </a:xfrm>
              <a:prstGeom prst="rect">
                <a:avLst/>
              </a:prstGeom>
              <a:blipFill>
                <a:blip r:embed="rId2"/>
                <a:stretch>
                  <a:fillRect l="-394" t="-1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占位符 5">
            <a:extLst>
              <a:ext uri="{FF2B5EF4-FFF2-40B4-BE49-F238E27FC236}">
                <a16:creationId xmlns:a16="http://schemas.microsoft.com/office/drawing/2014/main" id="{5C945CAB-D235-C01D-A7ED-108F5F4DBC83}"/>
              </a:ext>
            </a:extLst>
          </p:cNvPr>
          <p:cNvSpPr txBox="1">
            <a:spLocks/>
          </p:cNvSpPr>
          <p:nvPr/>
        </p:nvSpPr>
        <p:spPr>
          <a:xfrm>
            <a:off x="-9525" y="4042090"/>
            <a:ext cx="6896180" cy="6381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/>
              <a:t>Implication of real-world deployment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75DEC3-79E8-6CC9-B749-C0412F0AA2F1}"/>
              </a:ext>
            </a:extLst>
          </p:cNvPr>
          <p:cNvSpPr txBox="1"/>
          <p:nvPr/>
        </p:nvSpPr>
        <p:spPr>
          <a:xfrm>
            <a:off x="631029" y="4550449"/>
            <a:ext cx="108370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The increasing deployment of AV services (Waymo robotaxi, </a:t>
            </a:r>
            <a:r>
              <a:rPr lang="en-US" altLang="zh-CN" dirty="0" err="1">
                <a:latin typeface="Amasis MT Pro Medium" panose="02040604050005020304" pitchFamily="18" charset="0"/>
              </a:rPr>
              <a:t>Zoox</a:t>
            </a:r>
            <a:r>
              <a:rPr lang="en-US" altLang="zh-CN" dirty="0">
                <a:latin typeface="Amasis MT Pro Medium" panose="02040604050005020304" pitchFamily="18" charset="0"/>
              </a:rPr>
              <a:t> shuttle) enable real-time data collection and transmission.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With properly selected strategic parameters (i.e., the weighting between travel time and coverage), only a small subset of vehicles need to be de-routed with minimal increases in travel time, while benefiting the overall traffic network.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6750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59AA-F4BE-17E7-916F-FF7EA50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4713-2B9D-8798-2468-95EAF4E6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263" y="3642584"/>
            <a:ext cx="5022974" cy="1325563"/>
          </a:xfrm>
        </p:spPr>
        <p:txBody>
          <a:bodyPr/>
          <a:lstStyle/>
          <a:p>
            <a:r>
              <a:rPr lang="en-US" altLang="zh-CN" sz="2000" dirty="0"/>
              <a:t>Yilin Wang: </a:t>
            </a:r>
            <a:r>
              <a:rPr lang="en-US" altLang="zh-CN" sz="2000" dirty="0">
                <a:hlinkClick r:id="rId2"/>
              </a:rPr>
              <a:t>wang4517@purdue.edu</a:t>
            </a:r>
            <a:br>
              <a:rPr lang="en-US" altLang="zh-CN" sz="2000" dirty="0"/>
            </a:br>
            <a:r>
              <a:rPr lang="en-US" altLang="zh-CN" sz="2000" dirty="0"/>
              <a:t>Yiheng Feng*: </a:t>
            </a:r>
            <a:r>
              <a:rPr lang="en-US" altLang="zh-CN" sz="2000" dirty="0">
                <a:hlinkClick r:id="rId3"/>
              </a:rPr>
              <a:t>feng333@purdue.edu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FFC3D0A-0B0F-A410-920D-54A204CE0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1534933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 for Listening!</a:t>
            </a:r>
            <a:endParaRPr lang="zh-CN" altLang="en-US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6DC3B43-DE62-B20E-5D5D-17F7B28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Acknowledgement</a:t>
            </a:r>
            <a:endParaRPr lang="zh-CN" altLang="en-US" dirty="0"/>
          </a:p>
        </p:txBody>
      </p:sp>
      <p:pic>
        <p:nvPicPr>
          <p:cNvPr id="2050" name="Picture 2" descr="NSF Logo and symbol, meaning, history, PNG, brand">
            <a:extLst>
              <a:ext uri="{FF2B5EF4-FFF2-40B4-BE49-F238E27FC236}">
                <a16:creationId xmlns:a16="http://schemas.microsoft.com/office/drawing/2014/main" id="{A82E0FF7-95C3-E29F-C4B6-6AA28724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0" y="5476940"/>
            <a:ext cx="2116551" cy="119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CAT - Sustainable Transportation Systems Research Group - Purdue University">
            <a:extLst>
              <a:ext uri="{FF2B5EF4-FFF2-40B4-BE49-F238E27FC236}">
                <a16:creationId xmlns:a16="http://schemas.microsoft.com/office/drawing/2014/main" id="{430EF258-BE62-4EB7-C4B2-05187F89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014" y="5663472"/>
            <a:ext cx="2210256" cy="100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18A228D-8EDD-4C0E-84DA-90408DF4FF9B}"/>
              </a:ext>
            </a:extLst>
          </p:cNvPr>
          <p:cNvSpPr txBox="1">
            <a:spLocks/>
          </p:cNvSpPr>
          <p:nvPr/>
        </p:nvSpPr>
        <p:spPr>
          <a:xfrm>
            <a:off x="73891" y="2630488"/>
            <a:ext cx="12044218" cy="7985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81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EBBA45-B714-FC3D-4BD2-52576305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417E43-86AE-B6DC-CF7B-74067842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1D11F5C-C949-193C-A6E4-A4971C635054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6C797BE-AE66-C6B2-4D6D-8E2CC8A8AEB2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CTM evaluation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88D759D-2405-DF55-8905-583A93521ED5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8DE361C-DCC0-438C-F04C-2B1489D736AF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C4CE6737-DCE1-BCFF-C201-40839023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Toy network analysis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2AA27-D2F3-F1C2-1EE2-824A755A004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B4E1EFB-A71E-20BC-E7A9-D56E3E4FDE75}"/>
              </a:ext>
            </a:extLst>
          </p:cNvPr>
          <p:cNvSpPr txBox="1"/>
          <p:nvPr/>
        </p:nvSpPr>
        <p:spPr>
          <a:xfrm>
            <a:off x="5083759" y="2188193"/>
            <a:ext cx="710824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masis MT Pro Medium"/>
                <a:ea typeface="等线"/>
              </a:rPr>
              <a:t>Veh_1</a:t>
            </a:r>
            <a:r>
              <a:rPr lang="en-US" altLang="zh-CN" sz="1600" dirty="0">
                <a:latin typeface="Amasis MT Pro Medium"/>
                <a:ea typeface="等线"/>
              </a:rPr>
              <a:t>: 25-26, t=0 |route: 25-1-2-3-22-23-24-26. Time: 0-4-8-9-12-13-16-19 </a:t>
            </a:r>
          </a:p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masis MT Pro Medium"/>
                <a:ea typeface="等线"/>
              </a:rPr>
              <a:t>Veh_2</a:t>
            </a:r>
            <a:r>
              <a:rPr lang="en-US" altLang="zh-CN" sz="1600" dirty="0">
                <a:latin typeface="Amasis MT Pro Medium"/>
                <a:ea typeface="等线"/>
              </a:rPr>
              <a:t>: 25-26, t=1 |route: 25-1-2-19-20-9-24-26. Time: 1-2-4-5-8-11-14-15</a:t>
            </a:r>
          </a:p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masis MT Pro Medium"/>
                <a:ea typeface="等线"/>
              </a:rPr>
              <a:t>Veh_3</a:t>
            </a:r>
            <a:r>
              <a:rPr lang="en-US" altLang="zh-CN" sz="1600" dirty="0">
                <a:latin typeface="Amasis MT Pro Medium"/>
                <a:ea typeface="等线"/>
              </a:rPr>
              <a:t>: 25-26, t=2 |route: 25-1-2-3-22-23-24-26. Time: 2-4-8-9-12-13-16-19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masis MT Pro Medium"/>
                <a:ea typeface="等线"/>
              </a:rPr>
              <a:t>Veh_4</a:t>
            </a:r>
            <a:r>
              <a:rPr lang="en-US" altLang="zh-CN" sz="1600" dirty="0">
                <a:latin typeface="Amasis MT Pro Medium"/>
                <a:ea typeface="等线"/>
              </a:rPr>
              <a:t>: 25-26, t=3 |route: 25-13-4-5-20-9-24-26. Time: 3-6-8-11-14-15-18-19</a:t>
            </a: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2EFBD672-FBD2-819D-8634-A1CC6944F58A}"/>
              </a:ext>
            </a:extLst>
          </p:cNvPr>
          <p:cNvGrpSpPr/>
          <p:nvPr/>
        </p:nvGrpSpPr>
        <p:grpSpPr>
          <a:xfrm>
            <a:off x="441219" y="1786785"/>
            <a:ext cx="4918073" cy="3866241"/>
            <a:chOff x="441219" y="1786785"/>
            <a:chExt cx="4918073" cy="386624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DAF8FD4-6098-135B-5949-7F8DD8315A87}"/>
                </a:ext>
              </a:extLst>
            </p:cNvPr>
            <p:cNvGrpSpPr/>
            <p:nvPr/>
          </p:nvGrpSpPr>
          <p:grpSpPr>
            <a:xfrm>
              <a:off x="441219" y="1786785"/>
              <a:ext cx="4918073" cy="3866241"/>
              <a:chOff x="152400" y="1621971"/>
              <a:chExt cx="4918073" cy="3866241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03AF37BF-0842-6009-9C3D-89C56EB43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5" y="2102733"/>
                <a:ext cx="3330254" cy="7022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356A574-4504-240C-6280-B96C50221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3100590"/>
                <a:ext cx="3311274" cy="231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CCA429-F104-C3CF-8D38-708F9DEE6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77" y="2102733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2C5CBF9-196D-B14B-5552-F788C544B4D6}"/>
                  </a:ext>
                </a:extLst>
              </p:cNvPr>
              <p:cNvSpPr txBox="1"/>
              <p:nvPr/>
            </p:nvSpPr>
            <p:spPr>
              <a:xfrm>
                <a:off x="1349828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90AAD56-D7FE-FE0E-E00A-0A9EC5B3784F}"/>
                  </a:ext>
                </a:extLst>
              </p:cNvPr>
              <p:cNvSpPr txBox="1"/>
              <p:nvPr/>
            </p:nvSpPr>
            <p:spPr>
              <a:xfrm>
                <a:off x="2474685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2FBF55-3AC7-C835-D00A-A146FB0C14EC}"/>
                  </a:ext>
                </a:extLst>
              </p:cNvPr>
              <p:cNvSpPr txBox="1"/>
              <p:nvPr/>
            </p:nvSpPr>
            <p:spPr>
              <a:xfrm>
                <a:off x="3672113" y="1767113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3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2D2156-0B8E-0D19-A48C-7AC0D366EEA2}"/>
                  </a:ext>
                </a:extLst>
              </p:cNvPr>
              <p:cNvSpPr txBox="1"/>
              <p:nvPr/>
            </p:nvSpPr>
            <p:spPr>
              <a:xfrm>
                <a:off x="1349826" y="281032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4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63D7EE-B7EB-6823-91D6-6345F3A23149}"/>
                  </a:ext>
                </a:extLst>
              </p:cNvPr>
              <p:cNvSpPr txBox="1"/>
              <p:nvPr/>
            </p:nvSpPr>
            <p:spPr>
              <a:xfrm>
                <a:off x="1367969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7</a:t>
                </a:r>
                <a:endParaRPr lang="zh-CN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393C047-FC75-D678-8E8B-C85F3543DB42}"/>
                  </a:ext>
                </a:extLst>
              </p:cNvPr>
              <p:cNvSpPr txBox="1"/>
              <p:nvPr/>
            </p:nvSpPr>
            <p:spPr>
              <a:xfrm>
                <a:off x="2474683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8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1794B86-44CB-F5F6-1459-65DD9D4DFC73}"/>
                  </a:ext>
                </a:extLst>
              </p:cNvPr>
              <p:cNvSpPr txBox="1"/>
              <p:nvPr/>
            </p:nvSpPr>
            <p:spPr>
              <a:xfrm>
                <a:off x="605969" y="239304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30AA5B-2C9F-EC47-CC98-4FB9912BC9CC}"/>
                  </a:ext>
                </a:extLst>
              </p:cNvPr>
              <p:cNvSpPr txBox="1"/>
              <p:nvPr/>
            </p:nvSpPr>
            <p:spPr>
              <a:xfrm>
                <a:off x="3626754" y="383539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9</a:t>
                </a:r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6F068B8-B5CF-2C07-72DC-E4E3A3B07CBC}"/>
                  </a:ext>
                </a:extLst>
              </p:cNvPr>
              <p:cNvSpPr txBox="1"/>
              <p:nvPr/>
            </p:nvSpPr>
            <p:spPr>
              <a:xfrm>
                <a:off x="2420255" y="4715326"/>
                <a:ext cx="475342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11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D5A5F6-D2B2-E414-22A7-467F13BB41D4}"/>
                  </a:ext>
                </a:extLst>
              </p:cNvPr>
              <p:cNvSpPr txBox="1"/>
              <p:nvPr/>
            </p:nvSpPr>
            <p:spPr>
              <a:xfrm>
                <a:off x="605968" y="3399969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14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29F6E8-F2F1-731C-0AED-E36209BA3032}"/>
                  </a:ext>
                </a:extLst>
              </p:cNvPr>
              <p:cNvSpPr txBox="1"/>
              <p:nvPr/>
            </p:nvSpPr>
            <p:spPr>
              <a:xfrm>
                <a:off x="1304467" y="47697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10</a:t>
                </a:r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BB9E3F-1567-4921-8E4E-B6EB95229C2E}"/>
                  </a:ext>
                </a:extLst>
              </p:cNvPr>
              <p:cNvSpPr txBox="1"/>
              <p:nvPr/>
            </p:nvSpPr>
            <p:spPr>
              <a:xfrm>
                <a:off x="3581396" y="4715325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12</a:t>
                </a:r>
                <a:endParaRPr lang="zh-CN" alt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1DB576D-482B-415C-0143-9B3526735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4116589"/>
                <a:ext cx="3311274" cy="29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F2E6839-B7E4-99B2-A7B3-8C266617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77" y="5034279"/>
                <a:ext cx="3320141" cy="1462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8015B3B-AC86-B5EE-B726-0FE49EA63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8419" y="2102732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E061393A-59E6-4719-58B3-DF7497560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490" y="2102731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9063ED9A-2111-F06D-59C2-749A16B82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0918" y="2095499"/>
                <a:ext cx="18981" cy="2945038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5EBFA10-60B3-1540-85E7-D13855925E4E}"/>
                  </a:ext>
                </a:extLst>
              </p:cNvPr>
              <p:cNvSpPr txBox="1"/>
              <p:nvPr/>
            </p:nvSpPr>
            <p:spPr>
              <a:xfrm>
                <a:off x="2474682" y="2819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5</a:t>
                </a:r>
                <a:endParaRPr lang="zh-CN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E407DA-39FB-81E4-4CAE-030378B1B949}"/>
                  </a:ext>
                </a:extLst>
              </p:cNvPr>
              <p:cNvSpPr txBox="1"/>
              <p:nvPr/>
            </p:nvSpPr>
            <p:spPr>
              <a:xfrm>
                <a:off x="3626754" y="281032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6</a:t>
                </a:r>
                <a:endParaRPr lang="zh-CN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47C2349-FA7C-56DC-AFA6-471C84FB49FB}"/>
                  </a:ext>
                </a:extLst>
              </p:cNvPr>
              <p:cNvSpPr txBox="1"/>
              <p:nvPr/>
            </p:nvSpPr>
            <p:spPr>
              <a:xfrm>
                <a:off x="605967" y="4434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15</a:t>
                </a:r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58870-1BFD-E55F-3524-87F4A2EF6CE1}"/>
                  </a:ext>
                </a:extLst>
              </p:cNvPr>
              <p:cNvSpPr txBox="1"/>
              <p:nvPr/>
            </p:nvSpPr>
            <p:spPr>
              <a:xfrm>
                <a:off x="1676397" y="239304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16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42BEA86-C76D-8F92-5741-FEDBEA3A98FC}"/>
                  </a:ext>
                </a:extLst>
              </p:cNvPr>
              <p:cNvSpPr txBox="1"/>
              <p:nvPr/>
            </p:nvSpPr>
            <p:spPr>
              <a:xfrm>
                <a:off x="1676396" y="339996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17</a:t>
                </a:r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A3211C-E8A4-720F-ECC0-1BA2D9DE72B7}"/>
                  </a:ext>
                </a:extLst>
              </p:cNvPr>
              <p:cNvSpPr txBox="1"/>
              <p:nvPr/>
            </p:nvSpPr>
            <p:spPr>
              <a:xfrm>
                <a:off x="1676395" y="443411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18</a:t>
                </a:r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AFDAFE5-1D51-21B4-E1F6-8CD4CD6733E7}"/>
                  </a:ext>
                </a:extLst>
              </p:cNvPr>
              <p:cNvSpPr txBox="1"/>
              <p:nvPr/>
            </p:nvSpPr>
            <p:spPr>
              <a:xfrm>
                <a:off x="2819397" y="241118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19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07B2AF9-9A1F-614D-2DC6-E0478637F994}"/>
                  </a:ext>
                </a:extLst>
              </p:cNvPr>
              <p:cNvSpPr txBox="1"/>
              <p:nvPr/>
            </p:nvSpPr>
            <p:spPr>
              <a:xfrm>
                <a:off x="2819396" y="3418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20</a:t>
                </a:r>
                <a:endParaRPr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AFC75F-28BB-30D4-71FC-9F7F54F44C2D}"/>
                  </a:ext>
                </a:extLst>
              </p:cNvPr>
              <p:cNvSpPr txBox="1"/>
              <p:nvPr/>
            </p:nvSpPr>
            <p:spPr>
              <a:xfrm>
                <a:off x="2819395" y="44522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21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F0F066-9B80-4BB8-BDEC-F7573FAADBF1}"/>
                  </a:ext>
                </a:extLst>
              </p:cNvPr>
              <p:cNvSpPr txBox="1"/>
              <p:nvPr/>
            </p:nvSpPr>
            <p:spPr>
              <a:xfrm>
                <a:off x="3898897" y="243839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22</a:t>
                </a:r>
                <a:endParaRPr lang="zh-CN" altLang="en-US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FEAA760-059D-1177-A1BD-07DA34C2674D}"/>
                  </a:ext>
                </a:extLst>
              </p:cNvPr>
              <p:cNvSpPr txBox="1"/>
              <p:nvPr/>
            </p:nvSpPr>
            <p:spPr>
              <a:xfrm>
                <a:off x="3898896" y="3445326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23</a:t>
                </a:r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D5CAD0-8D00-F681-A1C5-73B13C027282}"/>
                  </a:ext>
                </a:extLst>
              </p:cNvPr>
              <p:cNvSpPr txBox="1"/>
              <p:nvPr/>
            </p:nvSpPr>
            <p:spPr>
              <a:xfrm>
                <a:off x="3778823" y="4424052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24</a:t>
                </a:r>
                <a:endParaRPr lang="zh-CN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9805C3-63BB-F724-B963-2097C4D0B3E1}"/>
                  </a:ext>
                </a:extLst>
              </p:cNvPr>
              <p:cNvSpPr txBox="1"/>
              <p:nvPr/>
            </p:nvSpPr>
            <p:spPr>
              <a:xfrm>
                <a:off x="596898" y="1621971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25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F011D-1037-7260-E284-72DBC6C0EE7C}"/>
                  </a:ext>
                </a:extLst>
              </p:cNvPr>
              <p:cNvSpPr txBox="1"/>
              <p:nvPr/>
            </p:nvSpPr>
            <p:spPr>
              <a:xfrm>
                <a:off x="4588326" y="5005613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26</a:t>
                </a:r>
                <a:endParaRPr lang="zh-CN" altLang="en-US" dirty="0"/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1F2F1A9-4B13-BFB4-1C07-DA28905A1F41}"/>
                  </a:ext>
                </a:extLst>
              </p:cNvPr>
              <p:cNvCxnSpPr/>
              <p:nvPr/>
            </p:nvCxnSpPr>
            <p:spPr>
              <a:xfrm>
                <a:off x="152400" y="1647824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C89A0A8-1C5A-E8BC-5DAA-95A1074B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899" y="5040537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3BBB516E-3D2D-68A3-F0CC-F12286414A64}"/>
                </a:ext>
              </a:extLst>
            </p:cNvPr>
            <p:cNvCxnSpPr/>
            <p:nvPr/>
          </p:nvCxnSpPr>
          <p:spPr>
            <a:xfrm>
              <a:off x="1247535" y="2274569"/>
              <a:ext cx="3302202" cy="2939153"/>
            </a:xfrm>
            <a:prstGeom prst="bentConnector3">
              <a:avLst>
                <a:gd name="adj1" fmla="val 100067"/>
              </a:avLst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05431F53-DC4E-E0F6-600D-9A93152680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527378" y="3202477"/>
              <a:ext cx="2910113" cy="1044260"/>
            </a:xfrm>
            <a:prstGeom prst="bentConnector3">
              <a:avLst>
                <a:gd name="adj1" fmla="val 68983"/>
              </a:avLst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19183989-3465-BCF7-D9A4-8D0B574EBB4F}"/>
                </a:ext>
              </a:extLst>
            </p:cNvPr>
            <p:cNvCxnSpPr/>
            <p:nvPr/>
          </p:nvCxnSpPr>
          <p:spPr>
            <a:xfrm>
              <a:off x="1247535" y="2311513"/>
              <a:ext cx="2249713" cy="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连接符: 肘形 213">
              <a:extLst>
                <a:ext uri="{FF2B5EF4-FFF2-40B4-BE49-F238E27FC236}">
                  <a16:creationId xmlns:a16="http://schemas.microsoft.com/office/drawing/2014/main" id="{D464DD1D-A72B-1103-6984-ADCCEFE2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7535" y="2204718"/>
              <a:ext cx="3360435" cy="2989403"/>
            </a:xfrm>
            <a:prstGeom prst="bentConnector3">
              <a:avLst>
                <a:gd name="adj1" fmla="val 100299"/>
              </a:avLst>
            </a:prstGeom>
            <a:ln w="571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E16D2F18-79B7-7390-F595-BFFD44CB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415132" y="4326760"/>
              <a:ext cx="1042669" cy="876362"/>
            </a:xfrm>
            <a:prstGeom prst="bentConnector3">
              <a:avLst>
                <a:gd name="adj1" fmla="val 99607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90A7350E-26E4-EC51-362C-6BA60EFFE6B0}"/>
                </a:ext>
              </a:extLst>
            </p:cNvPr>
            <p:cNvCxnSpPr>
              <a:cxnSpLocks/>
            </p:cNvCxnSpPr>
            <p:nvPr/>
          </p:nvCxnSpPr>
          <p:spPr>
            <a:xfrm>
              <a:off x="1263277" y="2318102"/>
              <a:ext cx="2216032" cy="967720"/>
            </a:xfrm>
            <a:prstGeom prst="bentConnector3">
              <a:avLst>
                <a:gd name="adj1" fmla="val -433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71F79997-0905-B292-D07E-FD42691F03AA}"/>
                </a:ext>
              </a:extLst>
            </p:cNvPr>
            <p:cNvCxnSpPr/>
            <p:nvPr/>
          </p:nvCxnSpPr>
          <p:spPr>
            <a:xfrm>
              <a:off x="3433129" y="3279302"/>
              <a:ext cx="0" cy="1047758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/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%4+1</m:t>
                    </m:r>
                  </m:oMath>
                </a14:m>
                <a:r>
                  <a:rPr lang="zh-CN" altLang="en-US" sz="2000" dirty="0">
                    <a:latin typeface="Amasis MT Pro Medium" panose="020406040500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blipFill>
                <a:blip r:embed="rId2"/>
                <a:stretch>
                  <a:fillRect l="-2222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文本框 244">
            <a:extLst>
              <a:ext uri="{FF2B5EF4-FFF2-40B4-BE49-F238E27FC236}">
                <a16:creationId xmlns:a16="http://schemas.microsoft.com/office/drawing/2014/main" id="{67928630-50E4-EE51-A875-10326DCAB219}"/>
              </a:ext>
            </a:extLst>
          </p:cNvPr>
          <p:cNvSpPr txBox="1"/>
          <p:nvPr/>
        </p:nvSpPr>
        <p:spPr>
          <a:xfrm>
            <a:off x="1187275" y="5481828"/>
            <a:ext cx="33719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masis MT Pro Medium" panose="02040604050005020304" pitchFamily="18" charset="0"/>
              </a:rPr>
              <a:t>Figure 2: A 3x3 toy network</a:t>
            </a:r>
            <a:endParaRPr lang="zh-CN" alt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7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30E88-33C3-4222-7395-4DC2C55A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DF027A-0CED-01CA-200B-1D9E7FE4A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B38736EF-DCC1-7EB6-AEC0-F5BA7A621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CTM Calibration</a:t>
            </a:r>
            <a:endParaRPr lang="zh-CN" altLang="en-US" sz="2800" dirty="0"/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4F6C9F2-6AC9-1336-485C-C85A0743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" y="3528204"/>
            <a:ext cx="3450543" cy="2576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/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=1890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𝑣𝑒h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57.6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19.85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37.79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𝑣𝑒h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2.81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𝑣𝑒h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𝑣𝑒h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blipFill>
                <a:blip r:embed="rId3"/>
                <a:stretch>
                  <a:fillRect l="-952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C5D7F388-3B8B-B150-E50C-2F5D65418B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C0852A1-EC7A-1F9A-2B1B-EE18CF45A103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8864AB-9EFB-3383-00E1-7A1E08E534C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EF89E51-2B16-EAF5-ECAC-C81ED39240F3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25F6E23-D291-267C-94EA-649CD91C6F3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16" name="图片 38" descr="图形用户界面, 图表&#10;&#10;AI 生成的内容可能不正确。">
            <a:extLst>
              <a:ext uri="{FF2B5EF4-FFF2-40B4-BE49-F238E27FC236}">
                <a16:creationId xmlns:a16="http://schemas.microsoft.com/office/drawing/2014/main" id="{2D3B8AD2-8DD1-4EE0-AB55-2D416D319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61" y="1814817"/>
            <a:ext cx="8102382" cy="2095691"/>
          </a:xfrm>
          <a:prstGeom prst="rect">
            <a:avLst/>
          </a:prstGeom>
        </p:spPr>
      </p:pic>
      <p:pic>
        <p:nvPicPr>
          <p:cNvPr id="17" name="图片 39" descr="图表&#10;&#10;AI 生成的内容可能不正确。">
            <a:extLst>
              <a:ext uri="{FF2B5EF4-FFF2-40B4-BE49-F238E27FC236}">
                <a16:creationId xmlns:a16="http://schemas.microsoft.com/office/drawing/2014/main" id="{1AF5E82A-B14F-454F-A5A6-FE0C7F9FA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1" y="3946040"/>
            <a:ext cx="8102382" cy="2067426"/>
          </a:xfrm>
          <a:prstGeom prst="rect">
            <a:avLst/>
          </a:prstGeom>
        </p:spPr>
      </p:pic>
      <p:sp>
        <p:nvSpPr>
          <p:cNvPr id="18" name="文本框 41">
            <a:extLst>
              <a:ext uri="{FF2B5EF4-FFF2-40B4-BE49-F238E27FC236}">
                <a16:creationId xmlns:a16="http://schemas.microsoft.com/office/drawing/2014/main" id="{A799BCF7-78DF-4A06-8E47-BB7B10D8177A}"/>
              </a:ext>
            </a:extLst>
          </p:cNvPr>
          <p:cNvSpPr txBox="1"/>
          <p:nvPr/>
        </p:nvSpPr>
        <p:spPr>
          <a:xfrm>
            <a:off x="6096000" y="3677601"/>
            <a:ext cx="3991335" cy="461665"/>
          </a:xfrm>
          <a:prstGeom prst="rect">
            <a:avLst/>
          </a:prstGeom>
          <a:solidFill>
            <a:srgbClr val="AE976B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masis MT Pro Medium" panose="02040604050005020304" pitchFamily="18" charset="0"/>
              </a:rPr>
              <a:t>MAE 0.61 </a:t>
            </a:r>
            <a:r>
              <a:rPr lang="en-US" altLang="zh-CN" sz="2400" dirty="0" err="1">
                <a:latin typeface="Amasis MT Pro Medium" panose="02040604050005020304" pitchFamily="18" charset="0"/>
              </a:rPr>
              <a:t>veh</a:t>
            </a:r>
            <a:r>
              <a:rPr lang="en-US" altLang="zh-CN" sz="2400" dirty="0">
                <a:latin typeface="Amasis MT Pro Medium" panose="02040604050005020304" pitchFamily="18" charset="0"/>
              </a:rPr>
              <a:t>/cell/step</a:t>
            </a:r>
          </a:p>
        </p:txBody>
      </p:sp>
    </p:spTree>
    <p:extLst>
      <p:ext uri="{BB962C8B-B14F-4D97-AF65-F5344CB8AC3E}">
        <p14:creationId xmlns:p14="http://schemas.microsoft.com/office/powerpoint/2010/main" val="247821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9AF4D-B5AB-E57E-F893-BF96B5A8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968968-4D22-4B95-26F6-9D4C2550F9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EF5554C-CA1F-80D5-D9D4-9CAF2100020B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75A7491-D042-F6AB-E750-1DD0FA36929E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87A2BF6-6861-C123-81D8-54DE92DEE8BC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DEA2636-608A-CC85-B4DC-0592521B8C93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546BA969-5D0E-BB44-012D-4EFED65F0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Normal cells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/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blipFill>
                <a:blip r:embed="rId2"/>
                <a:stretch>
                  <a:fillRect l="-1613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03D05-318B-B792-693D-02100F43EB27}"/>
              </a:ext>
            </a:extLst>
          </p:cNvPr>
          <p:cNvSpPr txBox="1"/>
          <p:nvPr/>
        </p:nvSpPr>
        <p:spPr>
          <a:xfrm>
            <a:off x="2503746" y="3330828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normal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/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blipFill>
                <a:blip r:embed="rId3"/>
                <a:stretch>
                  <a:fillRect l="-2262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本框 193">
            <a:extLst>
              <a:ext uri="{FF2B5EF4-FFF2-40B4-BE49-F238E27FC236}">
                <a16:creationId xmlns:a16="http://schemas.microsoft.com/office/drawing/2014/main" id="{A2530775-CD1E-5F05-8ACC-2F84BE9C6A1A}"/>
              </a:ext>
            </a:extLst>
          </p:cNvPr>
          <p:cNvSpPr txBox="1"/>
          <p:nvPr/>
        </p:nvSpPr>
        <p:spPr>
          <a:xfrm>
            <a:off x="2503746" y="4099114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sink cell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/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blipFill>
                <a:blip r:embed="rId4"/>
                <a:stretch>
                  <a:fillRect l="-1757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本框 195">
            <a:extLst>
              <a:ext uri="{FF2B5EF4-FFF2-40B4-BE49-F238E27FC236}">
                <a16:creationId xmlns:a16="http://schemas.microsoft.com/office/drawing/2014/main" id="{391912DC-23C2-BBDC-A1B0-FCAE0829A287}"/>
              </a:ext>
            </a:extLst>
          </p:cNvPr>
          <p:cNvSpPr txBox="1"/>
          <p:nvPr/>
        </p:nvSpPr>
        <p:spPr>
          <a:xfrm>
            <a:off x="2503746" y="4931443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masis MT Pro Medium" panose="02040604050005020304" pitchFamily="18" charset="0"/>
              </a:rPr>
              <a:t>For source cell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06576454-DB5D-BBDA-0AB6-8EA7F22F4F6F}"/>
              </a:ext>
            </a:extLst>
          </p:cNvPr>
          <p:cNvGrpSpPr/>
          <p:nvPr/>
        </p:nvGrpSpPr>
        <p:grpSpPr>
          <a:xfrm>
            <a:off x="2605053" y="1813664"/>
            <a:ext cx="6341172" cy="1204150"/>
            <a:chOff x="1690653" y="2043487"/>
            <a:chExt cx="6341172" cy="1204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7A4D70D-E955-9EE0-8631-EC88EEB496CC}"/>
                    </a:ext>
                  </a:extLst>
                </p:cNvPr>
                <p:cNvSpPr txBox="1"/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71438A1-F360-0C35-67D4-05EE03431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29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7D5EB115-3ADA-FBA5-671B-ECF003CDAEF1}"/>
                    </a:ext>
                  </a:extLst>
                </p:cNvPr>
                <p:cNvSpPr txBox="1"/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AE317AB-93E3-D591-7827-9DA69BB7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E863F3D8-1D22-A972-D224-5F34195344AE}"/>
                    </a:ext>
                  </a:extLst>
                </p:cNvPr>
                <p:cNvSpPr txBox="1"/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288905-5939-C039-1561-101EBE9E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EBB188E-40A0-3935-2546-C2A8CA6FDB50}"/>
                </a:ext>
              </a:extLst>
            </p:cNvPr>
            <p:cNvCxnSpPr/>
            <p:nvPr/>
          </p:nvCxnSpPr>
          <p:spPr>
            <a:xfrm>
              <a:off x="2014104" y="2455995"/>
              <a:ext cx="57432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EA78F2B-0AC0-5845-CFCA-3DAE732F7768}"/>
                </a:ext>
              </a:extLst>
            </p:cNvPr>
            <p:cNvCxnSpPr>
              <a:cxnSpLocks/>
            </p:cNvCxnSpPr>
            <p:nvPr/>
          </p:nvCxnSpPr>
          <p:spPr>
            <a:xfrm>
              <a:off x="2014104" y="3247637"/>
              <a:ext cx="571081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F3CC753-4733-3A23-AAC3-01D01C1199D8}"/>
                </a:ext>
              </a:extLst>
            </p:cNvPr>
            <p:cNvCxnSpPr>
              <a:stCxn id="198" idx="3"/>
              <a:endCxn id="204" idx="1"/>
            </p:cNvCxnSpPr>
            <p:nvPr/>
          </p:nvCxnSpPr>
          <p:spPr>
            <a:xfrm flipV="1">
              <a:off x="3199810" y="2831391"/>
              <a:ext cx="1076848" cy="33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E1CDA8F6-3CF8-43D5-7C65-8CAD2165ADB6}"/>
                </a:ext>
              </a:extLst>
            </p:cNvPr>
            <p:cNvCxnSpPr>
              <a:stCxn id="204" idx="3"/>
              <a:endCxn id="205" idx="1"/>
            </p:cNvCxnSpPr>
            <p:nvPr/>
          </p:nvCxnSpPr>
          <p:spPr>
            <a:xfrm>
              <a:off x="5462364" y="2831391"/>
              <a:ext cx="107684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B30EE2-C50D-251E-723C-BE8B88FBD886}"/>
                    </a:ext>
                  </a:extLst>
                </p:cNvPr>
                <p:cNvSpPr txBox="1"/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387F7C-BE90-1539-6DB4-483453C22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6AE5A525-748C-2F04-AF83-C26D45889E7E}"/>
                    </a:ext>
                  </a:extLst>
                </p:cNvPr>
                <p:cNvSpPr txBox="1"/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20851-5795-51EF-FA57-A744117BE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BEA85006-AB14-0F35-24A2-19155CBF9313}"/>
                    </a:ext>
                  </a:extLst>
                </p:cNvPr>
                <p:cNvSpPr txBox="1"/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15BE034-A3F2-117F-A571-E1F641FC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2777CBA-87BB-E9A1-EBD1-55A6D82ED114}"/>
                    </a:ext>
                  </a:extLst>
                </p:cNvPr>
                <p:cNvSpPr txBox="1"/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9000E4-FCE7-9911-60B6-81A28AC9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148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7C0917AE-0CFD-A9FD-AFA1-B0C5633AB9ED}"/>
                    </a:ext>
                  </a:extLst>
                </p:cNvPr>
                <p:cNvSpPr txBox="1"/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5CA4548-E0CF-91A6-48B5-66179C658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1486"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9283B66-F498-51CB-46DA-7D7238D0010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653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A26C7CB-1CCD-F81F-9953-9EF45040A1D2}"/>
                </a:ext>
              </a:extLst>
            </p:cNvPr>
            <p:cNvCxnSpPr>
              <a:cxnSpLocks/>
            </p:cNvCxnSpPr>
            <p:nvPr/>
          </p:nvCxnSpPr>
          <p:spPr>
            <a:xfrm>
              <a:off x="7724918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934B388-D1FC-366E-7DEF-645A8D35BA1D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60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5BD1B-02D2-D12F-7BDB-2DCB133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D7E845-144C-1999-492D-D10C4D3E85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EDEA294-070D-64F1-5308-7566B64CE30C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1421556-8303-D024-DB40-8FF5AE6F75D6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2442F1F-4860-C621-B70B-163279B1D227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8AE7EB-DE7D-B633-0E65-066A8F3646DC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8F66DEDC-0D92-9963-552F-DF7DF6384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Merging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1BE682CE-E231-2BE7-7D8A-F5433B82CC91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/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/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/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A3419F-07C6-F42F-865F-B8A58659B71B}"/>
              </a:ext>
            </a:extLst>
          </p:cNvPr>
          <p:cNvCxnSpPr>
            <a:cxnSpLocks/>
          </p:cNvCxnSpPr>
          <p:nvPr/>
        </p:nvCxnSpPr>
        <p:spPr>
          <a:xfrm>
            <a:off x="1727603" y="2104229"/>
            <a:ext cx="392180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09577E-80C4-7EC2-603E-FC85104FF282}"/>
              </a:ext>
            </a:extLst>
          </p:cNvPr>
          <p:cNvCxnSpPr>
            <a:cxnSpLocks/>
          </p:cNvCxnSpPr>
          <p:nvPr/>
        </p:nvCxnSpPr>
        <p:spPr>
          <a:xfrm>
            <a:off x="1679657" y="3121789"/>
            <a:ext cx="39500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579582-E2B7-2170-0EDD-E29A655CD16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209335" y="2390917"/>
            <a:ext cx="779426" cy="26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896A8F-ABE0-DD98-AAAD-8A0F1BA36C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96958" y="2651602"/>
            <a:ext cx="791803" cy="1851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/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/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/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/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/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(no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blipFill>
                <a:blip r:embed="rId9"/>
                <a:stretch>
                  <a:fillRect l="-731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/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(downstream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blipFill>
                <a:blip r:embed="rId10"/>
                <a:stretch>
                  <a:fillRect l="-731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/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/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/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/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/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/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5A0B25-5B5C-19E0-4F4D-FA435B9A8311}"/>
              </a:ext>
            </a:extLst>
          </p:cNvPr>
          <p:cNvCxnSpPr>
            <a:cxnSpLocks/>
          </p:cNvCxnSpPr>
          <p:nvPr/>
        </p:nvCxnSpPr>
        <p:spPr>
          <a:xfrm>
            <a:off x="1700178" y="2394111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1CEE69-2BFC-05F3-0BE6-9CC08B35296D}"/>
              </a:ext>
            </a:extLst>
          </p:cNvPr>
          <p:cNvCxnSpPr>
            <a:cxnSpLocks/>
          </p:cNvCxnSpPr>
          <p:nvPr/>
        </p:nvCxnSpPr>
        <p:spPr>
          <a:xfrm>
            <a:off x="1688512" y="283012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164AA78-A1C0-B407-3093-B51144C8D2B9}"/>
              </a:ext>
            </a:extLst>
          </p:cNvPr>
          <p:cNvCxnSpPr>
            <a:cxnSpLocks/>
          </p:cNvCxnSpPr>
          <p:nvPr/>
        </p:nvCxnSpPr>
        <p:spPr>
          <a:xfrm>
            <a:off x="5174467" y="2651602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1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FA59F9-A18D-1D16-72A2-81300BB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C3159ED-D285-84F7-9178-F9410128B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/>
              <a:t>Methodology</a:t>
            </a:r>
            <a:endParaRPr lang="zh-CN" altLang="en-US" dirty="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3018DB9-1D63-E8E4-BCC3-A0BAC99D6B91}"/>
              </a:ext>
            </a:extLst>
          </p:cNvPr>
          <p:cNvGrpSpPr/>
          <p:nvPr/>
        </p:nvGrpSpPr>
        <p:grpSpPr>
          <a:xfrm>
            <a:off x="-9525" y="742951"/>
            <a:ext cx="12201525" cy="400110"/>
            <a:chOff x="-9525" y="742951"/>
            <a:chExt cx="12201525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F72D875-1061-4425-EA52-36BB6041927B}"/>
                </a:ext>
              </a:extLst>
            </p:cNvPr>
            <p:cNvSpPr txBox="1"/>
            <p:nvPr/>
          </p:nvSpPr>
          <p:spPr>
            <a:xfrm>
              <a:off x="-9525" y="742951"/>
              <a:ext cx="19145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Overview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A1C816E-3EFA-4B7C-E61C-1B3EB44360B9}"/>
                </a:ext>
              </a:extLst>
            </p:cNvPr>
            <p:cNvSpPr txBox="1"/>
            <p:nvPr/>
          </p:nvSpPr>
          <p:spPr>
            <a:xfrm>
              <a:off x="1905001" y="742951"/>
              <a:ext cx="3181349" cy="400110"/>
            </a:xfrm>
            <a:prstGeom prst="rect">
              <a:avLst/>
            </a:prstGeom>
            <a:solidFill>
              <a:srgbClr val="101010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rgbClr val="AE976B"/>
                  </a:solidFill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Cell Transmission Model</a:t>
              </a:r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58E358B-AD29-FEA4-2F53-4358B75E14D8}"/>
                </a:ext>
              </a:extLst>
            </p:cNvPr>
            <p:cNvSpPr txBox="1"/>
            <p:nvPr/>
          </p:nvSpPr>
          <p:spPr>
            <a:xfrm>
              <a:off x="5086350" y="742951"/>
              <a:ext cx="29432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Travel Cost Prediction</a:t>
              </a:r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8CFA5E9E-F689-8A54-DD90-54EEF231BF61}"/>
                </a:ext>
              </a:extLst>
            </p:cNvPr>
            <p:cNvSpPr txBox="1"/>
            <p:nvPr/>
          </p:nvSpPr>
          <p:spPr>
            <a:xfrm>
              <a:off x="8029575" y="742951"/>
              <a:ext cx="41624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masis MT Pro Medium" panose="02040604050005020304" pitchFamily="18" charset="0"/>
                </a:rPr>
                <a:t>D-VRP &amp; Coverage Optimization</a:t>
              </a:r>
              <a:endParaRPr lang="zh-CN" altLang="en-US" sz="2000" dirty="0">
                <a:latin typeface="Amasis MT Pro Medium" panose="020406040500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/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/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/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BFE1FBD-A78A-B45A-09EC-95EBB8D7A368}"/>
              </a:ext>
            </a:extLst>
          </p:cNvPr>
          <p:cNvCxnSpPr>
            <a:cxnSpLocks/>
          </p:cNvCxnSpPr>
          <p:nvPr/>
        </p:nvCxnSpPr>
        <p:spPr>
          <a:xfrm>
            <a:off x="1736914" y="1933033"/>
            <a:ext cx="39126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46429B-07D4-D3DD-6E3E-C2F82D1C953F}"/>
              </a:ext>
            </a:extLst>
          </p:cNvPr>
          <p:cNvCxnSpPr>
            <a:cxnSpLocks/>
          </p:cNvCxnSpPr>
          <p:nvPr/>
        </p:nvCxnSpPr>
        <p:spPr>
          <a:xfrm>
            <a:off x="1736914" y="2897969"/>
            <a:ext cx="39192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2B4B9090-2FDC-E2D6-1F64-87F1DA28C9CC}"/>
              </a:ext>
            </a:extLst>
          </p:cNvPr>
          <p:cNvCxnSpPr>
            <a:cxnSpLocks/>
            <a:stCxn id="199" idx="3"/>
            <a:endCxn id="201" idx="1"/>
          </p:cNvCxnSpPr>
          <p:nvPr/>
        </p:nvCxnSpPr>
        <p:spPr>
          <a:xfrm flipV="1">
            <a:off x="3217579" y="2211128"/>
            <a:ext cx="947661" cy="17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75A14E33-2194-5BE8-2D82-79C718024F3C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3217579" y="2383755"/>
            <a:ext cx="941081" cy="26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/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/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/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/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/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/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/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/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52893BB-D9FC-D9A1-8FED-E6BCE9DBA306}"/>
              </a:ext>
            </a:extLst>
          </p:cNvPr>
          <p:cNvCxnSpPr>
            <a:cxnSpLocks/>
          </p:cNvCxnSpPr>
          <p:nvPr/>
        </p:nvCxnSpPr>
        <p:spPr>
          <a:xfrm>
            <a:off x="1736914" y="238375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9E996DD-10E0-8E30-344F-079A9728F826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5350946" y="2211128"/>
            <a:ext cx="3052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41F2637-D2F2-2183-CD08-93540F5FA532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5344366" y="2644500"/>
            <a:ext cx="3052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文本占位符 5">
            <a:extLst>
              <a:ext uri="{FF2B5EF4-FFF2-40B4-BE49-F238E27FC236}">
                <a16:creationId xmlns:a16="http://schemas.microsoft.com/office/drawing/2014/main" id="{853F43F2-4E6A-FBFD-C07F-B587F8A85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/>
              <a:t>Diverging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AAD752F-F4AB-2C56-9F4F-9EA416F03FAF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617192B2-111B-7C2F-7918-360ADB3AA9FC}"/>
              </a:ext>
            </a:extLst>
          </p:cNvPr>
          <p:cNvSpPr txBox="1"/>
          <p:nvPr/>
        </p:nvSpPr>
        <p:spPr>
          <a:xfrm>
            <a:off x="7043161" y="1519526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intersection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41463A6-C1AD-A67F-5449-4BD690FD561C}"/>
              </a:ext>
            </a:extLst>
          </p:cNvPr>
          <p:cNvSpPr txBox="1"/>
          <p:nvPr/>
        </p:nvSpPr>
        <p:spPr>
          <a:xfrm>
            <a:off x="7043161" y="3566707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link-diverge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/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/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/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blipFill>
                <a:blip r:embed="rId15"/>
                <a:stretch>
                  <a:fillRect r="-24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8435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Literature Review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Agenda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Scope (for YIL-113): how neural / foundation-model VRP solvers map to our robotaxi sensing-routing (team-orienteering) problem.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Contents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Part A — Neural OP/TOP (5): Kool AM · POMO⚠ · TOP-Former★ · UAS-MSTOP · DTOP-SC⚠(OR)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Part B — VRP/CO foundation models (4): RouteFinder · FM-MCVRP★ · GOAL · UniCO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Synthesis — three unification philosophies (+ FM-MCVRP orthogonal)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Transfer — feasibility to route_cart_tsc; deltas = our novelty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Sources: full-text arXiv PDFs via literature-reviewer (YIL-114/115). ★ = closest to us, ⚠ = caveat.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OP/TOP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A1 · Kool AM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Attention, Learn to Solve Routing Problems!  (arXiv:1803.08475)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Attention, Learn to Solve Routing Problems! (Kool et al., ICLR 2019) — founding neural method for the Orienteering Problem (OP).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OP = maximize Σ node prizes s.t. tour length ≤ budget T; single vehicle, depot→depot, visiting optional.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Gap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Earlier learned routing (Pointer Nets + actor-critic) trained poorly; RNN encoders order-dependent &amp; not parallel.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Transformer enc–dec, NO positional encoding (order-invariant); 3 layers, 8 heads, batch-norm.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Subset selection: depot is a selectable action → choosing depot ENDS the route; visited-so-far = chosen subset.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Budget feasibility = MASKING (not penalty/repair): mask node j when d(prev,j)+d(j,depot) &gt; remaining T. ← transferable kernel.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Train: REINFORCE + greedy-rollout baseline (no critic).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OP n=20: AM sampling-1280 within 1.56% of Gurobi; SOTA GA (Compass) only ~2% better; beats OR-Tools/Tsili.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OP/TOP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A2 · POMO  ⚠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POMO: Policy Optimization with Multiple Optima for Reinforcement Learning  (arXiv:2010.16011)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POMO (Kwon et al., NeurIPS 2020) — a training/inference recipe on Kool's AM. ⚠ Does NOT solve OP/TOP (only TSP/CVRP/Knapsack).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Gap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AM's greedy-rollout baseline gives mostly-negative advantage; the first action over-dominates the solution.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Same AM backbone; removes the 'pick start node' step.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Multiple optima: N fixed start nodes → N parallel rollouts; shared baseline b = mean of the N returns (no critic).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Inference: N multi-start greedy + ×8 instance augmentation.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Relevance to us (honest)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LOW as a selective-routing method: multi-start symmetry does NOT hold for max-prize subset selection (different starts → different subsets).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Reusable parts only: AM + masking, shared-baseline REINFORCE, ×8 augmentation. (TSP100 gap 0.14%; no OP/TOP numbers.)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OP/TOP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A3 · TOP-Former  ★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TOP-Former: A Multi-Agent Transformer Approach for the Team Orienteering Problem  (arXiv:2311.18662)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TOP-Former (Fuertes et al., T-ITS 2025) — centralized multi-agent Transformer for the Team Orienteering Problem. ★ Closest to 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TOP = max team reward; per-vehicle budget T; shared depot; visiting optional; m = 2..5 vehicles.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Gap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Prior multi-vehicle neural TOP is decentralized/sequential — each agent decides without seeing others' state → suboptimal.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Centralized enc–dec (no GNN); shared encoder run once; 3 blocks, dim 128, batch-norm.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Simultaneous decoding: each step picks one node per agent; a chosen node is masked (−∞) for still-to-act agents.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Per-vehicle budget via return-to-depot masking (Eq.18): mask nodes unreachable-and-return within remaining time t^a.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Train: REINFORCE + greedy-rollout baseline (Kool-style, not POMO).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Result / deltas vs 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n100,m5: TOP-Former 82.79 (best, 0.00%) &gt; ACO 81.39 (1.69%); Gurobi-60s only 61.9% gap. Inference ~4ms CPU / 0.22ms GPU.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Deltas: single shared depot, homogeneous budget, STATIC reward, node-based, O(n²) scaling.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OP/TOP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A4 · UAS-MSTOP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Multi-Start Team Orienteering Problem for UAS Mission Re-Planning with Data-Efficient Deep RL  (arXiv:2303.01963)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Multi-Start TOP for UAS re-planning (Lee &amp; Ahn, KAIST, 2023) — TOP generalized to MID-MISSION re-planning.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K vehicles start from different current positions with different remaining fuel f_k.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Gap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AM/POMO assume all vehicles start at the depot (pre-planning); don't model heterogeneous starts + remaining energy.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Deep Dynamic Transformer (DDTM): 4 enc / 2 dec; RE-RUNS the encoder after each vehicle completes (graph state changes).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Nested loop: build one vehicle to return-depot, update instance, next vehicle from its own start.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Budget = action masking on 'can't reach &amp; return within remaining fuel'.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Data-efficient training: instance-augmentation baseline (K=8 transforms) replaces greedy rollout → −30% epoch time.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Result / relevance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MSTOP ×8N! gap: n10 0.19%, n20 0.78%, n≥50 reference-best; &gt;90% instances gap=0 at n20.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HIGH relevance if our fleet must re-plan mid-shift from current position / remaining charge.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OP/TOP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A5 · DTOP-SC  ⚠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The Dynamic Team Orienteering Problem in Spatial Crowdsourcing: A Scenario Sampling Approach  (arXiv:2601.11010)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Dynamic TOP in Spatial Crowdsourcing (Wu et al., SCU, 2026) — workers=vehicles, tasks=profit nodes, tasks arrive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⚠ Method class: pure OR / metaheuristic (NOT neural)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Scen-RH-ALNS: scenario-sampling rolling-horizon ALNS. No neural nets, no RL. Mis-listed as 'neural' in intake → reclassify as OR baseline.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Method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Event-driven rolling horizon; each epoch solves a static HT-TOPTW snapshot with ALNS (destroy/repair + 2-opt + SA).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Scenario-sampling lookahead (Bent–Van Hentenryck consensus): sample S=15 futures + N_vir=5 virtual tasks, vote on first real task.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Heterogeneous fleet: per-worker OD + time windows; selective (unrouted = not visited).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Result / relevance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vs MPA on 1161 instances (high dynamism): profit within 0.79–3.23%, but decision time 0.14s vs ~195s (2–3 orders faster).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Structurally very close to us; use as a strong non-learning / anticipatory-dispatch baseline.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LR2 · RouteFinder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RouteFinder: Towards Foundation Models for Vehicle Routing Problems  (arXiv:2406.15007)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RouteFinder (Berto et al., TMLR 09/2025) — a foundation model unifying 48 VRP variants. [Corrected: TMLR, not ICML.]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Unification = ATTRIBUTE COMPOSITION: every variant = a subset of one super-problem MDOVRPMBLTW.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Key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Unified VRP environment: any attribute subset (multi-depot/open/backhaul/distance-limit/time-windows; e.g. no TW → TW=[0,∞]).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Global attribute embedding φ₀..φₖ injected into a DEEP encoder (vs MTPOMO/MVMoE: shallow decoder only).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Modern encoder (RF-TE): RMSNorm, pre-norm, SwiGLU, FlashAttention. + Mixed-Batch Training across variants.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Efficient Adapter Layers (EAL): zero-pad projection W'=[W;0] for unseen attributes → few-shot fine-tune.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Train / 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RL (REINFORCE + POMO shared baseline); A100 9–24h/model.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Beats MTPOMO/MVMoE on all 48 variants; gap ~1–5% vs HGS-PyVRP/OR-Tools; inference 1–2s vs 10–20 min.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LR3 · FM-MCVRP  ★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Learning to Deliver: A Foundation Model for the Montreal Capacitated Vehicle Routing Problem  (arXiv:2403.00026)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FM-MCVRP (Chin, Winkenbach, Srivastava, MIT, 2024) — 'Learning to Deliver.' ★ Closest to our fixed-road-network daily instances.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LLM-style SUPERVISED learning: a T5 enc-dec learns 'the next node to visit' from many sub-optimal historical solutions.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Data setup (≈ our setting)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Fixed graph G′ = 10,001 nodes; each instance = a random node SUBSET (a day's demand). ALL instances = subgraphs of the SAME graph.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38.1M instances (381 sizes × 100k), each labeled by ONE HGS run @5s (deliberately cheap/sub-optimal, mimics real historical 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T5 (206M params), LM objective, curriculum learning (small→large), nucleus-sampling decode.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Headline: SL BEATS its training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vs its own HGS@5s labels, NS-1000 beats the labels at ≥100 customers (400 → −1.05%, statistically significant).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Mechanism: under a tight budget HGS degrades with scale faster than the model, which aggregates across millions of instances.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Single model spans sizes 20–800 &amp; all capacities; beats AM (diverges ≥400); within 3.02% of LKH-3 at 400.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LR4 · GOAL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GOAL: A Generalist Combinatorial Optimization Agent Learner  (arXiv:2406.15079)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GOAL (Drakulic, Michel, Andreoli, NAVER LABS, ICLR 2025) — a Generalist CO agent: one backbone + light per-task adapters.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Unification = GENERALIST BACKBONE + ADAPTER: shared trunk learns commonality; adapters learn each problem's specifics.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Key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Shared codebook: project each problem's features to a small fixed rep, map through a shared codebook → related representations.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Mixed-attention blocks: inject EDGE info into every attention kernel → arbitrary node/edge/instance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Multi-type transformer: replicate blocks per node/edge type but SHARE parameters.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Train / 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Imitation learning on expert trajectories; 8 CO tasks (ATSP/CVRP/CVRPTW/OP; JSSP/UMS; Knapsack; MVC). SL fine-tune &gt; from-scratch.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Single-task GOAL SOTA on 7/8 (except CVRP: 2.34% vs POMO 1.21% / RF-TE 1.50%); multi-task only slightly worse.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Routing Foundation(LR)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LR5 · UniCO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b="1" sz="1500">
                <a:latin typeface="Amasis MT Pro" panose="02040504050005020304" pitchFamily="18" charset="0"/>
              </a:rPr>
              <a:t>On Unified Combinatorial Optimization via Problem Reduction to Matrix-Encoded General TSP  (OpenReview yEwakMNIex)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UniCO (Pan et al., SJTU Thinklab, ICLR 2025) — unify CO by PROBLEM REDUCTION to a matrix-encoded general TSP.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Reduce every problem to one canonical form (general TSP over any positive cost matrix), solve once, transform the tour back.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Key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Reductions: ATSP, 2D-TSP, HCP (Hamiltonian cycle), 3SAT → all encoded as general-TSP cost matrices.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MatPOENet (Graph Transformer + RL): MatNet + Pseudo One-hot Embedding (scale-free) + Mix-Score Attention.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MatDIFFNet (Graph Diffusion + SL): discrete diffusion over tours, extends Euclidean-TSP diffusion to matrix TSP.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Unified MatPOENet*-8x: avg opt-gap ~1.4% at N≈20, high find-rate, beats LKH(10k/500) on some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Cross-task transfer (3SAT): 50→200 fine-tune steps reach 95.96→97.08% find-rate (≈ from-scratch 96.08%) vs 17.92% no-tune.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Note: the literature DB has TWO duplicate UniCO pages — flagged for human merge.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Synthesis (LR)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LR6 · unification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Three ways the VRP/CO foundation models 'unify' — plus one orthogonal axis closest to us.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1. Attribute composition — RouteFinder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Variants = attribute subsets of one super-problem. Training: RL. Scope: 48 VRP variants.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2. Generalist backbone + adapter — GOAL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Shared trunk learns commonality; adapters learn specifics. Imitation. 8 CO families. (RouteFinder EAL adjacent.)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3. Problem reduction — UniCO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Reduce everything to matrix general-TSP. RL/SL. ATSP/2D-TSP/HCP/3SAT.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4. (Orthogonal) Fixed graph × LLM-style SL — FM-MCVRP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Not multi-problem unification: one problem on a fixed graph, learned from cheap historical solutions, beating them &amp; generalizing across scale.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→ Closest to our robotaxi FIXED road network.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Transfer to our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Transfer · OP/TOP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Ours: a fleet under per-vehicle budget SELECTS &amp; SEQUENCES road SEGMENTS to MAXIMIZE sensing utility on a FIXED road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Team-orienteering / VRP-with-profits (selective, max-utility) — NOT CVRP. MILP/Gurobi = ground truth &amp; baseline to beat.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Most transferable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TOP-Former (A3) &amp; UAS-MSTOP (A4): learned MULTI-vehicle TOP — pick+sequence, max utility, per-vehicle return-to-depot budget masking.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Kool AM (A1): reusable feasibility KERNEL — depot-as-terminal + 'visit only if you can still return within budget'.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POMO (A2): training/inference parts only; its multi-start symmetry breaks for our selective objective.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DTOP-SC (A5): OR baseline; scenario-sampling anticipation if utility is time-revealed.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Our deltas (shared gap = our novelty)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All 5 are node-based, static-reward, mostly-homogeneous budget.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Ours = arc/segment-level, real fixed network, TIME-VARYING utility → subset-selection over arcs + BUDGET masks (not capacity masks).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1D200EA-4FD4-7AAB-5CE2-40B53E663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Transfer to our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1BEDC69D-400F-3205-C6F1-2E6EC6128B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Transfer · FMs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86F2D-949F-BE46-C29D-6B8589A54014}"/>
              </a:ext>
            </a:extLst>
          </p:cNvPr>
          <p:cNvSpPr txBox="1"/>
          <p:nvPr/>
        </p:nvSpPr>
        <p:spPr>
          <a:xfrm>
            <a:off x="753977" y="1339515"/>
            <a:ext cx="98498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z="1500">
                <a:latin typeface="Amasis MT Pro" panose="02040504050005020304" pitchFamily="18" charset="0"/>
              </a:rPr>
              <a:t>Which foundation-model recipe transfers to our sensing-routing problem?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FM-MCVRP — most directly transferable (closest)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Our daily instances ARE subsets of one fixed road network = the FM-MCVRP premise. Recipe: SL on historical MILP/Gurobi solutions, sampled decoding.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'SL beats sub-optimal labels' = strongest argument a fast solver trained on our Gurobi solutions can rival Gurobi under a time budget.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Delta: swap visit-all min-cost for selective/max-utility → add budget masking + subset-selection decoding.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RouteFinder / GOAL — adapter fine-tune path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Pretrain-then-adapt (EAL / GOAL adapters). Caution: these FMs unify VISIT-ALL MIN-COST; our selective/profit objective needs new representation + budget masks (not out-of-the-box).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UniCO — least direct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Reducing arc-level, selective, time-varying sensing to a matrix general-TSP is unnatural; keep as a conceptual alternative.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en-US" altLang="zh-CN" dirty="0" sz="800">
                <a:latin typeface="Amasis MT Pro" panose="020405040500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b="1" sz="1500">
                <a:latin typeface="Amasis MT Pro" panose="02040504050005020304" pitchFamily="18" charset="0"/>
              </a:rPr>
              <a:t>Bottom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z="1400">
                <a:latin typeface="Amasis MT Pro" panose="02040504050005020304" pitchFamily="18" charset="0"/>
              </a:rPr>
              <a:t>FM-MCVRP-style SL on Gurobi labels over our fixed network + a TOP-Former/MSTOP-style decoder with budget masking = most promising. Prototype that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963</Words>
  <Application>Microsoft Office PowerPoint</Application>
  <PresentationFormat>Widescreen</PresentationFormat>
  <Paragraphs>171</Paragraphs>
  <Slides>12</Slides>
  <Notes>3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18</cp:revision>
  <dcterms:created xsi:type="dcterms:W3CDTF">2025-11-01T23:58:16Z</dcterms:created>
  <dcterms:modified xsi:type="dcterms:W3CDTF">2026-07-14T04:12:07Z</dcterms:modified>
</cp:coreProperties>
</file>