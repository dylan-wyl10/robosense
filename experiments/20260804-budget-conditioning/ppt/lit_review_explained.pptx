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324" r:id="rId18"/>
    <p:sldId id="325" r:id="rId19"/>
    <p:sldId id="326" r:id="rId20"/>
    <p:sldId id="327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E976B"/>
    <a:srgbClr val="CCD2D8"/>
    <a:srgbClr val="E7EAED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78715" autoAdjust="0"/>
  </p:normalViewPr>
  <p:slideViewPr>
    <p:cSldViewPr snapToGrid="0">
      <p:cViewPr varScale="1">
        <p:scale>
          <a:sx n="95" d="100"/>
          <a:sy n="95" d="100"/>
        </p:scale>
        <p:origin x="1517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lin Wang" userId="S::wang4517@purdue.edu::06abc78b-9058-4e15-afda-57e086dc17fc" providerId="AD" clId="Web-{0D53C210-D543-EEF5-D373-561EF8F735D5}"/>
    <pc:docChg chg="addSld delSld modSld">
      <pc:chgData name="Yilin Wang" userId="S::wang4517@purdue.edu::06abc78b-9058-4e15-afda-57e086dc17fc" providerId="AD" clId="Web-{0D53C210-D543-EEF5-D373-561EF8F735D5}" dt="2026-07-28T15:13:34.751" v="25" actId="14100"/>
      <pc:docMkLst>
        <pc:docMk/>
      </pc:docMkLst>
      <pc:sldChg chg="addSp delSp modSp add replId delAnim">
        <pc:chgData name="Yilin Wang" userId="S::wang4517@purdue.edu::06abc78b-9058-4e15-afda-57e086dc17fc" providerId="AD" clId="Web-{0D53C210-D543-EEF5-D373-561EF8F735D5}" dt="2026-07-28T15:13:34.751" v="25" actId="14100"/>
        <pc:sldMkLst>
          <pc:docMk/>
          <pc:sldMk cId="2831382767" sldId="324"/>
        </pc:sldMkLst>
        <pc:spChg chg="add mod">
          <ac:chgData name="Yilin Wang" userId="S::wang4517@purdue.edu::06abc78b-9058-4e15-afda-57e086dc17fc" providerId="AD" clId="Web-{0D53C210-D543-EEF5-D373-561EF8F735D5}" dt="2026-07-28T14:51:11.727" v="9"/>
          <ac:spMkLst>
            <pc:docMk/>
            <pc:sldMk cId="2831382767" sldId="324"/>
            <ac:spMk id="4" creationId="{A1BF681D-B533-1EEC-0B34-7B5963391A20}"/>
          </ac:spMkLst>
        </pc:spChg>
        <pc:spChg chg="add mod">
          <ac:chgData name="Yilin Wang" userId="S::wang4517@purdue.edu::06abc78b-9058-4e15-afda-57e086dc17fc" providerId="AD" clId="Web-{0D53C210-D543-EEF5-D373-561EF8F735D5}" dt="2026-07-28T14:51:19.852" v="15" actId="20577"/>
          <ac:spMkLst>
            <pc:docMk/>
            <pc:sldMk cId="2831382767" sldId="324"/>
            <ac:spMk id="9" creationId="{6460684C-5514-A7FE-301A-0735D9BC5FF8}"/>
          </ac:spMkLst>
        </pc:spChg>
        <pc:picChg chg="add mod">
          <ac:chgData name="Yilin Wang" userId="S::wang4517@purdue.edu::06abc78b-9058-4e15-afda-57e086dc17fc" providerId="AD" clId="Web-{0D53C210-D543-EEF5-D373-561EF8F735D5}" dt="2026-07-28T15:13:34.751" v="25" actId="14100"/>
          <ac:picMkLst>
            <pc:docMk/>
            <pc:sldMk cId="2831382767" sldId="324"/>
            <ac:picMk id="10" creationId="{6ADF9D61-5DD0-EC04-A9E0-2B0BA3B782AC}"/>
          </ac:picMkLst>
        </pc:picChg>
      </pc:sldChg>
    </pc:docChg>
  </pc:docChgLst>
  <pc:docChgLst>
    <pc:chgData name="Yilin Wang" userId="06abc78b-9058-4e15-afda-57e086dc17fc" providerId="ADAL" clId="{82DDD170-D4B5-46ED-803B-C300EEBF3622}"/>
    <pc:docChg chg="undo custSel addSld delSld modSld">
      <pc:chgData name="Yilin Wang" userId="06abc78b-9058-4e15-afda-57e086dc17fc" providerId="ADAL" clId="{82DDD170-D4B5-46ED-803B-C300EEBF3622}" dt="2026-08-02T19:39:47.362" v="790" actId="47"/>
      <pc:docMkLst>
        <pc:docMk/>
      </pc:docMkLst>
      <pc:sldChg chg="addSp delSp modSp mod">
        <pc:chgData name="Yilin Wang" userId="06abc78b-9058-4e15-afda-57e086dc17fc" providerId="ADAL" clId="{82DDD170-D4B5-46ED-803B-C300EEBF3622}" dt="2026-07-13T22:44:02.209" v="27" actId="14100"/>
        <pc:sldMkLst>
          <pc:docMk/>
          <pc:sldMk cId="3471812488" sldId="256"/>
        </pc:sldMkLst>
        <pc:spChg chg="add mod">
          <ac:chgData name="Yilin Wang" userId="06abc78b-9058-4e15-afda-57e086dc17fc" providerId="ADAL" clId="{82DDD170-D4B5-46ED-803B-C300EEBF3622}" dt="2026-07-13T22:44:02.209" v="27" actId="14100"/>
          <ac:spMkLst>
            <pc:docMk/>
            <pc:sldMk cId="3471812488" sldId="256"/>
            <ac:spMk id="5" creationId="{EFA50483-5FBA-B800-AA30-C5212FB961E8}"/>
          </ac:spMkLst>
        </pc:spChg>
      </pc:sldChg>
      <pc:sldChg chg="addSp delSp modSp mod chgLayout">
        <pc:chgData name="Yilin Wang" userId="06abc78b-9058-4e15-afda-57e086dc17fc" providerId="ADAL" clId="{82DDD170-D4B5-46ED-803B-C300EEBF3622}" dt="2026-07-13T22:44:46.856" v="68" actId="6264"/>
        <pc:sldMkLst>
          <pc:docMk/>
          <pc:sldMk cId="2224584359" sldId="268"/>
        </pc:sldMkLst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7" creationId="{5C3159ED-D285-84F7-9178-F9410128B151}"/>
          </ac:spMkLst>
        </pc:spChg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217" creationId="{853F43F2-4E6A-FBFD-C07F-B587F8A85126}"/>
          </ac:spMkLst>
        </pc:spChg>
      </pc:sldChg>
      <pc:sldChg chg="add del">
        <pc:chgData name="Yilin Wang" userId="06abc78b-9058-4e15-afda-57e086dc17fc" providerId="ADAL" clId="{82DDD170-D4B5-46ED-803B-C300EEBF3622}" dt="2026-07-13T22:44:49.955" v="74" actId="47"/>
        <pc:sldMkLst>
          <pc:docMk/>
          <pc:sldMk cId="2645060846" sldId="269"/>
        </pc:sldMkLst>
      </pc:sldChg>
      <pc:sldChg chg="add del">
        <pc:chgData name="Yilin Wang" userId="06abc78b-9058-4e15-afda-57e086dc17fc" providerId="ADAL" clId="{82DDD170-D4B5-46ED-803B-C300EEBF3622}" dt="2026-07-13T22:44:49.632" v="73" actId="47"/>
        <pc:sldMkLst>
          <pc:docMk/>
          <pc:sldMk cId="3269813319" sldId="270"/>
        </pc:sldMkLst>
      </pc:sldChg>
      <pc:sldChg chg="add del">
        <pc:chgData name="Yilin Wang" userId="06abc78b-9058-4e15-afda-57e086dc17fc" providerId="ADAL" clId="{82DDD170-D4B5-46ED-803B-C300EEBF3622}" dt="2026-07-13T22:44:51.595" v="76" actId="47"/>
        <pc:sldMkLst>
          <pc:docMk/>
          <pc:sldMk cId="2345577701" sldId="280"/>
        </pc:sldMkLst>
      </pc:sldChg>
      <pc:sldChg chg="add del">
        <pc:chgData name="Yilin Wang" userId="06abc78b-9058-4e15-afda-57e086dc17fc" providerId="ADAL" clId="{82DDD170-D4B5-46ED-803B-C300EEBF3622}" dt="2026-07-13T22:44:50.990" v="75" actId="47"/>
        <pc:sldMkLst>
          <pc:docMk/>
          <pc:sldMk cId="2478217048" sldId="281"/>
        </pc:sldMkLst>
      </pc:sldChg>
      <pc:sldChg chg="add del">
        <pc:chgData name="Yilin Wang" userId="06abc78b-9058-4e15-afda-57e086dc17fc" providerId="ADAL" clId="{82DDD170-D4B5-46ED-803B-C300EEBF3622}" dt="2026-08-02T19:39:47.362" v="790" actId="47"/>
        <pc:sldMkLst>
          <pc:docMk/>
          <pc:sldMk cId="3966750816" sldId="290"/>
        </pc:sldMkLst>
      </pc:sldChg>
      <pc:sldChg chg="modSp mod">
        <pc:chgData name="Yilin Wang" userId="06abc78b-9058-4e15-afda-57e086dc17fc" providerId="ADAL" clId="{82DDD170-D4B5-46ED-803B-C300EEBF3622}" dt="2026-07-13T22:44:59.217" v="88" actId="20577"/>
        <pc:sldMkLst>
          <pc:docMk/>
          <pc:sldMk cId="4274439896" sldId="292"/>
        </pc:sldMkLst>
        <pc:spChg chg="mod">
          <ac:chgData name="Yilin Wang" userId="06abc78b-9058-4e15-afda-57e086dc17fc" providerId="ADAL" clId="{82DDD170-D4B5-46ED-803B-C300EEBF3622}" dt="2026-07-13T22:44:59.217" v="88" actId="20577"/>
          <ac:spMkLst>
            <pc:docMk/>
            <pc:sldMk cId="4274439896" sldId="292"/>
            <ac:spMk id="3" creationId="{F3773503-EC16-E6FE-706B-80EDCBE2D3E4}"/>
          </ac:spMkLst>
        </pc:spChg>
      </pc:sldChg>
      <pc:sldChg chg="add del">
        <pc:chgData name="Yilin Wang" userId="06abc78b-9058-4e15-afda-57e086dc17fc" providerId="ADAL" clId="{82DDD170-D4B5-46ED-803B-C300EEBF3622}" dt="2026-07-13T22:44:51.829" v="77" actId="47"/>
        <pc:sldMkLst>
          <pc:docMk/>
          <pc:sldMk cId="1669817264" sldId="294"/>
        </pc:sldMkLst>
      </pc:sldChg>
      <pc:sldChg chg="addSp delSp modSp add del mod delAnim">
        <pc:chgData name="Yilin Wang" userId="06abc78b-9058-4e15-afda-57e086dc17fc" providerId="ADAL" clId="{82DDD170-D4B5-46ED-803B-C300EEBF3622}" dt="2026-08-02T19:39:28.239" v="772" actId="47"/>
        <pc:sldMkLst>
          <pc:docMk/>
          <pc:sldMk cId="2074524224" sldId="304"/>
        </pc:sldMkLst>
      </pc:sldChg>
      <pc:sldChg chg="add del">
        <pc:chgData name="Yilin Wang" userId="06abc78b-9058-4e15-afda-57e086dc17fc" providerId="ADAL" clId="{82DDD170-D4B5-46ED-803B-C300EEBF3622}" dt="2026-08-02T19:39:36.549" v="779" actId="47"/>
        <pc:sldMkLst>
          <pc:docMk/>
          <pc:sldMk cId="4255979582" sldId="305"/>
        </pc:sldMkLst>
      </pc:sldChg>
      <pc:sldChg chg="addSp delSp modSp add del mod">
        <pc:chgData name="Yilin Wang" userId="06abc78b-9058-4e15-afda-57e086dc17fc" providerId="ADAL" clId="{82DDD170-D4B5-46ED-803B-C300EEBF3622}" dt="2026-08-02T19:39:30.322" v="775" actId="47"/>
        <pc:sldMkLst>
          <pc:docMk/>
          <pc:sldMk cId="907687665" sldId="306"/>
        </pc:sldMkLst>
      </pc:sldChg>
      <pc:sldChg chg="add del">
        <pc:chgData name="Yilin Wang" userId="06abc78b-9058-4e15-afda-57e086dc17fc" providerId="ADAL" clId="{82DDD170-D4B5-46ED-803B-C300EEBF3622}" dt="2026-08-02T19:39:31.473" v="776" actId="47"/>
        <pc:sldMkLst>
          <pc:docMk/>
          <pc:sldMk cId="0" sldId="308"/>
        </pc:sldMkLst>
      </pc:sldChg>
      <pc:sldChg chg="add del">
        <pc:chgData name="Yilin Wang" userId="06abc78b-9058-4e15-afda-57e086dc17fc" providerId="ADAL" clId="{82DDD170-D4B5-46ED-803B-C300EEBF3622}" dt="2026-08-02T19:39:32.500" v="777" actId="47"/>
        <pc:sldMkLst>
          <pc:docMk/>
          <pc:sldMk cId="0" sldId="309"/>
        </pc:sldMkLst>
      </pc:sldChg>
      <pc:sldChg chg="add del">
        <pc:chgData name="Yilin Wang" userId="06abc78b-9058-4e15-afda-57e086dc17fc" providerId="ADAL" clId="{82DDD170-D4B5-46ED-803B-C300EEBF3622}" dt="2026-08-02T19:39:41.660" v="784" actId="47"/>
        <pc:sldMkLst>
          <pc:docMk/>
          <pc:sldMk cId="0" sldId="310"/>
        </pc:sldMkLst>
      </pc:sldChg>
      <pc:sldChg chg="add del">
        <pc:chgData name="Yilin Wang" userId="06abc78b-9058-4e15-afda-57e086dc17fc" providerId="ADAL" clId="{82DDD170-D4B5-46ED-803B-C300EEBF3622}" dt="2026-08-02T19:39:40.863" v="783" actId="47"/>
        <pc:sldMkLst>
          <pc:docMk/>
          <pc:sldMk cId="0" sldId="311"/>
        </pc:sldMkLst>
      </pc:sldChg>
      <pc:sldChg chg="add del">
        <pc:chgData name="Yilin Wang" userId="06abc78b-9058-4e15-afda-57e086dc17fc" providerId="ADAL" clId="{82DDD170-D4B5-46ED-803B-C300EEBF3622}" dt="2026-08-02T19:39:42.402" v="785" actId="47"/>
        <pc:sldMkLst>
          <pc:docMk/>
          <pc:sldMk cId="0" sldId="312"/>
        </pc:sldMkLst>
      </pc:sldChg>
      <pc:sldChg chg="add del">
        <pc:chgData name="Yilin Wang" userId="06abc78b-9058-4e15-afda-57e086dc17fc" providerId="ADAL" clId="{82DDD170-D4B5-46ED-803B-C300EEBF3622}" dt="2026-08-02T19:39:40.175" v="782" actId="47"/>
        <pc:sldMkLst>
          <pc:docMk/>
          <pc:sldMk cId="0" sldId="313"/>
        </pc:sldMkLst>
      </pc:sldChg>
      <pc:sldChg chg="modSp add del mod">
        <pc:chgData name="Yilin Wang" userId="06abc78b-9058-4e15-afda-57e086dc17fc" providerId="ADAL" clId="{82DDD170-D4B5-46ED-803B-C300EEBF3622}" dt="2026-08-02T19:39:29.022" v="773" actId="47"/>
        <pc:sldMkLst>
          <pc:docMk/>
          <pc:sldMk cId="0" sldId="314"/>
        </pc:sldMkLst>
      </pc:sldChg>
      <pc:sldChg chg="add del">
        <pc:chgData name="Yilin Wang" userId="06abc78b-9058-4e15-afda-57e086dc17fc" providerId="ADAL" clId="{82DDD170-D4B5-46ED-803B-C300EEBF3622}" dt="2026-08-02T19:39:43.495" v="786" actId="47"/>
        <pc:sldMkLst>
          <pc:docMk/>
          <pc:sldMk cId="0" sldId="315"/>
        </pc:sldMkLst>
      </pc:sldChg>
      <pc:sldChg chg="add del">
        <pc:chgData name="Yilin Wang" userId="06abc78b-9058-4e15-afda-57e086dc17fc" providerId="ADAL" clId="{82DDD170-D4B5-46ED-803B-C300EEBF3622}" dt="2026-08-02T19:39:38.952" v="781" actId="47"/>
        <pc:sldMkLst>
          <pc:docMk/>
          <pc:sldMk cId="0" sldId="316"/>
        </pc:sldMkLst>
      </pc:sldChg>
      <pc:sldChg chg="add del">
        <pc:chgData name="Yilin Wang" userId="06abc78b-9058-4e15-afda-57e086dc17fc" providerId="ADAL" clId="{82DDD170-D4B5-46ED-803B-C300EEBF3622}" dt="2026-08-02T19:39:44.250" v="787" actId="47"/>
        <pc:sldMkLst>
          <pc:docMk/>
          <pc:sldMk cId="0" sldId="317"/>
        </pc:sldMkLst>
      </pc:sldChg>
      <pc:sldChg chg="add del">
        <pc:chgData name="Yilin Wang" userId="06abc78b-9058-4e15-afda-57e086dc17fc" providerId="ADAL" clId="{82DDD170-D4B5-46ED-803B-C300EEBF3622}" dt="2026-08-02T19:39:45.336" v="788" actId="47"/>
        <pc:sldMkLst>
          <pc:docMk/>
          <pc:sldMk cId="0" sldId="318"/>
        </pc:sldMkLst>
      </pc:sldChg>
      <pc:sldChg chg="add del">
        <pc:chgData name="Yilin Wang" userId="06abc78b-9058-4e15-afda-57e086dc17fc" providerId="ADAL" clId="{82DDD170-D4B5-46ED-803B-C300EEBF3622}" dt="2026-08-02T19:39:46.372" v="789" actId="47"/>
        <pc:sldMkLst>
          <pc:docMk/>
          <pc:sldMk cId="0" sldId="319"/>
        </pc:sldMkLst>
      </pc:sldChg>
      <pc:sldChg chg="add del">
        <pc:chgData name="Yilin Wang" userId="06abc78b-9058-4e15-afda-57e086dc17fc" providerId="ADAL" clId="{82DDD170-D4B5-46ED-803B-C300EEBF3622}" dt="2026-08-02T19:39:36.146" v="778" actId="47"/>
        <pc:sldMkLst>
          <pc:docMk/>
          <pc:sldMk cId="0" sldId="320"/>
        </pc:sldMkLst>
      </pc:sldChg>
      <pc:sldChg chg="del">
        <pc:chgData name="Yilin Wang" userId="06abc78b-9058-4e15-afda-57e086dc17fc" providerId="ADAL" clId="{82DDD170-D4B5-46ED-803B-C300EEBF3622}" dt="2026-08-02T19:39:29.573" v="774" actId="47"/>
        <pc:sldMkLst>
          <pc:docMk/>
          <pc:sldMk cId="2490872928" sldId="321"/>
        </pc:sldMkLst>
      </pc:sldChg>
      <pc:sldChg chg="delSp modSp add mod">
        <pc:chgData name="Yilin Wang" userId="06abc78b-9058-4e15-afda-57e086dc17fc" providerId="ADAL" clId="{82DDD170-D4B5-46ED-803B-C300EEBF3622}" dt="2026-07-16T21:33:12.906" v="771" actId="20577"/>
        <pc:sldMkLst>
          <pc:docMk/>
          <pc:sldMk cId="2361112164" sldId="322"/>
        </pc:sldMkLst>
        <pc:spChg chg="mod">
          <ac:chgData name="Yilin Wang" userId="06abc78b-9058-4e15-afda-57e086dc17fc" providerId="ADAL" clId="{82DDD170-D4B5-46ED-803B-C300EEBF3622}" dt="2026-07-16T21:33:12.906" v="771" actId="20577"/>
          <ac:spMkLst>
            <pc:docMk/>
            <pc:sldMk cId="2361112164" sldId="322"/>
            <ac:spMk id="7" creationId="{33AE8DB3-4C29-0DE3-EB73-8D2BBFBB8CBF}"/>
          </ac:spMkLst>
        </pc:spChg>
        <pc:spChg chg="mod">
          <ac:chgData name="Yilin Wang" userId="06abc78b-9058-4e15-afda-57e086dc17fc" providerId="ADAL" clId="{82DDD170-D4B5-46ED-803B-C300EEBF3622}" dt="2026-07-16T21:32:53.871" v="735" actId="20577"/>
          <ac:spMkLst>
            <pc:docMk/>
            <pc:sldMk cId="2361112164" sldId="322"/>
            <ac:spMk id="203" creationId="{A219F0BA-71F5-BA11-CCBD-9327897B98CC}"/>
          </ac:spMkLst>
        </pc:spChg>
      </pc:sldChg>
      <pc:sldChg chg="add">
        <pc:chgData name="Yilin Wang" userId="06abc78b-9058-4e15-afda-57e086dc17fc" providerId="ADAL" clId="{82DDD170-D4B5-46ED-803B-C300EEBF3622}" dt="2026-07-16T21:32:47.529" v="734"/>
        <pc:sldMkLst>
          <pc:docMk/>
          <pc:sldMk cId="35167972" sldId="323"/>
        </pc:sldMkLst>
      </pc:sldChg>
      <pc:sldChg chg="del">
        <pc:chgData name="Yilin Wang" userId="06abc78b-9058-4e15-afda-57e086dc17fc" providerId="ADAL" clId="{82DDD170-D4B5-46ED-803B-C300EEBF3622}" dt="2026-08-02T19:39:36.934" v="780" actId="47"/>
        <pc:sldMkLst>
          <pc:docMk/>
          <pc:sldMk cId="2831382767" sldId="324"/>
        </pc:sldMkLst>
      </pc:sldChg>
    </pc:docChg>
  </pc:docChgLst>
  <pc:docChgLst>
    <pc:chgData name="Yilin Wang" userId="S::wang4517@purdue.edu::06abc78b-9058-4e15-afda-57e086dc17fc" providerId="AD" clId="Web-{73E358AC-2E5E-D559-125E-0E3EF88494AA}"/>
    <pc:docChg chg="addSld modSld">
      <pc:chgData name="Yilin Wang" userId="S::wang4517@purdue.edu::06abc78b-9058-4e15-afda-57e086dc17fc" providerId="AD" clId="Web-{73E358AC-2E5E-D559-125E-0E3EF88494AA}" dt="2026-07-14T15:01:04.722" v="118" actId="20577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255BC-3133-4958-9FBE-2E458D6F8C9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48518-90B6-4A67-95F9-2E42B160E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4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373D-6337-3720-B4C6-42A3F89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9D289A-57A2-D44D-9735-B77E62135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527FF0-4349-E451-CB64-8DAFFD09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Amasis MT Pro Medium" panose="020406040500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84E1A-6918-23BB-C9C5-EA66EB9BF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48518-90B6-4A67-95F9-2E42B160EC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705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479850-6E10-FE11-AE66-4866412731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76" y="5311078"/>
            <a:ext cx="2419927" cy="132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5B5AD5-57F5-C14F-0641-54AF0457E38A}"/>
              </a:ext>
            </a:extLst>
          </p:cNvPr>
          <p:cNvSpPr txBox="1"/>
          <p:nvPr userDrawn="1"/>
        </p:nvSpPr>
        <p:spPr>
          <a:xfrm>
            <a:off x="4495342" y="6377370"/>
            <a:ext cx="2946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masis MT Pro Medium" panose="02040604050005020304" pitchFamily="18" charset="0"/>
              </a:rPr>
              <a:t>Connected and Automated Resilience Lab</a:t>
            </a:r>
            <a:endParaRPr lang="zh-CN" altLang="en-US" sz="1100" dirty="0">
              <a:latin typeface="Amasis MT Pro Medium" panose="020406040500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B2B6E5-80BD-F713-9D38-37ACF4511900}"/>
              </a:ext>
            </a:extLst>
          </p:cNvPr>
          <p:cNvSpPr/>
          <p:nvPr userDrawn="1"/>
        </p:nvSpPr>
        <p:spPr>
          <a:xfrm flipV="1">
            <a:off x="0" y="3368615"/>
            <a:ext cx="12192000" cy="120769"/>
          </a:xfrm>
          <a:prstGeom prst="rect">
            <a:avLst/>
          </a:prstGeom>
          <a:gradFill flip="none" rotWithShape="1">
            <a:gsLst>
              <a:gs pos="20000">
                <a:srgbClr val="AE976B"/>
              </a:gs>
              <a:gs pos="57000">
                <a:schemeClr val="tx1"/>
              </a:gs>
              <a:gs pos="89000">
                <a:srgbClr val="AE976B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D24C6EE-AE1C-7BFB-99DF-401DD2298A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16363" y="1630363"/>
            <a:ext cx="3175000" cy="79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B95C6C1F-13D4-B7DB-20F1-2E32261890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0BDD535-0769-42FB-94C0-0748AE4F45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0C4C7792-7799-2FE0-554B-92BFA7281814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5CD04-7929-1C73-332C-B27202C18453}"/>
              </a:ext>
            </a:extLst>
          </p:cNvPr>
          <p:cNvGrpSpPr/>
          <p:nvPr userDrawn="1"/>
        </p:nvGrpSpPr>
        <p:grpSpPr>
          <a:xfrm>
            <a:off x="-76205" y="5966730"/>
            <a:ext cx="2047875" cy="931011"/>
            <a:chOff x="6184034" y="5252434"/>
            <a:chExt cx="3601639" cy="1656461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E3479850-6E10-FE11-AE66-48664127316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4892" y="5252434"/>
              <a:ext cx="2419927" cy="1327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25B5AD5-57F5-C14F-0641-54AF0457E38A}"/>
                </a:ext>
              </a:extLst>
            </p:cNvPr>
            <p:cNvSpPr txBox="1"/>
            <p:nvPr userDrawn="1"/>
          </p:nvSpPr>
          <p:spPr>
            <a:xfrm>
              <a:off x="6184034" y="6251777"/>
              <a:ext cx="3601639" cy="657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latin typeface="Amasis MT Pro Medium" panose="02040604050005020304" pitchFamily="18" charset="0"/>
                </a:rPr>
                <a:t>Connected and Automated Resilience Lab</a:t>
              </a:r>
              <a:endParaRPr lang="zh-CN" altLang="en-US" sz="900" dirty="0">
                <a:latin typeface="Amasis MT Pro Medium" panose="02040604050005020304" pitchFamily="18" charset="0"/>
              </a:endParaRPr>
            </a:p>
          </p:txBody>
        </p:sp>
      </p:grp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1047F1BB-65F9-D277-F14E-506A3CC4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42683"/>
            <a:ext cx="3113806" cy="63817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masis MT Pro Medium" panose="02040604050005020304" pitchFamily="18" charset="0"/>
              </a:defRPr>
            </a:lvl1pPr>
            <a:lvl5pPr marL="1828800" indent="0">
              <a:buNone/>
              <a:defRPr b="1"/>
            </a:lvl5pPr>
          </a:lstStyle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6859A36C-B8CC-40EF-0074-708C559EA7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54082DBC-1380-7E6F-1190-75EB895EA1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4396B154-8133-68ED-6CD5-7B359DB25F2A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549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D58A8-D3F8-6292-7607-8A36AC5D73BF}"/>
              </a:ext>
            </a:extLst>
          </p:cNvPr>
          <p:cNvSpPr/>
          <p:nvPr userDrawn="1"/>
        </p:nvSpPr>
        <p:spPr>
          <a:xfrm>
            <a:off x="0" y="0"/>
            <a:ext cx="12192000" cy="690113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数据 2">
            <a:extLst>
              <a:ext uri="{FF2B5EF4-FFF2-40B4-BE49-F238E27FC236}">
                <a16:creationId xmlns:a16="http://schemas.microsoft.com/office/drawing/2014/main" id="{74928255-F6E6-4751-0F92-1D38882CD9D6}"/>
              </a:ext>
            </a:extLst>
          </p:cNvPr>
          <p:cNvSpPr/>
          <p:nvPr userDrawn="1"/>
        </p:nvSpPr>
        <p:spPr>
          <a:xfrm>
            <a:off x="960583" y="-1"/>
            <a:ext cx="5237018" cy="690113"/>
          </a:xfrm>
          <a:prstGeom prst="flowChartInputOutput">
            <a:avLst/>
          </a:prstGeom>
          <a:gradFill>
            <a:gsLst>
              <a:gs pos="4000">
                <a:schemeClr val="tx1"/>
              </a:gs>
              <a:gs pos="57000">
                <a:srgbClr val="AE976B"/>
              </a:gs>
              <a:gs pos="83000">
                <a:srgbClr val="AE976B"/>
              </a:gs>
              <a:gs pos="100000">
                <a:srgbClr val="AE976B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71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wang4517@purdue.edu" TargetMode="External"/><Relationship Id="rId3" Type="http://schemas.openxmlformats.org/officeDocument/2006/relationships/hyperlink" Target="mailto:feng333@purdue.edu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20.png"/><Relationship Id="rId4" Type="http://schemas.openxmlformats.org/officeDocument/2006/relationships/image" Target="../media/image230.png"/><Relationship Id="rId7" Type="http://schemas.openxmlformats.org/officeDocument/2006/relationships/image" Target="../media/image240.png"/><Relationship Id="rId8" Type="http://schemas.openxmlformats.org/officeDocument/2006/relationships/image" Target="../media/image250.png"/><Relationship Id="rId9" Type="http://schemas.openxmlformats.org/officeDocument/2006/relationships/image" Target="../media/image260.png"/><Relationship Id="rId10" Type="http://schemas.openxmlformats.org/officeDocument/2006/relationships/image" Target="../media/image270.png"/><Relationship Id="rId11" Type="http://schemas.openxmlformats.org/officeDocument/2006/relationships/image" Target="../media/image280.png"/><Relationship Id="rId12" Type="http://schemas.openxmlformats.org/officeDocument/2006/relationships/image" Target="../media/image290.png"/><Relationship Id="rId13" Type="http://schemas.openxmlformats.org/officeDocument/2006/relationships/image" Target="../media/image300.png"/><Relationship Id="rId14" Type="http://schemas.openxmlformats.org/officeDocument/2006/relationships/image" Target="../media/image3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0.png"/><Relationship Id="rId3" Type="http://schemas.openxmlformats.org/officeDocument/2006/relationships/image" Target="../media/image330.png"/><Relationship Id="rId4" Type="http://schemas.openxmlformats.org/officeDocument/2006/relationships/image" Target="../media/image340.png"/><Relationship Id="rId5" Type="http://schemas.openxmlformats.org/officeDocument/2006/relationships/image" Target="../media/image350.png"/><Relationship Id="rId6" Type="http://schemas.openxmlformats.org/officeDocument/2006/relationships/image" Target="../media/image360.png"/><Relationship Id="rId7" Type="http://schemas.openxmlformats.org/officeDocument/2006/relationships/image" Target="../media/image370.png"/><Relationship Id="rId8" Type="http://schemas.openxmlformats.org/officeDocument/2006/relationships/image" Target="../media/image380.png"/><Relationship Id="rId9" Type="http://schemas.openxmlformats.org/officeDocument/2006/relationships/image" Target="../media/image390.png"/><Relationship Id="rId10" Type="http://schemas.openxmlformats.org/officeDocument/2006/relationships/image" Target="../media/image400.png"/><Relationship Id="rId11" Type="http://schemas.openxmlformats.org/officeDocument/2006/relationships/image" Target="../media/image410.png"/><Relationship Id="rId12" Type="http://schemas.openxmlformats.org/officeDocument/2006/relationships/image" Target="../media/image420.png"/><Relationship Id="rId13" Type="http://schemas.openxmlformats.org/officeDocument/2006/relationships/image" Target="../media/image430.png"/><Relationship Id="rId14" Type="http://schemas.openxmlformats.org/officeDocument/2006/relationships/image" Target="../media/image440.png"/><Relationship Id="rId15" Type="http://schemas.openxmlformats.org/officeDocument/2006/relationships/image" Target="../media/image450.png"/><Relationship Id="rId16" Type="http://schemas.openxmlformats.org/officeDocument/2006/relationships/image" Target="../media/image4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0.png"/><Relationship Id="rId3" Type="http://schemas.openxmlformats.org/officeDocument/2006/relationships/image" Target="../media/image480.png"/><Relationship Id="rId4" Type="http://schemas.openxmlformats.org/officeDocument/2006/relationships/image" Target="../media/image490.png"/><Relationship Id="rId5" Type="http://schemas.openxmlformats.org/officeDocument/2006/relationships/image" Target="../media/image50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</a:t>
            </a:r>
            <a:br>
              <a:rPr lang="en-US" altLang="zh-CN" dirty="0"/>
            </a:br>
            <a:r>
              <a:rPr lang="en-US" altLang="zh-CN" dirty="0"/>
              <a:t>Dec.12</a:t>
            </a:r>
            <a:r>
              <a:rPr lang="en-US" altLang="zh-CN" baseline="30000" dirty="0"/>
              <a:t>nd</a:t>
            </a:r>
            <a:r>
              <a:rPr lang="en-US" altLang="zh-CN" dirty="0"/>
              <a:t> 2025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Group Meeting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Notes and Thoughts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81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F5D17-E8BA-5697-21D7-76768AEB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43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2153-BCD3-3380-18A6-5AF9D397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DB483-11E5-CA9D-E732-A6B8DDA6FD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DBC9FBA9-D645-9710-11B9-89A2783E10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06BF-3122-F046-736C-41F9C472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</a:t>
            </a:r>
            <a:r>
              <a:rPr lang="en-US" altLang="zh-CN"/>
              <a:t>Orientated Problem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LR4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6111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959AA-F4BE-17E7-916F-FF7EA500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B4713-2B9D-8798-2468-95EAF4E6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263" y="3642584"/>
            <a:ext cx="5022974" cy="1325563"/>
          </a:xfrm>
        </p:spPr>
        <p:txBody>
          <a:bodyPr/>
          <a:lstStyle/>
          <a:p>
            <a:r>
              <a:rPr lang="en-US" altLang="zh-CN" sz="2000" dirty="0"/>
              <a:t>Yilin Wang: </a:t>
            </a:r>
            <a:r>
              <a:rPr lang="en-US" altLang="zh-CN" sz="2000" dirty="0">
                <a:hlinkClick r:id="rId2"/>
              </a:rPr>
              <a:t>wang4517@purdue.edu</a:t>
            </a:r>
            <a:br>
              <a:rPr lang="en-US" altLang="zh-CN" sz="2000" dirty="0"/>
            </a:br>
            <a:r>
              <a:rPr lang="en-US" altLang="zh-CN" sz="2000" dirty="0"/>
              <a:t>Yiheng Feng*: </a:t>
            </a:r>
            <a:r>
              <a:rPr lang="en-US" altLang="zh-CN" sz="2000" dirty="0">
                <a:hlinkClick r:id="rId3"/>
              </a:rPr>
              <a:t>feng333@purdue.edu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4FFC3D0A-0B0F-A410-920D-54A204CE0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1534933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Thanks for Listening!</a:t>
            </a:r>
            <a:endParaRPr lang="zh-CN" altLang="en-US" dirty="0"/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F6DC3B43-DE62-B20E-5D5D-17F7B28D9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Acknowledgement</a:t>
            </a:r>
            <a:endParaRPr lang="zh-CN" altLang="en-US" dirty="0"/>
          </a:p>
        </p:txBody>
      </p:sp>
      <p:pic>
        <p:nvPicPr>
          <p:cNvPr id="2050" name="Picture 2" descr="NSF Logo and symbol, meaning, history, PNG, brand">
            <a:extLst>
              <a:ext uri="{FF2B5EF4-FFF2-40B4-BE49-F238E27FC236}">
                <a16:creationId xmlns:a16="http://schemas.microsoft.com/office/drawing/2014/main" id="{A82E0FF7-95C3-E29F-C4B6-6AA28724D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30" y="5476940"/>
            <a:ext cx="2116551" cy="119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CAT - Sustainable Transportation Systems Research Group - Purdue University">
            <a:extLst>
              <a:ext uri="{FF2B5EF4-FFF2-40B4-BE49-F238E27FC236}">
                <a16:creationId xmlns:a16="http://schemas.microsoft.com/office/drawing/2014/main" id="{430EF258-BE62-4EB7-C4B2-05187F897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014" y="5663472"/>
            <a:ext cx="2210256" cy="100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18A228D-8EDD-4C0E-84DA-90408DF4FF9B}"/>
              </a:ext>
            </a:extLst>
          </p:cNvPr>
          <p:cNvSpPr txBox="1">
            <a:spLocks/>
          </p:cNvSpPr>
          <p:nvPr/>
        </p:nvSpPr>
        <p:spPr>
          <a:xfrm>
            <a:off x="73891" y="2630488"/>
            <a:ext cx="12044218" cy="7985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masis MT Pro Medium" panose="020406040500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 &amp;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981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EBBA45-B714-FC3D-4BD2-52576305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7417E43-86AE-B6DC-CF7B-740678425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51D11F5C-C949-193C-A6E4-A4971C635054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86C797BE-AE66-C6B2-4D6D-8E2CC8A8AEB2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CTM evaluation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88D759D-2405-DF55-8905-583A93521ED5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8DE361C-DCC0-438C-F04C-2B1489D736AF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C4CE6737-DCE1-BCFF-C201-40839023F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Toy network analysis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62AA27-D2F3-F1C2-1EE2-824A755A004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B4E1EFB-A71E-20BC-E7A9-D56E3E4FDE75}"/>
              </a:ext>
            </a:extLst>
          </p:cNvPr>
          <p:cNvSpPr txBox="1"/>
          <p:nvPr/>
        </p:nvSpPr>
        <p:spPr>
          <a:xfrm>
            <a:off x="5083759" y="2188193"/>
            <a:ext cx="7108242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masis MT Pro Medium"/>
                <a:ea typeface="等线"/>
              </a:rPr>
              <a:t>Veh_1</a:t>
            </a:r>
            <a:r>
              <a:rPr lang="en-US" altLang="zh-CN" sz="1600" dirty="0">
                <a:latin typeface="Amasis MT Pro Medium"/>
                <a:ea typeface="等线"/>
              </a:rPr>
              <a:t>: 25-26, t=0 |route: 25-1-2-3-22-23-24-26. Time: 0-4-8-9-12-13-16-19 </a:t>
            </a:r>
          </a:p>
          <a:p>
            <a:r>
              <a:rPr lang="en-US" altLang="zh-CN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masis MT Pro Medium"/>
                <a:ea typeface="等线"/>
              </a:rPr>
              <a:t>Veh_2</a:t>
            </a:r>
            <a:r>
              <a:rPr lang="en-US" altLang="zh-CN" sz="1600" dirty="0">
                <a:latin typeface="Amasis MT Pro Medium"/>
                <a:ea typeface="等线"/>
              </a:rPr>
              <a:t>: 25-26, t=1 |route: 25-1-2-19-20-9-24-26. Time: 1-2-4-5-8-11-14-15</a:t>
            </a:r>
          </a:p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masis MT Pro Medium"/>
                <a:ea typeface="等线"/>
              </a:rPr>
              <a:t>Veh_3</a:t>
            </a:r>
            <a:r>
              <a:rPr lang="en-US" altLang="zh-CN" sz="1600" dirty="0">
                <a:latin typeface="Amasis MT Pro Medium"/>
                <a:ea typeface="等线"/>
              </a:rPr>
              <a:t>: 25-26, t=2 |route: 25-1-2-3-22-23-24-26. Time: 2-4-8-9-12-13-16-19</a:t>
            </a:r>
          </a:p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masis MT Pro Medium"/>
                <a:ea typeface="等线"/>
              </a:rPr>
              <a:t>Veh_4</a:t>
            </a:r>
            <a:r>
              <a:rPr lang="en-US" altLang="zh-CN" sz="1600" dirty="0">
                <a:latin typeface="Amasis MT Pro Medium"/>
                <a:ea typeface="等线"/>
              </a:rPr>
              <a:t>: 25-26, t=3 |route: 25-13-4-5-20-9-24-26. Time: 3-6-8-11-14-15-18-19</a:t>
            </a:r>
          </a:p>
        </p:txBody>
      </p: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2EFBD672-FBD2-819D-8634-A1CC6944F58A}"/>
              </a:ext>
            </a:extLst>
          </p:cNvPr>
          <p:cNvGrpSpPr/>
          <p:nvPr/>
        </p:nvGrpSpPr>
        <p:grpSpPr>
          <a:xfrm>
            <a:off x="441219" y="1786785"/>
            <a:ext cx="4918073" cy="3866241"/>
            <a:chOff x="441219" y="1786785"/>
            <a:chExt cx="4918073" cy="3866241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DAF8FD4-6098-135B-5949-7F8DD8315A87}"/>
                </a:ext>
              </a:extLst>
            </p:cNvPr>
            <p:cNvGrpSpPr/>
            <p:nvPr/>
          </p:nvGrpSpPr>
          <p:grpSpPr>
            <a:xfrm>
              <a:off x="441219" y="1786785"/>
              <a:ext cx="4918073" cy="3866241"/>
              <a:chOff x="152400" y="1621971"/>
              <a:chExt cx="4918073" cy="3866241"/>
            </a:xfrm>
          </p:grpSpPr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03AF37BF-0842-6009-9C3D-89C56EB43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5" y="2102733"/>
                <a:ext cx="3330254" cy="7022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0356A574-4504-240C-6280-B96C502213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3100590"/>
                <a:ext cx="3311274" cy="231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CCA429-F104-C3CF-8D38-708F9DEE6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0777" y="2102733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2C5CBF9-196D-B14B-5552-F788C544B4D6}"/>
                  </a:ext>
                </a:extLst>
              </p:cNvPr>
              <p:cNvSpPr txBox="1"/>
              <p:nvPr/>
            </p:nvSpPr>
            <p:spPr>
              <a:xfrm>
                <a:off x="1349828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90AAD56-D7FE-FE0E-E00A-0A9EC5B3784F}"/>
                  </a:ext>
                </a:extLst>
              </p:cNvPr>
              <p:cNvSpPr txBox="1"/>
              <p:nvPr/>
            </p:nvSpPr>
            <p:spPr>
              <a:xfrm>
                <a:off x="2474685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</a:t>
                </a:r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2FBF55-3AC7-C835-D00A-A146FB0C14EC}"/>
                  </a:ext>
                </a:extLst>
              </p:cNvPr>
              <p:cNvSpPr txBox="1"/>
              <p:nvPr/>
            </p:nvSpPr>
            <p:spPr>
              <a:xfrm>
                <a:off x="3672113" y="1767113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3</a:t>
                </a:r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2D2156-0B8E-0D19-A48C-7AC0D366EEA2}"/>
                  </a:ext>
                </a:extLst>
              </p:cNvPr>
              <p:cNvSpPr txBox="1"/>
              <p:nvPr/>
            </p:nvSpPr>
            <p:spPr>
              <a:xfrm>
                <a:off x="1349826" y="281032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4</a:t>
                </a:r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963D7EE-B7EB-6823-91D6-6345F3A23149}"/>
                  </a:ext>
                </a:extLst>
              </p:cNvPr>
              <p:cNvSpPr txBox="1"/>
              <p:nvPr/>
            </p:nvSpPr>
            <p:spPr>
              <a:xfrm>
                <a:off x="1367969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7</a:t>
                </a:r>
                <a:endParaRPr lang="zh-CN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393C047-FC75-D678-8E8B-C85F3543DB42}"/>
                  </a:ext>
                </a:extLst>
              </p:cNvPr>
              <p:cNvSpPr txBox="1"/>
              <p:nvPr/>
            </p:nvSpPr>
            <p:spPr>
              <a:xfrm>
                <a:off x="2474683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8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1794B86-44CB-F5F6-1459-65DD9D4DFC73}"/>
                  </a:ext>
                </a:extLst>
              </p:cNvPr>
              <p:cNvSpPr txBox="1"/>
              <p:nvPr/>
            </p:nvSpPr>
            <p:spPr>
              <a:xfrm>
                <a:off x="605969" y="239304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13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30AA5B-2C9F-EC47-CC98-4FB9912BC9CC}"/>
                  </a:ext>
                </a:extLst>
              </p:cNvPr>
              <p:cNvSpPr txBox="1"/>
              <p:nvPr/>
            </p:nvSpPr>
            <p:spPr>
              <a:xfrm>
                <a:off x="3626754" y="383539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9</a:t>
                </a:r>
                <a:endParaRPr lang="zh-CN" altLang="en-US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6F068B8-B5CF-2C07-72DC-E4E3A3B07CBC}"/>
                  </a:ext>
                </a:extLst>
              </p:cNvPr>
              <p:cNvSpPr txBox="1"/>
              <p:nvPr/>
            </p:nvSpPr>
            <p:spPr>
              <a:xfrm>
                <a:off x="2420255" y="4715326"/>
                <a:ext cx="475342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11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DD5A5F6-D2B2-E414-22A7-467F13BB41D4}"/>
                  </a:ext>
                </a:extLst>
              </p:cNvPr>
              <p:cNvSpPr txBox="1"/>
              <p:nvPr/>
            </p:nvSpPr>
            <p:spPr>
              <a:xfrm>
                <a:off x="605968" y="3399969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14</a:t>
                </a:r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F29F6E8-F2F1-731C-0AED-E36209BA3032}"/>
                  </a:ext>
                </a:extLst>
              </p:cNvPr>
              <p:cNvSpPr txBox="1"/>
              <p:nvPr/>
            </p:nvSpPr>
            <p:spPr>
              <a:xfrm>
                <a:off x="1304467" y="47697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10</a:t>
                </a:r>
                <a:endParaRPr lang="zh-CN" altLang="en-US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FBB9E3F-1567-4921-8E4E-B6EB95229C2E}"/>
                  </a:ext>
                </a:extLst>
              </p:cNvPr>
              <p:cNvSpPr txBox="1"/>
              <p:nvPr/>
            </p:nvSpPr>
            <p:spPr>
              <a:xfrm>
                <a:off x="3581396" y="4715325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12</a:t>
                </a:r>
                <a:endParaRPr lang="zh-CN" alt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D1DB576D-482B-415C-0143-9B35267358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4116589"/>
                <a:ext cx="3311274" cy="29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BF2E6839-B7E4-99B2-A7B3-8C2666174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777" y="5034279"/>
                <a:ext cx="3320141" cy="1462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58015B3B-AC86-B5EE-B726-0FE49EA63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38419" y="2102732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E061393A-59E6-4719-58B3-DF74975600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0490" y="2102731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9063ED9A-2111-F06D-59C2-749A16B823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0918" y="2095499"/>
                <a:ext cx="18981" cy="2945038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5EBFA10-60B3-1540-85E7-D13855925E4E}"/>
                  </a:ext>
                </a:extLst>
              </p:cNvPr>
              <p:cNvSpPr txBox="1"/>
              <p:nvPr/>
            </p:nvSpPr>
            <p:spPr>
              <a:xfrm>
                <a:off x="2474682" y="2819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5</a:t>
                </a:r>
                <a:endParaRPr lang="zh-CN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E407DA-39FB-81E4-4CAE-030378B1B949}"/>
                  </a:ext>
                </a:extLst>
              </p:cNvPr>
              <p:cNvSpPr txBox="1"/>
              <p:nvPr/>
            </p:nvSpPr>
            <p:spPr>
              <a:xfrm>
                <a:off x="3626754" y="281032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6</a:t>
                </a:r>
                <a:endParaRPr lang="zh-CN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47C2349-FA7C-56DC-AFA6-471C84FB49FB}"/>
                  </a:ext>
                </a:extLst>
              </p:cNvPr>
              <p:cNvSpPr txBox="1"/>
              <p:nvPr/>
            </p:nvSpPr>
            <p:spPr>
              <a:xfrm>
                <a:off x="605967" y="4434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15</a:t>
                </a:r>
                <a:endParaRPr lang="zh-CN" altLang="en-US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9B58870-1BFD-E55F-3524-87F4A2EF6CE1}"/>
                  </a:ext>
                </a:extLst>
              </p:cNvPr>
              <p:cNvSpPr txBox="1"/>
              <p:nvPr/>
            </p:nvSpPr>
            <p:spPr>
              <a:xfrm>
                <a:off x="1676397" y="239304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16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42BEA86-C76D-8F92-5741-FEDBEA3A98FC}"/>
                  </a:ext>
                </a:extLst>
              </p:cNvPr>
              <p:cNvSpPr txBox="1"/>
              <p:nvPr/>
            </p:nvSpPr>
            <p:spPr>
              <a:xfrm>
                <a:off x="1676396" y="339996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17</a:t>
                </a:r>
                <a:endParaRPr lang="zh-CN" altLang="en-US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3A3211C-E8A4-720F-ECC0-1BA2D9DE72B7}"/>
                  </a:ext>
                </a:extLst>
              </p:cNvPr>
              <p:cNvSpPr txBox="1"/>
              <p:nvPr/>
            </p:nvSpPr>
            <p:spPr>
              <a:xfrm>
                <a:off x="1676395" y="443411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18</a:t>
                </a:r>
                <a:endParaRPr lang="zh-CN" altLang="en-US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AFDAFE5-1D51-21B4-E1F6-8CD4CD6733E7}"/>
                  </a:ext>
                </a:extLst>
              </p:cNvPr>
              <p:cNvSpPr txBox="1"/>
              <p:nvPr/>
            </p:nvSpPr>
            <p:spPr>
              <a:xfrm>
                <a:off x="2819397" y="241118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19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07B2AF9-9A1F-614D-2DC6-E0478637F994}"/>
                  </a:ext>
                </a:extLst>
              </p:cNvPr>
              <p:cNvSpPr txBox="1"/>
              <p:nvPr/>
            </p:nvSpPr>
            <p:spPr>
              <a:xfrm>
                <a:off x="2819396" y="3418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20</a:t>
                </a:r>
                <a:endParaRPr lang="zh-CN" altLang="en-US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7AFC75F-28BB-30D4-71FC-9F7F54F44C2D}"/>
                  </a:ext>
                </a:extLst>
              </p:cNvPr>
              <p:cNvSpPr txBox="1"/>
              <p:nvPr/>
            </p:nvSpPr>
            <p:spPr>
              <a:xfrm>
                <a:off x="2819395" y="44522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21</a:t>
                </a:r>
                <a:endParaRPr lang="zh-CN" altLang="en-US" dirty="0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2F0F066-9B80-4BB8-BDEC-F7573FAADBF1}"/>
                  </a:ext>
                </a:extLst>
              </p:cNvPr>
              <p:cNvSpPr txBox="1"/>
              <p:nvPr/>
            </p:nvSpPr>
            <p:spPr>
              <a:xfrm>
                <a:off x="3898897" y="243839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22</a:t>
                </a:r>
                <a:endParaRPr lang="zh-CN" altLang="en-US" dirty="0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FEAA760-059D-1177-A1BD-07DA34C2674D}"/>
                  </a:ext>
                </a:extLst>
              </p:cNvPr>
              <p:cNvSpPr txBox="1"/>
              <p:nvPr/>
            </p:nvSpPr>
            <p:spPr>
              <a:xfrm>
                <a:off x="3898896" y="3445326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23</a:t>
                </a:r>
                <a:endParaRPr lang="zh-CN" altLang="en-US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ED5CAD0-8D00-F681-A1C5-73B13C027282}"/>
                  </a:ext>
                </a:extLst>
              </p:cNvPr>
              <p:cNvSpPr txBox="1"/>
              <p:nvPr/>
            </p:nvSpPr>
            <p:spPr>
              <a:xfrm>
                <a:off x="3778823" y="4424052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24</a:t>
                </a:r>
                <a:endParaRPr lang="zh-CN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9805C3-63BB-F724-B963-2097C4D0B3E1}"/>
                  </a:ext>
                </a:extLst>
              </p:cNvPr>
              <p:cNvSpPr txBox="1"/>
              <p:nvPr/>
            </p:nvSpPr>
            <p:spPr>
              <a:xfrm>
                <a:off x="596898" y="1621971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25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ACF011D-1037-7260-E284-72DBC6C0EE7C}"/>
                  </a:ext>
                </a:extLst>
              </p:cNvPr>
              <p:cNvSpPr txBox="1"/>
              <p:nvPr/>
            </p:nvSpPr>
            <p:spPr>
              <a:xfrm>
                <a:off x="4588326" y="5005613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26</a:t>
                </a:r>
                <a:endParaRPr lang="zh-CN" altLang="en-US" dirty="0"/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E1F2F1A9-4B13-BFB4-1C07-DA28905A1F41}"/>
                  </a:ext>
                </a:extLst>
              </p:cNvPr>
              <p:cNvCxnSpPr/>
              <p:nvPr/>
            </p:nvCxnSpPr>
            <p:spPr>
              <a:xfrm>
                <a:off x="152400" y="1647824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5C89A0A8-1C5A-E8BC-5DAA-95A1074BA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9899" y="5040537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3BBB516E-3D2D-68A3-F0CC-F12286414A64}"/>
                </a:ext>
              </a:extLst>
            </p:cNvPr>
            <p:cNvCxnSpPr/>
            <p:nvPr/>
          </p:nvCxnSpPr>
          <p:spPr>
            <a:xfrm>
              <a:off x="1247535" y="2274569"/>
              <a:ext cx="3302202" cy="2939153"/>
            </a:xfrm>
            <a:prstGeom prst="bentConnector3">
              <a:avLst>
                <a:gd name="adj1" fmla="val 100067"/>
              </a:avLst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05431F53-DC4E-E0F6-600D-9A93152680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527378" y="3202477"/>
              <a:ext cx="2910113" cy="1044260"/>
            </a:xfrm>
            <a:prstGeom prst="bentConnector3">
              <a:avLst>
                <a:gd name="adj1" fmla="val 68983"/>
              </a:avLst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19183989-3465-BCF7-D9A4-8D0B574EBB4F}"/>
                </a:ext>
              </a:extLst>
            </p:cNvPr>
            <p:cNvCxnSpPr/>
            <p:nvPr/>
          </p:nvCxnSpPr>
          <p:spPr>
            <a:xfrm>
              <a:off x="1247535" y="2311513"/>
              <a:ext cx="2249713" cy="0"/>
            </a:xfrm>
            <a:prstGeom prst="line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连接符: 肘形 213">
              <a:extLst>
                <a:ext uri="{FF2B5EF4-FFF2-40B4-BE49-F238E27FC236}">
                  <a16:creationId xmlns:a16="http://schemas.microsoft.com/office/drawing/2014/main" id="{D464DD1D-A72B-1103-6984-ADCCEFE26447}"/>
                </a:ext>
              </a:extLst>
            </p:cNvPr>
            <p:cNvCxnSpPr>
              <a:cxnSpLocks/>
            </p:cNvCxnSpPr>
            <p:nvPr/>
          </p:nvCxnSpPr>
          <p:spPr>
            <a:xfrm>
              <a:off x="1247535" y="2204718"/>
              <a:ext cx="3360435" cy="2989403"/>
            </a:xfrm>
            <a:prstGeom prst="bentConnector3">
              <a:avLst>
                <a:gd name="adj1" fmla="val 100299"/>
              </a:avLst>
            </a:prstGeom>
            <a:ln w="571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连接符: 肘形 222">
              <a:extLst>
                <a:ext uri="{FF2B5EF4-FFF2-40B4-BE49-F238E27FC236}">
                  <a16:creationId xmlns:a16="http://schemas.microsoft.com/office/drawing/2014/main" id="{E16D2F18-79B7-7390-F595-BFFD44CB8576}"/>
                </a:ext>
              </a:extLst>
            </p:cNvPr>
            <p:cNvCxnSpPr>
              <a:cxnSpLocks/>
            </p:cNvCxnSpPr>
            <p:nvPr/>
          </p:nvCxnSpPr>
          <p:spPr>
            <a:xfrm>
              <a:off x="3415132" y="4326760"/>
              <a:ext cx="1042669" cy="876362"/>
            </a:xfrm>
            <a:prstGeom prst="bentConnector3">
              <a:avLst>
                <a:gd name="adj1" fmla="val 99607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连接符: 肘形 231">
              <a:extLst>
                <a:ext uri="{FF2B5EF4-FFF2-40B4-BE49-F238E27FC236}">
                  <a16:creationId xmlns:a16="http://schemas.microsoft.com/office/drawing/2014/main" id="{90A7350E-26E4-EC51-362C-6BA60EFFE6B0}"/>
                </a:ext>
              </a:extLst>
            </p:cNvPr>
            <p:cNvCxnSpPr>
              <a:cxnSpLocks/>
            </p:cNvCxnSpPr>
            <p:nvPr/>
          </p:nvCxnSpPr>
          <p:spPr>
            <a:xfrm>
              <a:off x="1263277" y="2318102"/>
              <a:ext cx="2216032" cy="967720"/>
            </a:xfrm>
            <a:prstGeom prst="bentConnector3">
              <a:avLst>
                <a:gd name="adj1" fmla="val -433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71F79997-0905-B292-D07E-FD42691F03AA}"/>
                </a:ext>
              </a:extLst>
            </p:cNvPr>
            <p:cNvCxnSpPr/>
            <p:nvPr/>
          </p:nvCxnSpPr>
          <p:spPr>
            <a:xfrm>
              <a:off x="3433129" y="3279302"/>
              <a:ext cx="0" cy="1047758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/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%4+1</m:t>
                    </m:r>
                  </m:oMath>
                </a14:m>
                <a:r>
                  <a:rPr lang="zh-CN" altLang="en-US" sz="2000" dirty="0">
                    <a:latin typeface="Amasis MT Pro Medium" panose="020406040500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blipFill>
                <a:blip r:embed="rId2"/>
                <a:stretch>
                  <a:fillRect l="-2222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文本框 244">
            <a:extLst>
              <a:ext uri="{FF2B5EF4-FFF2-40B4-BE49-F238E27FC236}">
                <a16:creationId xmlns:a16="http://schemas.microsoft.com/office/drawing/2014/main" id="{67928630-50E4-EE51-A875-10326DCAB219}"/>
              </a:ext>
            </a:extLst>
          </p:cNvPr>
          <p:cNvSpPr txBox="1"/>
          <p:nvPr/>
        </p:nvSpPr>
        <p:spPr>
          <a:xfrm>
            <a:off x="1187275" y="5481828"/>
            <a:ext cx="337195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masis MT Pro Medium" panose="02040604050005020304" pitchFamily="18" charset="0"/>
              </a:rPr>
              <a:t>Figure 2: A 3x3 toy network</a:t>
            </a:r>
            <a:endParaRPr lang="zh-CN" altLang="en-US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57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730E88-33C3-4222-7395-4DC2C55A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EDF027A-0CED-01CA-200B-1D9E7FE4A4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B38736EF-DCC1-7EB6-AEC0-F5BA7A621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CTM Calibration</a:t>
            </a:r>
            <a:endParaRPr lang="zh-CN" altLang="en-US" sz="2800" dirty="0"/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74F6C9F2-6AC9-1336-485C-C85A07432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9" y="3528204"/>
            <a:ext cx="3450543" cy="2576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/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=1890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57.6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altLang="zh-CN" dirty="0">
                    <a:latin typeface="Amasis MT Pro Medium" panose="020406040500050203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19.85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37.79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2.81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133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blipFill>
                <a:blip r:embed="rId3"/>
                <a:stretch>
                  <a:fillRect l="-952" t="-678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C5D7F388-3B8B-B150-E50C-2F5D65418B37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C0852A1-EC7A-1F9A-2B1B-EE18CF45A103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CTM evaluation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8864AB-9EFB-3383-00E1-7A1E08E534C6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EF89E51-2B16-EAF5-ECAC-C81ED39240F3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25F6E23-D291-267C-94EA-649CD91C6F3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pic>
        <p:nvPicPr>
          <p:cNvPr id="16" name="图片 38" descr="图形用户界面, 图表&#10;&#10;AI 生成的内容可能不正确。">
            <a:extLst>
              <a:ext uri="{FF2B5EF4-FFF2-40B4-BE49-F238E27FC236}">
                <a16:creationId xmlns:a16="http://schemas.microsoft.com/office/drawing/2014/main" id="{2D3B8AD2-8DD1-4EE0-AB55-2D416D319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61" y="1814817"/>
            <a:ext cx="8102382" cy="2095691"/>
          </a:xfrm>
          <a:prstGeom prst="rect">
            <a:avLst/>
          </a:prstGeom>
        </p:spPr>
      </p:pic>
      <p:pic>
        <p:nvPicPr>
          <p:cNvPr id="17" name="图片 39" descr="图表&#10;&#10;AI 生成的内容可能不正确。">
            <a:extLst>
              <a:ext uri="{FF2B5EF4-FFF2-40B4-BE49-F238E27FC236}">
                <a16:creationId xmlns:a16="http://schemas.microsoft.com/office/drawing/2014/main" id="{1AF5E82A-B14F-454F-A5A6-FE0C7F9FA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11" y="3946040"/>
            <a:ext cx="8102382" cy="2067426"/>
          </a:xfrm>
          <a:prstGeom prst="rect">
            <a:avLst/>
          </a:prstGeom>
        </p:spPr>
      </p:pic>
      <p:sp>
        <p:nvSpPr>
          <p:cNvPr id="18" name="文本框 41">
            <a:extLst>
              <a:ext uri="{FF2B5EF4-FFF2-40B4-BE49-F238E27FC236}">
                <a16:creationId xmlns:a16="http://schemas.microsoft.com/office/drawing/2014/main" id="{A799BCF7-78DF-4A06-8E47-BB7B10D8177A}"/>
              </a:ext>
            </a:extLst>
          </p:cNvPr>
          <p:cNvSpPr txBox="1"/>
          <p:nvPr/>
        </p:nvSpPr>
        <p:spPr>
          <a:xfrm>
            <a:off x="6096000" y="3677601"/>
            <a:ext cx="3991335" cy="461665"/>
          </a:xfrm>
          <a:prstGeom prst="rect">
            <a:avLst/>
          </a:prstGeom>
          <a:solidFill>
            <a:srgbClr val="AE976B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masis MT Pro Medium" panose="02040604050005020304" pitchFamily="18" charset="0"/>
              </a:rPr>
              <a:t>MAE 0.61 </a:t>
            </a:r>
            <a:r>
              <a:rPr lang="en-US" altLang="zh-CN" sz="2400" dirty="0" err="1">
                <a:latin typeface="Amasis MT Pro Medium" panose="02040604050005020304" pitchFamily="18" charset="0"/>
              </a:rPr>
              <a:t>veh</a:t>
            </a:r>
            <a:r>
              <a:rPr lang="en-US" altLang="zh-CN" sz="2400" dirty="0">
                <a:latin typeface="Amasis MT Pro Medium" panose="02040604050005020304" pitchFamily="18" charset="0"/>
              </a:rPr>
              <a:t>/cell/step</a:t>
            </a:r>
          </a:p>
        </p:txBody>
      </p:sp>
    </p:spTree>
    <p:extLst>
      <p:ext uri="{BB962C8B-B14F-4D97-AF65-F5344CB8AC3E}">
        <p14:creationId xmlns:p14="http://schemas.microsoft.com/office/powerpoint/2010/main" val="247821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E9AF4D-B5AB-E57E-F893-BF96B5A8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4968968-4D22-4B95-26F6-9D4C2550F9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8EF5554C-CA1F-80D5-D9D4-9CAF2100020B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75A7491-D042-F6AB-E750-1DD0FA36929E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F87A2BF6-6861-C123-81D8-54DE92DEE8BC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9DEA2636-608A-CC85-B4DC-0592521B8C93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546BA969-5D0E-BB44-012D-4EFED65F04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Normal cells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/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blipFill>
                <a:blip r:embed="rId2"/>
                <a:stretch>
                  <a:fillRect l="-1613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7E03D05-318B-B792-693D-02100F43EB27}"/>
              </a:ext>
            </a:extLst>
          </p:cNvPr>
          <p:cNvSpPr txBox="1"/>
          <p:nvPr/>
        </p:nvSpPr>
        <p:spPr>
          <a:xfrm>
            <a:off x="2503746" y="3330828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normal cell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/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blipFill>
                <a:blip r:embed="rId3"/>
                <a:stretch>
                  <a:fillRect l="-2262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文本框 193">
            <a:extLst>
              <a:ext uri="{FF2B5EF4-FFF2-40B4-BE49-F238E27FC236}">
                <a16:creationId xmlns:a16="http://schemas.microsoft.com/office/drawing/2014/main" id="{A2530775-CD1E-5F05-8ACC-2F84BE9C6A1A}"/>
              </a:ext>
            </a:extLst>
          </p:cNvPr>
          <p:cNvSpPr txBox="1"/>
          <p:nvPr/>
        </p:nvSpPr>
        <p:spPr>
          <a:xfrm>
            <a:off x="2503746" y="4099114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sink cell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/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blipFill>
                <a:blip r:embed="rId4"/>
                <a:stretch>
                  <a:fillRect l="-1757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文本框 195">
            <a:extLst>
              <a:ext uri="{FF2B5EF4-FFF2-40B4-BE49-F238E27FC236}">
                <a16:creationId xmlns:a16="http://schemas.microsoft.com/office/drawing/2014/main" id="{391912DC-23C2-BBDC-A1B0-FCAE0829A287}"/>
              </a:ext>
            </a:extLst>
          </p:cNvPr>
          <p:cNvSpPr txBox="1"/>
          <p:nvPr/>
        </p:nvSpPr>
        <p:spPr>
          <a:xfrm>
            <a:off x="2503746" y="4931443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masis MT Pro Medium" panose="02040604050005020304" pitchFamily="18" charset="0"/>
              </a:rPr>
              <a:t>For source cell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06576454-DB5D-BBDA-0AB6-8EA7F22F4F6F}"/>
              </a:ext>
            </a:extLst>
          </p:cNvPr>
          <p:cNvGrpSpPr/>
          <p:nvPr/>
        </p:nvGrpSpPr>
        <p:grpSpPr>
          <a:xfrm>
            <a:off x="2605053" y="1813664"/>
            <a:ext cx="6341172" cy="1204150"/>
            <a:chOff x="1690653" y="2043487"/>
            <a:chExt cx="6341172" cy="1204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17A4D70D-E955-9EE0-8631-EC88EEB496CC}"/>
                    </a:ext>
                  </a:extLst>
                </p:cNvPr>
                <p:cNvSpPr txBox="1"/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71438A1-F360-0C35-67D4-05EE03431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290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7D5EB115-3ADA-FBA5-671B-ECF003CDAEF1}"/>
                    </a:ext>
                  </a:extLst>
                </p:cNvPr>
                <p:cNvSpPr txBox="1"/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AE317AB-93E3-D591-7827-9DA69BB73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E863F3D8-1D22-A972-D224-5F34195344AE}"/>
                    </a:ext>
                  </a:extLst>
                </p:cNvPr>
                <p:cNvSpPr txBox="1"/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E288905-5939-C039-1561-101EBE9E4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EBB188E-40A0-3935-2546-C2A8CA6FDB50}"/>
                </a:ext>
              </a:extLst>
            </p:cNvPr>
            <p:cNvCxnSpPr/>
            <p:nvPr/>
          </p:nvCxnSpPr>
          <p:spPr>
            <a:xfrm>
              <a:off x="2014104" y="2455995"/>
              <a:ext cx="57432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0EA78F2B-0AC0-5845-CFCA-3DAE732F7768}"/>
                </a:ext>
              </a:extLst>
            </p:cNvPr>
            <p:cNvCxnSpPr>
              <a:cxnSpLocks/>
            </p:cNvCxnSpPr>
            <p:nvPr/>
          </p:nvCxnSpPr>
          <p:spPr>
            <a:xfrm>
              <a:off x="2014104" y="3247637"/>
              <a:ext cx="571081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F3CC753-4733-3A23-AAC3-01D01C1199D8}"/>
                </a:ext>
              </a:extLst>
            </p:cNvPr>
            <p:cNvCxnSpPr>
              <a:stCxn id="198" idx="3"/>
              <a:endCxn id="204" idx="1"/>
            </p:cNvCxnSpPr>
            <p:nvPr/>
          </p:nvCxnSpPr>
          <p:spPr>
            <a:xfrm flipV="1">
              <a:off x="3199810" y="2831391"/>
              <a:ext cx="1076848" cy="33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E1CDA8F6-3CF8-43D5-7C65-8CAD2165ADB6}"/>
                </a:ext>
              </a:extLst>
            </p:cNvPr>
            <p:cNvCxnSpPr>
              <a:stCxn id="204" idx="3"/>
              <a:endCxn id="205" idx="1"/>
            </p:cNvCxnSpPr>
            <p:nvPr/>
          </p:nvCxnSpPr>
          <p:spPr>
            <a:xfrm>
              <a:off x="5462364" y="2831391"/>
              <a:ext cx="107684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CB30EE2-C50D-251E-723C-BE8B88FBD886}"/>
                    </a:ext>
                  </a:extLst>
                </p:cNvPr>
                <p:cNvSpPr txBox="1"/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0387F7C-BE90-1539-6DB4-483453C22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6AE5A525-748C-2F04-AF83-C26D45889E7E}"/>
                    </a:ext>
                  </a:extLst>
                </p:cNvPr>
                <p:cNvSpPr txBox="1"/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0120851-5795-51EF-FA57-A744117BE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BEA85006-AB14-0F35-24A2-19155CBF9313}"/>
                    </a:ext>
                  </a:extLst>
                </p:cNvPr>
                <p:cNvSpPr txBox="1"/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15BE034-A3F2-117F-A571-E1F641FCD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72777CBA-87BB-E9A1-EBD1-55A6D82ED114}"/>
                    </a:ext>
                  </a:extLst>
                </p:cNvPr>
                <p:cNvSpPr txBox="1"/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49000E4-FCE7-9911-60B6-81A28AC91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1486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7C0917AE-0CFD-A9FD-AFA1-B0C5633AB9ED}"/>
                    </a:ext>
                  </a:extLst>
                </p:cNvPr>
                <p:cNvSpPr txBox="1"/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5CA4548-E0CF-91A6-48B5-66179C658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1486" b="-112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49283B66-F498-51CB-46DA-7D7238D00100}"/>
                </a:ext>
              </a:extLst>
            </p:cNvPr>
            <p:cNvCxnSpPr>
              <a:cxnSpLocks/>
            </p:cNvCxnSpPr>
            <p:nvPr/>
          </p:nvCxnSpPr>
          <p:spPr>
            <a:xfrm>
              <a:off x="1690653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EA26C7CB-1CCD-F81F-9953-9EF45040A1D2}"/>
                </a:ext>
              </a:extLst>
            </p:cNvPr>
            <p:cNvCxnSpPr>
              <a:cxnSpLocks/>
            </p:cNvCxnSpPr>
            <p:nvPr/>
          </p:nvCxnSpPr>
          <p:spPr>
            <a:xfrm>
              <a:off x="7724918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8" name="文本框 217">
            <a:extLst>
              <a:ext uri="{FF2B5EF4-FFF2-40B4-BE49-F238E27FC236}">
                <a16:creationId xmlns:a16="http://schemas.microsoft.com/office/drawing/2014/main" id="{C934B388-D1FC-366E-7DEF-645A8D35BA1D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060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75BD1B-02D2-D12F-7BDB-2DCB1332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6D7E845-144C-1999-492D-D10C4D3E85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EDEA294-070D-64F1-5308-7566B64CE30C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21421556-8303-D024-DB40-8FF5AE6F75D6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2442F1F-4860-C621-B70B-163279B1D227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08AE7EB-DE7D-B633-0E65-066A8F3646DC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8F66DEDC-0D92-9963-552F-DF7DF6384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Merging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1BE682CE-E231-2BE7-7D8A-F5433B82CC91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/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/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/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A3419F-07C6-F42F-865F-B8A58659B71B}"/>
              </a:ext>
            </a:extLst>
          </p:cNvPr>
          <p:cNvCxnSpPr>
            <a:cxnSpLocks/>
          </p:cNvCxnSpPr>
          <p:nvPr/>
        </p:nvCxnSpPr>
        <p:spPr>
          <a:xfrm>
            <a:off x="1727603" y="2104229"/>
            <a:ext cx="392180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09577E-80C4-7EC2-603E-FC85104FF282}"/>
              </a:ext>
            </a:extLst>
          </p:cNvPr>
          <p:cNvCxnSpPr>
            <a:cxnSpLocks/>
          </p:cNvCxnSpPr>
          <p:nvPr/>
        </p:nvCxnSpPr>
        <p:spPr>
          <a:xfrm>
            <a:off x="1679657" y="3121789"/>
            <a:ext cx="395001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C579582-E2B7-2170-0EDD-E29A655CD163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209335" y="2390917"/>
            <a:ext cx="779426" cy="26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896A8F-ABE0-DD98-AAAD-8A0F1BA36C2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196958" y="2651602"/>
            <a:ext cx="791803" cy="1851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/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/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/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/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/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(no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blipFill>
                <a:blip r:embed="rId9"/>
                <a:stretch>
                  <a:fillRect l="-731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/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(downstream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blipFill>
                <a:blip r:embed="rId10"/>
                <a:stretch>
                  <a:fillRect l="-731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/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/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/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/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/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/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85A0B25-5B5C-19E0-4F4D-FA435B9A8311}"/>
              </a:ext>
            </a:extLst>
          </p:cNvPr>
          <p:cNvCxnSpPr>
            <a:cxnSpLocks/>
          </p:cNvCxnSpPr>
          <p:nvPr/>
        </p:nvCxnSpPr>
        <p:spPr>
          <a:xfrm>
            <a:off x="1700178" y="2394111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C1CEE69-2BFC-05F3-0BE6-9CC08B35296D}"/>
              </a:ext>
            </a:extLst>
          </p:cNvPr>
          <p:cNvCxnSpPr>
            <a:cxnSpLocks/>
          </p:cNvCxnSpPr>
          <p:nvPr/>
        </p:nvCxnSpPr>
        <p:spPr>
          <a:xfrm>
            <a:off x="1688512" y="283012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164AA78-A1C0-B407-3093-B51144C8D2B9}"/>
              </a:ext>
            </a:extLst>
          </p:cNvPr>
          <p:cNvCxnSpPr>
            <a:cxnSpLocks/>
          </p:cNvCxnSpPr>
          <p:nvPr/>
        </p:nvCxnSpPr>
        <p:spPr>
          <a:xfrm>
            <a:off x="5174467" y="2651602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81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FA59F9-A18D-1D16-72A2-81300BB8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C3159ED-D285-84F7-9178-F9410128B1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/>
              <a:t>Methodology</a:t>
            </a:r>
            <a:endParaRPr lang="zh-CN" altLang="en-US" dirty="0"/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13018DB9-1D63-E8E4-BCC3-A0BAC99D6B91}"/>
              </a:ext>
            </a:extLst>
          </p:cNvPr>
          <p:cNvGrpSpPr/>
          <p:nvPr/>
        </p:nvGrpSpPr>
        <p:grpSpPr>
          <a:xfrm>
            <a:off x="-9525" y="742951"/>
            <a:ext cx="12201525" cy="400110"/>
            <a:chOff x="-9525" y="742951"/>
            <a:chExt cx="12201525" cy="40011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F72D875-1061-4425-EA52-36BB6041927B}"/>
                </a:ext>
              </a:extLst>
            </p:cNvPr>
            <p:cNvSpPr txBox="1"/>
            <p:nvPr/>
          </p:nvSpPr>
          <p:spPr>
            <a:xfrm>
              <a:off x="-9525" y="742951"/>
              <a:ext cx="19145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Overview</a:t>
              </a:r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A1C816E-3EFA-4B7C-E61C-1B3EB44360B9}"/>
                </a:ext>
              </a:extLst>
            </p:cNvPr>
            <p:cNvSpPr txBox="1"/>
            <p:nvPr/>
          </p:nvSpPr>
          <p:spPr>
            <a:xfrm>
              <a:off x="1905001" y="742951"/>
              <a:ext cx="3181349" cy="400110"/>
            </a:xfrm>
            <a:prstGeom prst="rect">
              <a:avLst/>
            </a:prstGeom>
            <a:solidFill>
              <a:srgbClr val="101010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solidFill>
                    <a:srgbClr val="AE976B"/>
                  </a:solidFill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Cell Transmission Model</a:t>
              </a:r>
              <a:endParaRPr lang="zh-CN" altLang="en-US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658E358B-AD29-FEA4-2F53-4358B75E14D8}"/>
                </a:ext>
              </a:extLst>
            </p:cNvPr>
            <p:cNvSpPr txBox="1"/>
            <p:nvPr/>
          </p:nvSpPr>
          <p:spPr>
            <a:xfrm>
              <a:off x="5086350" y="742951"/>
              <a:ext cx="29432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Travel Cost Prediction</a:t>
              </a:r>
              <a:endParaRPr lang="zh-CN" altLang="en-US" dirty="0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8CFA5E9E-F689-8A54-DD90-54EEF231BF61}"/>
                </a:ext>
              </a:extLst>
            </p:cNvPr>
            <p:cNvSpPr txBox="1"/>
            <p:nvPr/>
          </p:nvSpPr>
          <p:spPr>
            <a:xfrm>
              <a:off x="8029575" y="742951"/>
              <a:ext cx="41624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Amasis MT Pro Medium" panose="02040604050005020304" pitchFamily="18" charset="0"/>
                </a:rPr>
                <a:t>D-VRP &amp; Coverage Optimization</a:t>
              </a:r>
              <a:endParaRPr lang="zh-CN" altLang="en-US" sz="2000" dirty="0">
                <a:latin typeface="Amasis MT Pro Medium" panose="020406040500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/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/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/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3BFE1FBD-A78A-B45A-09EC-95EBB8D7A368}"/>
              </a:ext>
            </a:extLst>
          </p:cNvPr>
          <p:cNvCxnSpPr>
            <a:cxnSpLocks/>
          </p:cNvCxnSpPr>
          <p:nvPr/>
        </p:nvCxnSpPr>
        <p:spPr>
          <a:xfrm>
            <a:off x="1736914" y="1933033"/>
            <a:ext cx="39126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6F46429B-07D4-D3DD-6E3E-C2F82D1C953F}"/>
              </a:ext>
            </a:extLst>
          </p:cNvPr>
          <p:cNvCxnSpPr>
            <a:cxnSpLocks/>
          </p:cNvCxnSpPr>
          <p:nvPr/>
        </p:nvCxnSpPr>
        <p:spPr>
          <a:xfrm>
            <a:off x="1736914" y="2897969"/>
            <a:ext cx="39192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2B4B9090-2FDC-E2D6-1F64-87F1DA28C9CC}"/>
              </a:ext>
            </a:extLst>
          </p:cNvPr>
          <p:cNvCxnSpPr>
            <a:cxnSpLocks/>
            <a:stCxn id="199" idx="3"/>
            <a:endCxn id="201" idx="1"/>
          </p:cNvCxnSpPr>
          <p:nvPr/>
        </p:nvCxnSpPr>
        <p:spPr>
          <a:xfrm flipV="1">
            <a:off x="3217579" y="2211128"/>
            <a:ext cx="947661" cy="17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75A14E33-2194-5BE8-2D82-79C718024F3C}"/>
              </a:ext>
            </a:extLst>
          </p:cNvPr>
          <p:cNvCxnSpPr>
            <a:cxnSpLocks/>
            <a:stCxn id="199" idx="3"/>
            <a:endCxn id="200" idx="1"/>
          </p:cNvCxnSpPr>
          <p:nvPr/>
        </p:nvCxnSpPr>
        <p:spPr>
          <a:xfrm>
            <a:off x="3217579" y="2383755"/>
            <a:ext cx="941081" cy="2607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/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/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/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/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/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/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/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/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652893BB-D9FC-D9A1-8FED-E6BCE9DBA306}"/>
              </a:ext>
            </a:extLst>
          </p:cNvPr>
          <p:cNvCxnSpPr>
            <a:cxnSpLocks/>
          </p:cNvCxnSpPr>
          <p:nvPr/>
        </p:nvCxnSpPr>
        <p:spPr>
          <a:xfrm>
            <a:off x="1736914" y="238375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89E996DD-10E0-8E30-344F-079A9728F826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5350946" y="2211128"/>
            <a:ext cx="3052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A41F2637-D2F2-2183-CD08-93540F5FA532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5344366" y="2644500"/>
            <a:ext cx="3052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文本占位符 5">
            <a:extLst>
              <a:ext uri="{FF2B5EF4-FFF2-40B4-BE49-F238E27FC236}">
                <a16:creationId xmlns:a16="http://schemas.microsoft.com/office/drawing/2014/main" id="{853F43F2-4E6A-FBFD-C07F-B587F8A85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/>
              <a:t>Diverging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3AAD752F-F4AB-2C56-9F4F-9EA416F03FAF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617192B2-111B-7C2F-7918-360ADB3AA9FC}"/>
              </a:ext>
            </a:extLst>
          </p:cNvPr>
          <p:cNvSpPr txBox="1"/>
          <p:nvPr/>
        </p:nvSpPr>
        <p:spPr>
          <a:xfrm>
            <a:off x="7043161" y="1519526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intersection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041463A6-C1AD-A67F-5449-4BD690FD561C}"/>
              </a:ext>
            </a:extLst>
          </p:cNvPr>
          <p:cNvSpPr txBox="1"/>
          <p:nvPr/>
        </p:nvSpPr>
        <p:spPr>
          <a:xfrm>
            <a:off x="7043161" y="3566707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link-diverge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/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/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/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blipFill>
                <a:blip r:embed="rId15"/>
                <a:stretch>
                  <a:fillRect r="-242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584359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Literature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Setting comparison</a:t>
            </a:r>
            <a:endParaRPr lang="zh-CN" altLang="en-US" sz="2800" dirty="0"/>
          </a:p>
        </p:txBody>
      </p:sp>
      <p:graphicFrame>
        <p:nvGraphicFramePr>
          <p:cNvPr id="204" name="Table 203"/>
          <p:cNvGraphicFramePr>
            <a:graphicFrameLocks noGrp="1"/>
          </p:cNvGraphicFramePr>
          <p:nvPr/>
        </p:nvGraphicFramePr>
        <p:xfrm>
          <a:off x="320040" y="1298448"/>
          <a:ext cx="11567160" cy="44759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17520"/>
                <a:gridCol w="1188720"/>
                <a:gridCol w="1298448"/>
                <a:gridCol w="1298448"/>
                <a:gridCol w="1170432"/>
                <a:gridCol w="1298448"/>
                <a:gridCol w="1170432"/>
                <a:gridCol w="1124712"/>
              </a:tblGrid>
              <a:tr h="406908">
                <a:tc>
                  <a:txBody>
                    <a:bodyPr wrap="square"/>
                    <a:lstStyle/>
                    <a:p>
                      <a:pPr algn="l">
                        <a:defRPr sz="860" b="1">
                          <a:solidFill>
                            <a:srgbClr val="0B0B0B"/>
                          </a:solidFill>
                        </a:defRPr>
                      </a:pPr>
                      <a:r>
                        <a:t>work  [ref]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0B0B0B"/>
                          </a:solidFill>
                        </a:defRPr>
                      </a:pPr>
                      <a:r>
                        <a:t>selective:</a:t>
                      </a:r>
                      <a:br/>
                      <a:r>
                        <a:t>choose what</a:t>
                      </a:r>
                      <a:br/>
                      <a:r>
                        <a:t>to cover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0B0B0B"/>
                          </a:solidFill>
                        </a:defRPr>
                      </a:pPr>
                      <a:r>
                        <a:t>per-vehicle</a:t>
                      </a:r>
                      <a:br/>
                      <a:r>
                        <a:t>duties</a:t>
                      </a:r>
                      <a:br/>
                      <a:r>
                        <a:t>(o, d, t₀, B)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0B0B0B"/>
                          </a:solidFill>
                        </a:defRPr>
                      </a:pPr>
                      <a:r>
                        <a:t>arc-level, ONE</a:t>
                      </a:r>
                      <a:br/>
                      <a:r>
                        <a:t>fixed road</a:t>
                      </a:r>
                      <a:br/>
                      <a:r>
                        <a:t>network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0B0B0B"/>
                          </a:solidFill>
                        </a:defRPr>
                      </a:pPr>
                      <a:r>
                        <a:t>time-dep.</a:t>
                      </a:r>
                      <a:br/>
                      <a:r>
                        <a:t>travel times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0B0B0B"/>
                          </a:solidFill>
                        </a:defRPr>
                      </a:pPr>
                      <a:r>
                        <a:t>space–time</a:t>
                      </a:r>
                      <a:br/>
                      <a:r>
                        <a:t>coverage</a:t>
                      </a:r>
                      <a:br/>
                      <a:r>
                        <a:t>objective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0B0B0B"/>
                          </a:solidFill>
                        </a:defRPr>
                      </a:pPr>
                      <a:r>
                        <a:t>learned</a:t>
                      </a:r>
                      <a:br/>
                      <a:r>
                        <a:t>amortised</a:t>
                      </a:r>
                      <a:br/>
                      <a:r>
                        <a:t>solver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0B0B0B"/>
                          </a:solidFill>
                        </a:defRPr>
                      </a:pPr>
                      <a:r>
                        <a:t>unseen budget</a:t>
                      </a:r>
                      <a:br/>
                      <a:r>
                        <a:t>VALUES</a:t>
                      </a:r>
                      <a:br/>
                      <a:r>
                        <a:t>(zero-shot)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[1] Kool et al. 2019 (neural Orienteering)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[2] TOP-Former 2025 (neural Team Orienteering)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budget only,</a:t>
                      </a:r>
                      <a:br/>
                      <a:r>
                        <a:t>homogeneous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[3] Lee &amp; Ahn 2023 (multi-start TOP for UAS)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start + fuel</a:t>
                      </a:r>
                      <a:br/>
                      <a:r>
                        <a:t>only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[4][5][6] MTPOMO · MVMoE · RouteFinder (multi-task VRP)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dist-limit/open:</a:t>
                      </a:r>
                      <a:br/>
                      <a:r>
                        <a:t>visit-all twins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variant-level,</a:t>
                      </a:r>
                      <a:br/>
                      <a:r>
                        <a:t>not values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[7] GOAL 2025 (generalist CO agent; OP task)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[8] FM-MCVRP 2024 (fixed-graph supervised CVRP)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fixed graph,</a:t>
                      </a:r>
                      <a:br/>
                      <a:r>
                        <a:t>node visits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[9] SED2AM 2025 (time-dependent delivery VRP)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real road</a:t>
                      </a:r>
                      <a:br/>
                      <a:r>
                        <a:t>times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[10] Neural CARP 2019–2026 (arc routing)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0">
                          <a:solidFill>
                            <a:srgbClr val="0B0B0B"/>
                          </a:solidFill>
                        </a:defRPr>
                      </a:pPr>
                      <a:r>
                        <a:t>[11][12][13] Drive-by-sensing OR (Han · Chen · Zhu)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52514E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0">
                          <a:solidFill>
                            <a:srgbClr val="8A888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27432" marR="27432" marT="9144" marB="9144" anchor="ctr"/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defRPr sz="840" b="1">
                          <a:solidFill>
                            <a:srgbClr val="EB6834"/>
                          </a:solidFill>
                        </a:defRPr>
                      </a:pPr>
                      <a:r>
                        <a:t>OURS (benchmark v3)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 wrap="square"/>
                    <a:lstStyle/>
                    <a:p>
                      <a:pPr algn="ctr">
                        <a:defRPr sz="840" b="1">
                          <a:solidFill>
                            <a:srgbClr val="1BAF7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27432" marR="27432" marT="9144" marB="9144" anchor="ctr"/>
                </a:tc>
              </a:tr>
            </a:tbl>
          </a:graphicData>
        </a:graphic>
      </p:graphicFrame>
      <p:sp>
        <p:nvSpPr>
          <p:cNvPr id="205" name="TextBox 204"/>
          <p:cNvSpPr txBox="1"/>
          <p:nvPr/>
        </p:nvSpPr>
        <p:spPr>
          <a:xfrm>
            <a:off x="1874519" y="598932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/>
            </a:pPr>
            <a:r>
              <a:t>• How to read a cell:  ✓ = the work has this property (as defined on the next slide) · — = it does not · grey text = it has only the PARTIAL form stated in the cell. [n] = reference list, last slide</a:t>
            </a:r>
          </a:p>
          <a:p>
            <a:pPr>
              <a:defRPr sz="1050" b="0"/>
            </a:pPr>
            <a:r>
              <a:t>• No existing work is identical: every neighbour misses ≥ 2 columns. The bottom row of works has the right problem but no learning; the neural rows have learning but not this problem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Literature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What each column asks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17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/>
            </a:pPr>
            <a:r>
              <a:t>• selective — choose what to cover:  may the fleet DECIDE which parts of the network to visit, maximising collected utility under a budget (orienteering / profits family)? A dash means visit-ALL: every customer or edge must be served at minimum cost (CVRP / CARP family) — a different optimisation problem</a:t>
            </a:r>
          </a:p>
          <a:p>
            <a:pPr>
              <a:defRPr sz="1150" b="0"/>
            </a:pPr>
            <a:r>
              <a:t>• per-vehicle duties (o, d, t₀, B):  does EACH vehicle carry its own origin gate, destination gate, departure time AND budget? Partial forms: TOP-Former = one shared budget value, same depot for all; Lee &amp; Ahn = own start + remaining fuel but no OD duties; the VRP foundation models = distance-limit / open-route attributes, which are the visit-all cousins of a budget and of o ≠ d</a:t>
            </a:r>
          </a:p>
          <a:p>
            <a:pPr>
              <a:defRPr sz="1150" b="0"/>
            </a:pPr>
            <a:r>
              <a:t>• arc-level, ONE fixed road network:  is routing over the LINKS of one fixed network (revisits allowed, same graph every instance) rather than over freshly sampled points in the plane? Partial: FM-MCVRP fixes the graph but routes node visits; SED2AM uses real road travel times but is still node-based delivery</a:t>
            </a:r>
          </a:p>
          <a:p>
            <a:pPr>
              <a:defRPr sz="1150" b="0"/>
            </a:pPr>
            <a:r>
              <a:t>• time-dependent travel times:  does the time to traverse a link depend on WHEN you enter it — c(i, t) — so the best route changes with the clock?</a:t>
            </a:r>
          </a:p>
          <a:p>
            <a:pPr>
              <a:defRPr sz="1150" b="0"/>
            </a:pPr>
            <a:r>
              <a:t>• space–time coverage objective:  is the reward a UNION of (link, time) cells — where AND when you sensed — so re-sensing the same cell counts once, and sensing the same link at two different times counts twice?</a:t>
            </a:r>
          </a:p>
          <a:p>
            <a:pPr>
              <a:defRPr sz="1150" b="0"/>
            </a:pPr>
            <a:r>
              <a:t>• learned amortised solver:  is there a trained neural policy that outputs a solution in milliseconds at deployment, amortising the cost of per-instance optimisation?</a:t>
            </a:r>
          </a:p>
          <a:p>
            <a:pPr>
              <a:defRPr sz="1150" b="0"/>
            </a:pPr>
            <a:r>
              <a:t>• unseen budget VALUES (zero-shot):  is the model TESTED on budget values absent from every training label (continuous interpolation AND extrapolation), verified against an exact solver? 'variant-level, not values' = zero-shot to unseen COMBINATIONS of binary problem attributes only — no continuous physical dial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Literature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The works, in one line each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371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• [1] Kool et al. 2019 — the founding attention model for learned routing; for the single-vehicle Orienteering Problem it introduced the budget-feasibility mask that our decoder generalises</a:t>
            </a:r>
          </a:p>
          <a:p>
            <a:pPr>
              <a:defRPr sz="1100" b="0"/>
            </a:pPr>
            <a:r>
              <a:t>• [2] TOP-Former 2025 — centralised transformer that decodes a whole TEAM for the Team Orienteering Problem; closest neural relative (still: shared depot, one homogeneous budget, Euclidean points, static prizes)</a:t>
            </a:r>
          </a:p>
          <a:p>
            <a:pPr>
              <a:defRPr sz="1100" b="0"/>
            </a:pPr>
            <a:r>
              <a:t>• [3] Lee &amp; Ahn 2023 — Team Orienteering re-planning for aerial vehicles with heterogeneous current positions and remaining fuel; the heterogeneity precedent</a:t>
            </a:r>
          </a:p>
          <a:p>
            <a:pPr>
              <a:defRPr sz="1100" b="0"/>
            </a:pPr>
            <a:r>
              <a:t>• [4] MTPOMO 2024 · [5] MVMoE 2024 · [6] RouteFinder 2025 — the multi-task VRP 'foundation model' family: ONE network solves 16–48 visit-all delivery variants by composing binary attributes; our Proj([ρ, B/H]) conditioning is their recipe applied to a physical budget</a:t>
            </a:r>
          </a:p>
          <a:p>
            <a:pPr>
              <a:defRPr sz="1100" b="0"/>
            </a:pPr>
            <a:r>
              <a:t>• [7] GOAL 2025 — one generalist backbone imitation-trained across many combinatorial problems (Orienteering among them); breadth, not our setting</a:t>
            </a:r>
          </a:p>
          <a:p>
            <a:pPr>
              <a:defRPr sz="1100" b="0"/>
            </a:pPr>
            <a:r>
              <a:t>• [8] FM-MCVRP 2024 — supervised, LLM-style training on ONE fixed city graph for capacitated delivery; the closest TRAINING RECIPE to ours (fixed graph + supervised labels + joint fleet sequence)</a:t>
            </a:r>
          </a:p>
          <a:p>
            <a:pPr>
              <a:defRPr sz="1100" b="0"/>
            </a:pPr>
            <a:r>
              <a:t>• [9] SED2AM 2025 — deep RL for multi-trip delivery with time-dependent travel times from real road data; the closest work on TIME DEPENDENCE (but visit-all delivery)</a:t>
            </a:r>
          </a:p>
          <a:p>
            <a:pPr>
              <a:defRPr sz="1100" b="0"/>
            </a:pPr>
            <a:r>
              <a:t>• [10] Neural CARP 2019–2026 — the line of neural solvers for Capacitated ARC Routing (service on road edges); closest on ARC-LEVEL routing (but visit-all, static costs)</a:t>
            </a:r>
          </a:p>
          <a:p>
            <a:pPr>
              <a:defRPr sz="1100" b="0"/>
            </a:pPr>
            <a:r>
              <a:t>• [11] Han et al. 2024 · [12] Chen, Qin &amp; Sun 2024 · [13] Zhu et al. 2014 — the drive-by-sensing OR shelf: OUR problem statement (sensing coverage, budgets, real networks), solved by per-instance optimisation with NO learned solver — the gap we fill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Literature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References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2984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0"/>
            </a:pPr>
            <a:r>
              <a:t>• [1] W. Kool, H. van Hoof, M. Welling. Attention, Learn to Solve Routing Problems! ICLR 2019. arXiv:1803.08475</a:t>
            </a:r>
          </a:p>
          <a:p>
            <a:pPr>
              <a:defRPr sz="980" b="0"/>
            </a:pPr>
            <a:r>
              <a:t>• [2] D. Fuertes, C. R. del-Blanco, F. Jaureguizar, N. García. TOP-Former: A Multi-Agent Transformer Approach for the Team Orienteering Problem. IEEE Trans. on Intelligent Transportation Systems, 2025. arXiv:2311.18662</a:t>
            </a:r>
          </a:p>
          <a:p>
            <a:pPr>
              <a:defRPr sz="980" b="0"/>
            </a:pPr>
            <a:r>
              <a:t>• [3] D. H. Lee, J. Ahn. Multi-Start Team Orienteering Problem for UAS Mission Re-Planning with Data-Efficient Deep Reinforcement Learning. Applied Intelligence, 2024. arXiv:2303.01963</a:t>
            </a:r>
          </a:p>
          <a:p>
            <a:pPr>
              <a:defRPr sz="980" b="0"/>
            </a:pPr>
            <a:r>
              <a:t>• [4] F. Liu, X. Lin, Q. Zhang, X. Tong, M. Yuan. Multi-Task Learning for Routing Problem with Cross-Problem Zero-Shot Generalization. ACM SIGKDD 2024. arXiv:2402.16891  (“MTPOMO”)</a:t>
            </a:r>
          </a:p>
          <a:p>
            <a:pPr>
              <a:defRPr sz="980" b="0"/>
            </a:pPr>
            <a:r>
              <a:t>• [5] J. Zhou, Z. Cao, Y. Wu, W. Song, Y. Ma, J. Zhang, C. Xu. MVMoE: Multi-Task Vehicle Routing Solver with Mixture-of-Experts. ICML 2024. arXiv:2405.01029</a:t>
            </a:r>
          </a:p>
          <a:p>
            <a:pPr>
              <a:defRPr sz="980" b="0"/>
            </a:pPr>
            <a:r>
              <a:t>• [6] F. Berto et al. RouteFinder: Towards Foundation Models for Vehicle Routing Problems. TMLR, 2025. arXiv:2406.15007</a:t>
            </a:r>
          </a:p>
          <a:p>
            <a:pPr>
              <a:defRPr sz="980" b="0"/>
            </a:pPr>
            <a:r>
              <a:t>• [7] D. Drakulic, S. Michel, J.-M. Andreoli. GOAL: A Generalist Combinatorial Optimization Agent Learner. ICLR 2025. arXiv:2406.15079</a:t>
            </a:r>
          </a:p>
          <a:p>
            <a:pPr>
              <a:defRPr sz="980" b="0"/>
            </a:pPr>
            <a:r>
              <a:t>• [8] S. J. K. Chin, A. Srivastava, M. Winkenbach. Learning to Deliver: a Foundation Model for the Montreal Capacitated Vehicle Routing Problem. MIT, 2024. arXiv:2403.00026  (“FM-MCVRP”)</a:t>
            </a:r>
          </a:p>
          <a:p>
            <a:pPr>
              <a:defRPr sz="980" b="0"/>
            </a:pPr>
            <a:r>
              <a:t>• [9] A. Mozhdehi, Y. Wang, S. Sun, X. Wang. SED2AM: Solving Multi-Trip Time-Dependent Vehicle Routing Problem Using Deep Reinforcement Learning. ACM TKDD, 2025. arXiv:2503.04085</a:t>
            </a:r>
          </a:p>
          <a:p>
            <a:pPr>
              <a:defRPr sz="980" b="0"/>
            </a:pPr>
            <a:r>
              <a:t>• [10] Line of work, anchors: Learning to Solve Capacitated Arc Routing Problems by Policy Gradient (IEEE CEC 2019, doi:10.1109/CEC.2019.8790295) · A Neural Solver With Traversal-Based Feature Representation and Adjacent Attention for CARP (IEEE, 2025) · Direction-Aware Deep Policy Learning for Efficient Capacitated Arc Routing (Eng. Appl. AI, 2026)</a:t>
            </a:r>
          </a:p>
          <a:p>
            <a:pPr>
              <a:defRPr sz="980" b="0"/>
            </a:pPr>
            <a:r>
              <a:t>• [11] K. Han, W. Ji, Y. M. Nie, Z. Li, S. Liu. Exploring the Sensing Power of Mixed Vehicle Fleets. Transportation Research Part B 190:103066, 2024. doi:10.1016/j.trb.2024.103066</a:t>
            </a:r>
          </a:p>
          <a:p>
            <a:pPr>
              <a:defRPr sz="980" b="0"/>
            </a:pPr>
            <a:r>
              <a:t>• [12] X. Chen, G. Qin, J. Sun. Coordinated Routing Policy for Connected Vehicles to Monitor City-Wide Traffic. 2024. [venue to confirm]</a:t>
            </a:r>
          </a:p>
          <a:p>
            <a:pPr>
              <a:defRPr sz="980" b="0"/>
            </a:pPr>
            <a:r>
              <a:t>• [13] Zhu et al. Mobile Traffic Sensor Routing in Dynamic Transportation Systems. 2014. [venue to confirm — IEEE ITS-family journal]</a:t>
            </a:r>
          </a:p>
          <a:p>
            <a:pPr>
              <a:defRPr sz="980" b="0"/>
            </a:pPr>
            <a:r>
              <a:t>• Also tracked (threats list): DeCoST, ICLR 2026, arXiv:2603.06260 — learning for Orienteering with time windows and variable profits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664</Words>
  <Application>Microsoft Office PowerPoint</Application>
  <PresentationFormat>Widescreen</PresentationFormat>
  <Paragraphs>133</Paragraphs>
  <Slides>10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等线</vt:lpstr>
      <vt:lpstr>Amasis MT Pro</vt:lpstr>
      <vt:lpstr>Amasis MT Pro Medium</vt:lpstr>
      <vt:lpstr>Arial</vt:lpstr>
      <vt:lpstr>Cambria Math</vt:lpstr>
      <vt:lpstr>Times New Roman</vt:lpstr>
      <vt:lpstr>Wingdings</vt:lpstr>
      <vt:lpstr>PU</vt:lpstr>
      <vt:lpstr>Yilin Wang  Dec.12nd 2025</vt:lpstr>
      <vt:lpstr>PowerPoint Presentation</vt:lpstr>
      <vt:lpstr>PowerPoint Presentation</vt:lpstr>
      <vt:lpstr>PowerPoint Presentation</vt:lpstr>
      <vt:lpstr>Yilin Wang: wang4517@purdue.edu Yiheng Feng*: feng333@purdue.edu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Yilin Wang  Nov.4th 2025</dc:title>
  <dc:creator>Yilin Wang</dc:creator>
  <cp:lastModifiedBy>Yilin Wang</cp:lastModifiedBy>
  <cp:revision>59</cp:revision>
  <dcterms:created xsi:type="dcterms:W3CDTF">2025-11-01T23:58:16Z</dcterms:created>
  <dcterms:modified xsi:type="dcterms:W3CDTF">2026-08-02T19:39:51Z</dcterms:modified>
</cp:coreProperties>
</file>