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976B"/>
    <a:srgbClr val="CCD2D8"/>
    <a:srgbClr val="E7EAED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78715" autoAdjust="0"/>
  </p:normalViewPr>
  <p:slideViewPr>
    <p:cSldViewPr snapToGrid="0">
      <p:cViewPr varScale="1">
        <p:scale>
          <a:sx n="95" d="100"/>
          <a:sy n="95" d="100"/>
        </p:scale>
        <p:origin x="151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in Wang" userId="S::wang4517@purdue.edu::06abc78b-9058-4e15-afda-57e086dc17fc" providerId="AD" clId="Web-{0D53C210-D543-EEF5-D373-561EF8F735D5}"/>
    <pc:docChg chg="addSld delSld modSld">
      <pc:chgData name="Yilin Wang" userId="S::wang4517@purdue.edu::06abc78b-9058-4e15-afda-57e086dc17fc" providerId="AD" clId="Web-{0D53C210-D543-EEF5-D373-561EF8F735D5}" dt="2026-07-28T15:13:34.751" v="25" actId="14100"/>
      <pc:docMkLst>
        <pc:docMk/>
      </pc:docMkLst>
      <pc:sldChg chg="addSp delSp modSp add replId delAnim">
        <pc:chgData name="Yilin Wang" userId="S::wang4517@purdue.edu::06abc78b-9058-4e15-afda-57e086dc17fc" providerId="AD" clId="Web-{0D53C210-D543-EEF5-D373-561EF8F735D5}" dt="2026-07-28T15:13:34.751" v="25" actId="14100"/>
        <pc:sldMkLst>
          <pc:docMk/>
          <pc:sldMk cId="2831382767" sldId="324"/>
        </pc:sldMkLst>
        <pc:spChg chg="add mod">
          <ac:chgData name="Yilin Wang" userId="S::wang4517@purdue.edu::06abc78b-9058-4e15-afda-57e086dc17fc" providerId="AD" clId="Web-{0D53C210-D543-EEF5-D373-561EF8F735D5}" dt="2026-07-28T14:51:11.727" v="9"/>
          <ac:spMkLst>
            <pc:docMk/>
            <pc:sldMk cId="2831382767" sldId="324"/>
            <ac:spMk id="4" creationId="{A1BF681D-B533-1EEC-0B34-7B5963391A20}"/>
          </ac:spMkLst>
        </pc:spChg>
        <pc:spChg chg="add mod">
          <ac:chgData name="Yilin Wang" userId="S::wang4517@purdue.edu::06abc78b-9058-4e15-afda-57e086dc17fc" providerId="AD" clId="Web-{0D53C210-D543-EEF5-D373-561EF8F735D5}" dt="2026-07-28T14:51:19.852" v="15" actId="20577"/>
          <ac:spMkLst>
            <pc:docMk/>
            <pc:sldMk cId="2831382767" sldId="324"/>
            <ac:spMk id="9" creationId="{6460684C-5514-A7FE-301A-0735D9BC5FF8}"/>
          </ac:spMkLst>
        </pc:spChg>
        <pc:picChg chg="add mod">
          <ac:chgData name="Yilin Wang" userId="S::wang4517@purdue.edu::06abc78b-9058-4e15-afda-57e086dc17fc" providerId="AD" clId="Web-{0D53C210-D543-EEF5-D373-561EF8F735D5}" dt="2026-07-28T15:13:34.751" v="25" actId="14100"/>
          <ac:picMkLst>
            <pc:docMk/>
            <pc:sldMk cId="2831382767" sldId="324"/>
            <ac:picMk id="10" creationId="{6ADF9D61-5DD0-EC04-A9E0-2B0BA3B782AC}"/>
          </ac:picMkLst>
        </pc:picChg>
      </pc:sldChg>
    </pc:docChg>
  </pc:docChgLst>
  <pc:docChgLst>
    <pc:chgData name="Yilin Wang" userId="06abc78b-9058-4e15-afda-57e086dc17fc" providerId="ADAL" clId="{82DDD170-D4B5-46ED-803B-C300EEBF3622}"/>
    <pc:docChg chg="undo custSel addSld delSld modSld">
      <pc:chgData name="Yilin Wang" userId="06abc78b-9058-4e15-afda-57e086dc17fc" providerId="ADAL" clId="{82DDD170-D4B5-46ED-803B-C300EEBF3622}" dt="2026-08-02T19:39:47.362" v="790" actId="47"/>
      <pc:docMkLst>
        <pc:docMk/>
      </pc:docMkLst>
      <pc:sldChg chg="addSp delSp modSp mod">
        <pc:chgData name="Yilin Wang" userId="06abc78b-9058-4e15-afda-57e086dc17fc" providerId="ADAL" clId="{82DDD170-D4B5-46ED-803B-C300EEBF3622}" dt="2026-07-13T22:44:02.209" v="27" actId="14100"/>
        <pc:sldMkLst>
          <pc:docMk/>
          <pc:sldMk cId="3471812488" sldId="256"/>
        </pc:sldMkLst>
        <pc:spChg chg="add mod">
          <ac:chgData name="Yilin Wang" userId="06abc78b-9058-4e15-afda-57e086dc17fc" providerId="ADAL" clId="{82DDD170-D4B5-46ED-803B-C300EEBF3622}" dt="2026-07-13T22:44:02.209" v="27" actId="14100"/>
          <ac:spMkLst>
            <pc:docMk/>
            <pc:sldMk cId="3471812488" sldId="256"/>
            <ac:spMk id="5" creationId="{EFA50483-5FBA-B800-AA30-C5212FB961E8}"/>
          </ac:spMkLst>
        </pc:spChg>
      </pc:sldChg>
      <pc:sldChg chg="addSp delSp modSp mod chgLayout">
        <pc:chgData name="Yilin Wang" userId="06abc78b-9058-4e15-afda-57e086dc17fc" providerId="ADAL" clId="{82DDD170-D4B5-46ED-803B-C300EEBF3622}" dt="2026-07-13T22:44:46.856" v="68" actId="6264"/>
        <pc:sldMkLst>
          <pc:docMk/>
          <pc:sldMk cId="2224584359" sldId="268"/>
        </pc:sldMkLst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7" creationId="{5C3159ED-D285-84F7-9178-F9410128B15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17" creationId="{853F43F2-4E6A-FBFD-C07F-B587F8A85126}"/>
          </ac:spMkLst>
        </pc:spChg>
      </pc:sldChg>
      <pc:sldChg chg="add del">
        <pc:chgData name="Yilin Wang" userId="06abc78b-9058-4e15-afda-57e086dc17fc" providerId="ADAL" clId="{82DDD170-D4B5-46ED-803B-C300EEBF3622}" dt="2026-07-13T22:44:49.955" v="74" actId="47"/>
        <pc:sldMkLst>
          <pc:docMk/>
          <pc:sldMk cId="2645060846" sldId="269"/>
        </pc:sldMkLst>
      </pc:sldChg>
      <pc:sldChg chg="add del">
        <pc:chgData name="Yilin Wang" userId="06abc78b-9058-4e15-afda-57e086dc17fc" providerId="ADAL" clId="{82DDD170-D4B5-46ED-803B-C300EEBF3622}" dt="2026-07-13T22:44:49.632" v="73" actId="47"/>
        <pc:sldMkLst>
          <pc:docMk/>
          <pc:sldMk cId="3269813319" sldId="270"/>
        </pc:sldMkLst>
      </pc:sldChg>
      <pc:sldChg chg="add del">
        <pc:chgData name="Yilin Wang" userId="06abc78b-9058-4e15-afda-57e086dc17fc" providerId="ADAL" clId="{82DDD170-D4B5-46ED-803B-C300EEBF3622}" dt="2026-07-13T22:44:51.595" v="76" actId="47"/>
        <pc:sldMkLst>
          <pc:docMk/>
          <pc:sldMk cId="2345577701" sldId="280"/>
        </pc:sldMkLst>
      </pc:sldChg>
      <pc:sldChg chg="add del">
        <pc:chgData name="Yilin Wang" userId="06abc78b-9058-4e15-afda-57e086dc17fc" providerId="ADAL" clId="{82DDD170-D4B5-46ED-803B-C300EEBF3622}" dt="2026-07-13T22:44:50.990" v="75" actId="47"/>
        <pc:sldMkLst>
          <pc:docMk/>
          <pc:sldMk cId="2478217048" sldId="281"/>
        </pc:sldMkLst>
      </pc:sldChg>
      <pc:sldChg chg="add del">
        <pc:chgData name="Yilin Wang" userId="06abc78b-9058-4e15-afda-57e086dc17fc" providerId="ADAL" clId="{82DDD170-D4B5-46ED-803B-C300EEBF3622}" dt="2026-08-02T19:39:47.362" v="790" actId="47"/>
        <pc:sldMkLst>
          <pc:docMk/>
          <pc:sldMk cId="3966750816" sldId="290"/>
        </pc:sldMkLst>
      </pc:sldChg>
      <pc:sldChg chg="modSp mod">
        <pc:chgData name="Yilin Wang" userId="06abc78b-9058-4e15-afda-57e086dc17fc" providerId="ADAL" clId="{82DDD170-D4B5-46ED-803B-C300EEBF3622}" dt="2026-07-13T22:44:59.217" v="88" actId="20577"/>
        <pc:sldMkLst>
          <pc:docMk/>
          <pc:sldMk cId="4274439896" sldId="292"/>
        </pc:sldMkLst>
        <pc:spChg chg="mod">
          <ac:chgData name="Yilin Wang" userId="06abc78b-9058-4e15-afda-57e086dc17fc" providerId="ADAL" clId="{82DDD170-D4B5-46ED-803B-C300EEBF3622}" dt="2026-07-13T22:44:59.217" v="88" actId="20577"/>
          <ac:spMkLst>
            <pc:docMk/>
            <pc:sldMk cId="4274439896" sldId="292"/>
            <ac:spMk id="3" creationId="{F3773503-EC16-E6FE-706B-80EDCBE2D3E4}"/>
          </ac:spMkLst>
        </pc:spChg>
      </pc:sldChg>
      <pc:sldChg chg="add del">
        <pc:chgData name="Yilin Wang" userId="06abc78b-9058-4e15-afda-57e086dc17fc" providerId="ADAL" clId="{82DDD170-D4B5-46ED-803B-C300EEBF3622}" dt="2026-07-13T22:44:51.829" v="77" actId="47"/>
        <pc:sldMkLst>
          <pc:docMk/>
          <pc:sldMk cId="1669817264" sldId="294"/>
        </pc:sldMkLst>
      </pc:sldChg>
      <pc:sldChg chg="addSp delSp modSp add del mod delAnim">
        <pc:chgData name="Yilin Wang" userId="06abc78b-9058-4e15-afda-57e086dc17fc" providerId="ADAL" clId="{82DDD170-D4B5-46ED-803B-C300EEBF3622}" dt="2026-08-02T19:39:28.239" v="772" actId="47"/>
        <pc:sldMkLst>
          <pc:docMk/>
          <pc:sldMk cId="2074524224" sldId="304"/>
        </pc:sldMkLst>
      </pc:sldChg>
      <pc:sldChg chg="add del">
        <pc:chgData name="Yilin Wang" userId="06abc78b-9058-4e15-afda-57e086dc17fc" providerId="ADAL" clId="{82DDD170-D4B5-46ED-803B-C300EEBF3622}" dt="2026-08-02T19:39:36.549" v="779" actId="47"/>
        <pc:sldMkLst>
          <pc:docMk/>
          <pc:sldMk cId="4255979582" sldId="305"/>
        </pc:sldMkLst>
      </pc:sldChg>
      <pc:sldChg chg="addSp delSp modSp add del mod">
        <pc:chgData name="Yilin Wang" userId="06abc78b-9058-4e15-afda-57e086dc17fc" providerId="ADAL" clId="{82DDD170-D4B5-46ED-803B-C300EEBF3622}" dt="2026-08-02T19:39:30.322" v="775" actId="47"/>
        <pc:sldMkLst>
          <pc:docMk/>
          <pc:sldMk cId="907687665" sldId="306"/>
        </pc:sldMkLst>
      </pc:sldChg>
      <pc:sldChg chg="add del">
        <pc:chgData name="Yilin Wang" userId="06abc78b-9058-4e15-afda-57e086dc17fc" providerId="ADAL" clId="{82DDD170-D4B5-46ED-803B-C300EEBF3622}" dt="2026-08-02T19:39:31.473" v="776" actId="47"/>
        <pc:sldMkLst>
          <pc:docMk/>
          <pc:sldMk cId="0" sldId="308"/>
        </pc:sldMkLst>
      </pc:sldChg>
      <pc:sldChg chg="add del">
        <pc:chgData name="Yilin Wang" userId="06abc78b-9058-4e15-afda-57e086dc17fc" providerId="ADAL" clId="{82DDD170-D4B5-46ED-803B-C300EEBF3622}" dt="2026-08-02T19:39:32.500" v="777" actId="47"/>
        <pc:sldMkLst>
          <pc:docMk/>
          <pc:sldMk cId="0" sldId="309"/>
        </pc:sldMkLst>
      </pc:sldChg>
      <pc:sldChg chg="add del">
        <pc:chgData name="Yilin Wang" userId="06abc78b-9058-4e15-afda-57e086dc17fc" providerId="ADAL" clId="{82DDD170-D4B5-46ED-803B-C300EEBF3622}" dt="2026-08-02T19:39:41.660" v="784" actId="47"/>
        <pc:sldMkLst>
          <pc:docMk/>
          <pc:sldMk cId="0" sldId="310"/>
        </pc:sldMkLst>
      </pc:sldChg>
      <pc:sldChg chg="add del">
        <pc:chgData name="Yilin Wang" userId="06abc78b-9058-4e15-afda-57e086dc17fc" providerId="ADAL" clId="{82DDD170-D4B5-46ED-803B-C300EEBF3622}" dt="2026-08-02T19:39:40.863" v="783" actId="47"/>
        <pc:sldMkLst>
          <pc:docMk/>
          <pc:sldMk cId="0" sldId="311"/>
        </pc:sldMkLst>
      </pc:sldChg>
      <pc:sldChg chg="add del">
        <pc:chgData name="Yilin Wang" userId="06abc78b-9058-4e15-afda-57e086dc17fc" providerId="ADAL" clId="{82DDD170-D4B5-46ED-803B-C300EEBF3622}" dt="2026-08-02T19:39:42.402" v="785" actId="47"/>
        <pc:sldMkLst>
          <pc:docMk/>
          <pc:sldMk cId="0" sldId="312"/>
        </pc:sldMkLst>
      </pc:sldChg>
      <pc:sldChg chg="add del">
        <pc:chgData name="Yilin Wang" userId="06abc78b-9058-4e15-afda-57e086dc17fc" providerId="ADAL" clId="{82DDD170-D4B5-46ED-803B-C300EEBF3622}" dt="2026-08-02T19:39:40.175" v="782" actId="47"/>
        <pc:sldMkLst>
          <pc:docMk/>
          <pc:sldMk cId="0" sldId="313"/>
        </pc:sldMkLst>
      </pc:sldChg>
      <pc:sldChg chg="modSp add del mod">
        <pc:chgData name="Yilin Wang" userId="06abc78b-9058-4e15-afda-57e086dc17fc" providerId="ADAL" clId="{82DDD170-D4B5-46ED-803B-C300EEBF3622}" dt="2026-08-02T19:39:29.022" v="773" actId="47"/>
        <pc:sldMkLst>
          <pc:docMk/>
          <pc:sldMk cId="0" sldId="314"/>
        </pc:sldMkLst>
      </pc:sldChg>
      <pc:sldChg chg="add del">
        <pc:chgData name="Yilin Wang" userId="06abc78b-9058-4e15-afda-57e086dc17fc" providerId="ADAL" clId="{82DDD170-D4B5-46ED-803B-C300EEBF3622}" dt="2026-08-02T19:39:43.495" v="786" actId="47"/>
        <pc:sldMkLst>
          <pc:docMk/>
          <pc:sldMk cId="0" sldId="315"/>
        </pc:sldMkLst>
      </pc:sldChg>
      <pc:sldChg chg="add del">
        <pc:chgData name="Yilin Wang" userId="06abc78b-9058-4e15-afda-57e086dc17fc" providerId="ADAL" clId="{82DDD170-D4B5-46ED-803B-C300EEBF3622}" dt="2026-08-02T19:39:38.952" v="781" actId="47"/>
        <pc:sldMkLst>
          <pc:docMk/>
          <pc:sldMk cId="0" sldId="316"/>
        </pc:sldMkLst>
      </pc:sldChg>
      <pc:sldChg chg="add del">
        <pc:chgData name="Yilin Wang" userId="06abc78b-9058-4e15-afda-57e086dc17fc" providerId="ADAL" clId="{82DDD170-D4B5-46ED-803B-C300EEBF3622}" dt="2026-08-02T19:39:44.250" v="787" actId="47"/>
        <pc:sldMkLst>
          <pc:docMk/>
          <pc:sldMk cId="0" sldId="317"/>
        </pc:sldMkLst>
      </pc:sldChg>
      <pc:sldChg chg="add del">
        <pc:chgData name="Yilin Wang" userId="06abc78b-9058-4e15-afda-57e086dc17fc" providerId="ADAL" clId="{82DDD170-D4B5-46ED-803B-C300EEBF3622}" dt="2026-08-02T19:39:45.336" v="788" actId="47"/>
        <pc:sldMkLst>
          <pc:docMk/>
          <pc:sldMk cId="0" sldId="318"/>
        </pc:sldMkLst>
      </pc:sldChg>
      <pc:sldChg chg="add del">
        <pc:chgData name="Yilin Wang" userId="06abc78b-9058-4e15-afda-57e086dc17fc" providerId="ADAL" clId="{82DDD170-D4B5-46ED-803B-C300EEBF3622}" dt="2026-08-02T19:39:46.372" v="789" actId="47"/>
        <pc:sldMkLst>
          <pc:docMk/>
          <pc:sldMk cId="0" sldId="319"/>
        </pc:sldMkLst>
      </pc:sldChg>
      <pc:sldChg chg="add del">
        <pc:chgData name="Yilin Wang" userId="06abc78b-9058-4e15-afda-57e086dc17fc" providerId="ADAL" clId="{82DDD170-D4B5-46ED-803B-C300EEBF3622}" dt="2026-08-02T19:39:36.146" v="778" actId="47"/>
        <pc:sldMkLst>
          <pc:docMk/>
          <pc:sldMk cId="0" sldId="320"/>
        </pc:sldMkLst>
      </pc:sldChg>
      <pc:sldChg chg="del">
        <pc:chgData name="Yilin Wang" userId="06abc78b-9058-4e15-afda-57e086dc17fc" providerId="ADAL" clId="{82DDD170-D4B5-46ED-803B-C300EEBF3622}" dt="2026-08-02T19:39:29.573" v="774" actId="47"/>
        <pc:sldMkLst>
          <pc:docMk/>
          <pc:sldMk cId="2490872928" sldId="321"/>
        </pc:sldMkLst>
      </pc:sldChg>
      <pc:sldChg chg="delSp modSp add mod">
        <pc:chgData name="Yilin Wang" userId="06abc78b-9058-4e15-afda-57e086dc17fc" providerId="ADAL" clId="{82DDD170-D4B5-46ED-803B-C300EEBF3622}" dt="2026-07-16T21:33:12.906" v="771" actId="20577"/>
        <pc:sldMkLst>
          <pc:docMk/>
          <pc:sldMk cId="2361112164" sldId="322"/>
        </pc:sldMkLst>
        <pc:spChg chg="mod">
          <ac:chgData name="Yilin Wang" userId="06abc78b-9058-4e15-afda-57e086dc17fc" providerId="ADAL" clId="{82DDD170-D4B5-46ED-803B-C300EEBF3622}" dt="2026-07-16T21:33:12.906" v="771" actId="20577"/>
          <ac:spMkLst>
            <pc:docMk/>
            <pc:sldMk cId="2361112164" sldId="322"/>
            <ac:spMk id="7" creationId="{33AE8DB3-4C29-0DE3-EB73-8D2BBFBB8CBF}"/>
          </ac:spMkLst>
        </pc:spChg>
        <pc:spChg chg="mod">
          <ac:chgData name="Yilin Wang" userId="06abc78b-9058-4e15-afda-57e086dc17fc" providerId="ADAL" clId="{82DDD170-D4B5-46ED-803B-C300EEBF3622}" dt="2026-07-16T21:32:53.871" v="735" actId="20577"/>
          <ac:spMkLst>
            <pc:docMk/>
            <pc:sldMk cId="2361112164" sldId="322"/>
            <ac:spMk id="203" creationId="{A219F0BA-71F5-BA11-CCBD-9327897B98CC}"/>
          </ac:spMkLst>
        </pc:spChg>
      </pc:sldChg>
      <pc:sldChg chg="add">
        <pc:chgData name="Yilin Wang" userId="06abc78b-9058-4e15-afda-57e086dc17fc" providerId="ADAL" clId="{82DDD170-D4B5-46ED-803B-C300EEBF3622}" dt="2026-07-16T21:32:47.529" v="734"/>
        <pc:sldMkLst>
          <pc:docMk/>
          <pc:sldMk cId="35167972" sldId="323"/>
        </pc:sldMkLst>
      </pc:sldChg>
      <pc:sldChg chg="del">
        <pc:chgData name="Yilin Wang" userId="06abc78b-9058-4e15-afda-57e086dc17fc" providerId="ADAL" clId="{82DDD170-D4B5-46ED-803B-C300EEBF3622}" dt="2026-08-02T19:39:36.934" v="780" actId="47"/>
        <pc:sldMkLst>
          <pc:docMk/>
          <pc:sldMk cId="2831382767" sldId="324"/>
        </pc:sldMkLst>
      </pc:sldChg>
    </pc:docChg>
  </pc:docChgLst>
  <pc:docChgLst>
    <pc:chgData name="Yilin Wang" userId="S::wang4517@purdue.edu::06abc78b-9058-4e15-afda-57e086dc17fc" providerId="AD" clId="Web-{73E358AC-2E5E-D559-125E-0E3EF88494AA}"/>
    <pc:docChg chg="addSld modSld">
      <pc:chgData name="Yilin Wang" userId="S::wang4517@purdue.edu::06abc78b-9058-4e15-afda-57e086dc17fc" providerId="AD" clId="Web-{73E358AC-2E5E-D559-125E-0E3EF88494AA}" dt="2026-07-14T15:01:04.722" v="118" actId="20577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55BC-3133-4958-9FBE-2E458D6F8C9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48518-90B6-4A67-95F9-2E42B160E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373D-6337-3720-B4C6-42A3F89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9D289A-57A2-D44D-9735-B77E6213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527FF0-4349-E451-CB64-8DAFFD09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84E1A-6918-23BB-C9C5-EA66EB9BF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705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479850-6E10-FE11-AE66-4866412731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76" y="5311078"/>
            <a:ext cx="2419927" cy="132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B5AD5-57F5-C14F-0641-54AF0457E38A}"/>
              </a:ext>
            </a:extLst>
          </p:cNvPr>
          <p:cNvSpPr txBox="1"/>
          <p:nvPr userDrawn="1"/>
        </p:nvSpPr>
        <p:spPr>
          <a:xfrm>
            <a:off x="4495342" y="6377370"/>
            <a:ext cx="2946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masis MT Pro Medium" panose="02040604050005020304" pitchFamily="18" charset="0"/>
              </a:rPr>
              <a:t>Connected and Automated Resilience Lab</a:t>
            </a:r>
            <a:endParaRPr lang="zh-CN" altLang="en-US" sz="1100" dirty="0">
              <a:latin typeface="Amasis MT Pro Medium" panose="020406040500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B2B6E5-80BD-F713-9D38-37ACF4511900}"/>
              </a:ext>
            </a:extLst>
          </p:cNvPr>
          <p:cNvSpPr/>
          <p:nvPr userDrawn="1"/>
        </p:nvSpPr>
        <p:spPr>
          <a:xfrm flipV="1">
            <a:off x="0" y="3368615"/>
            <a:ext cx="12192000" cy="120769"/>
          </a:xfrm>
          <a:prstGeom prst="rect">
            <a:avLst/>
          </a:prstGeom>
          <a:gradFill flip="none" rotWithShape="1">
            <a:gsLst>
              <a:gs pos="20000">
                <a:srgbClr val="AE976B"/>
              </a:gs>
              <a:gs pos="57000">
                <a:schemeClr val="tx1"/>
              </a:gs>
              <a:gs pos="89000">
                <a:srgbClr val="AE976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D24C6EE-AE1C-7BFB-99DF-401DD2298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6363" y="1630363"/>
            <a:ext cx="3175000" cy="79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B95C6C1F-13D4-B7DB-20F1-2E32261890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0BDD535-0769-42FB-94C0-0748AE4F4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C4C7792-7799-2FE0-554B-92BFA7281814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5CD04-7929-1C73-332C-B27202C18453}"/>
              </a:ext>
            </a:extLst>
          </p:cNvPr>
          <p:cNvGrpSpPr/>
          <p:nvPr userDrawn="1"/>
        </p:nvGrpSpPr>
        <p:grpSpPr>
          <a:xfrm>
            <a:off x="-76205" y="5966730"/>
            <a:ext cx="2047875" cy="931011"/>
            <a:chOff x="6184034" y="5252434"/>
            <a:chExt cx="3601639" cy="16564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3479850-6E10-FE11-AE66-4866412731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4892" y="5252434"/>
              <a:ext cx="2419927" cy="1327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25B5AD5-57F5-C14F-0641-54AF0457E38A}"/>
                </a:ext>
              </a:extLst>
            </p:cNvPr>
            <p:cNvSpPr txBox="1"/>
            <p:nvPr userDrawn="1"/>
          </p:nvSpPr>
          <p:spPr>
            <a:xfrm>
              <a:off x="6184034" y="6251777"/>
              <a:ext cx="3601639" cy="657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Amasis MT Pro Medium" panose="02040604050005020304" pitchFamily="18" charset="0"/>
                </a:rPr>
                <a:t>Connected and Automated Resilience Lab</a:t>
              </a:r>
              <a:endParaRPr lang="zh-CN" altLang="en-US" sz="9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1047F1BB-65F9-D277-F14E-506A3CC4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42683"/>
            <a:ext cx="3113806" cy="63817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masis MT Pro Medium" panose="02040604050005020304" pitchFamily="18" charset="0"/>
              </a:defRPr>
            </a:lvl1pPr>
            <a:lvl5pPr marL="1828800" indent="0">
              <a:buNone/>
              <a:defRPr b="1"/>
            </a:lvl5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6859A36C-B8CC-40EF-0074-708C559EA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4082DBC-1380-7E6F-1190-75EB895EA1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396B154-8133-68ED-6CD5-7B359DB25F2A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4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D58A8-D3F8-6292-7607-8A36AC5D73BF}"/>
              </a:ext>
            </a:extLst>
          </p:cNvPr>
          <p:cNvSpPr/>
          <p:nvPr userDrawn="1"/>
        </p:nvSpPr>
        <p:spPr>
          <a:xfrm>
            <a:off x="0" y="0"/>
            <a:ext cx="12192000" cy="69011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数据 2">
            <a:extLst>
              <a:ext uri="{FF2B5EF4-FFF2-40B4-BE49-F238E27FC236}">
                <a16:creationId xmlns:a16="http://schemas.microsoft.com/office/drawing/2014/main" id="{74928255-F6E6-4751-0F92-1D38882CD9D6}"/>
              </a:ext>
            </a:extLst>
          </p:cNvPr>
          <p:cNvSpPr/>
          <p:nvPr userDrawn="1"/>
        </p:nvSpPr>
        <p:spPr>
          <a:xfrm>
            <a:off x="960583" y="-1"/>
            <a:ext cx="5237018" cy="690113"/>
          </a:xfrm>
          <a:prstGeom prst="flowChartInputOutput">
            <a:avLst/>
          </a:prstGeom>
          <a:gradFill>
            <a:gsLst>
              <a:gs pos="4000">
                <a:schemeClr val="tx1"/>
              </a:gs>
              <a:gs pos="57000">
                <a:srgbClr val="AE976B"/>
              </a:gs>
              <a:gs pos="83000">
                <a:srgbClr val="AE976B"/>
              </a:gs>
              <a:gs pos="100000">
                <a:srgbClr val="AE976B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71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wang4517@purdue.edu" TargetMode="External"/><Relationship Id="rId3" Type="http://schemas.openxmlformats.org/officeDocument/2006/relationships/hyperlink" Target="mailto:feng333@purdue.edu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20.png"/><Relationship Id="rId4" Type="http://schemas.openxmlformats.org/officeDocument/2006/relationships/image" Target="../media/image230.png"/><Relationship Id="rId7" Type="http://schemas.openxmlformats.org/officeDocument/2006/relationships/image" Target="../media/image240.png"/><Relationship Id="rId8" Type="http://schemas.openxmlformats.org/officeDocument/2006/relationships/image" Target="../media/image250.png"/><Relationship Id="rId9" Type="http://schemas.openxmlformats.org/officeDocument/2006/relationships/image" Target="../media/image260.png"/><Relationship Id="rId10" Type="http://schemas.openxmlformats.org/officeDocument/2006/relationships/image" Target="../media/image270.png"/><Relationship Id="rId11" Type="http://schemas.openxmlformats.org/officeDocument/2006/relationships/image" Target="../media/image280.png"/><Relationship Id="rId12" Type="http://schemas.openxmlformats.org/officeDocument/2006/relationships/image" Target="../media/image290.png"/><Relationship Id="rId13" Type="http://schemas.openxmlformats.org/officeDocument/2006/relationships/image" Target="../media/image300.png"/><Relationship Id="rId14" Type="http://schemas.openxmlformats.org/officeDocument/2006/relationships/image" Target="../media/image3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Relationship Id="rId3" Type="http://schemas.openxmlformats.org/officeDocument/2006/relationships/image" Target="../media/image330.png"/><Relationship Id="rId4" Type="http://schemas.openxmlformats.org/officeDocument/2006/relationships/image" Target="../media/image340.png"/><Relationship Id="rId5" Type="http://schemas.openxmlformats.org/officeDocument/2006/relationships/image" Target="../media/image350.png"/><Relationship Id="rId6" Type="http://schemas.openxmlformats.org/officeDocument/2006/relationships/image" Target="../media/image360.png"/><Relationship Id="rId7" Type="http://schemas.openxmlformats.org/officeDocument/2006/relationships/image" Target="../media/image370.png"/><Relationship Id="rId8" Type="http://schemas.openxmlformats.org/officeDocument/2006/relationships/image" Target="../media/image380.png"/><Relationship Id="rId9" Type="http://schemas.openxmlformats.org/officeDocument/2006/relationships/image" Target="../media/image390.png"/><Relationship Id="rId10" Type="http://schemas.openxmlformats.org/officeDocument/2006/relationships/image" Target="../media/image400.png"/><Relationship Id="rId11" Type="http://schemas.openxmlformats.org/officeDocument/2006/relationships/image" Target="../media/image410.png"/><Relationship Id="rId12" Type="http://schemas.openxmlformats.org/officeDocument/2006/relationships/image" Target="../media/image420.png"/><Relationship Id="rId13" Type="http://schemas.openxmlformats.org/officeDocument/2006/relationships/image" Target="../media/image430.png"/><Relationship Id="rId14" Type="http://schemas.openxmlformats.org/officeDocument/2006/relationships/image" Target="../media/image440.png"/><Relationship Id="rId15" Type="http://schemas.openxmlformats.org/officeDocument/2006/relationships/image" Target="../media/image450.png"/><Relationship Id="rId16" Type="http://schemas.openxmlformats.org/officeDocument/2006/relationships/image" Target="../media/image4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0.png"/><Relationship Id="rId3" Type="http://schemas.openxmlformats.org/officeDocument/2006/relationships/image" Target="../media/image480.png"/><Relationship Id="rId4" Type="http://schemas.openxmlformats.org/officeDocument/2006/relationships/image" Target="../media/image490.png"/><Relationship Id="rId5" Type="http://schemas.openxmlformats.org/officeDocument/2006/relationships/image" Target="../media/image50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</a:t>
            </a:r>
            <a:br>
              <a:rPr lang="en-US" altLang="zh-CN" dirty="0"/>
            </a:br>
            <a:r>
              <a:rPr lang="en-US" altLang="zh-CN" dirty="0"/>
              <a:t>Dec.12</a:t>
            </a:r>
            <a:r>
              <a:rPr lang="en-US" altLang="zh-CN" baseline="30000" dirty="0"/>
              <a:t>nd</a:t>
            </a:r>
            <a:r>
              <a:rPr lang="en-US" altLang="zh-CN" dirty="0"/>
              <a:t> 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Group Meeting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Notes and Thoughts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81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5D17-E8BA-5697-21D7-76768AEB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43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2153-BCD3-3380-18A6-5AF9D397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DB483-11E5-CA9D-E732-A6B8DDA6FD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DBC9FBA9-D645-9710-11B9-89A2783E1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06BF-3122-F046-736C-41F9C472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</a:t>
            </a:r>
            <a:r>
              <a:rPr lang="en-US" altLang="zh-CN"/>
              <a:t>Orientated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LR4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6111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59AA-F4BE-17E7-916F-FF7EA500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B4713-2B9D-8798-2468-95EAF4E6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263" y="3642584"/>
            <a:ext cx="5022974" cy="1325563"/>
          </a:xfrm>
        </p:spPr>
        <p:txBody>
          <a:bodyPr/>
          <a:lstStyle/>
          <a:p>
            <a:r>
              <a:rPr lang="en-US" altLang="zh-CN" sz="2000" dirty="0"/>
              <a:t>Yilin Wang: </a:t>
            </a:r>
            <a:r>
              <a:rPr lang="en-US" altLang="zh-CN" sz="2000" dirty="0">
                <a:hlinkClick r:id="rId2"/>
              </a:rPr>
              <a:t>wang4517@purdue.edu</a:t>
            </a:r>
            <a:br>
              <a:rPr lang="en-US" altLang="zh-CN" sz="2000" dirty="0"/>
            </a:br>
            <a:r>
              <a:rPr lang="en-US" altLang="zh-CN" sz="2000" dirty="0"/>
              <a:t>Yiheng Feng*: </a:t>
            </a:r>
            <a:r>
              <a:rPr lang="en-US" altLang="zh-CN" sz="2000" dirty="0">
                <a:hlinkClick r:id="rId3"/>
              </a:rPr>
              <a:t>feng333@purdue.edu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4FFC3D0A-0B0F-A410-920D-54A204CE0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1534933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Thanks for Listening!</a:t>
            </a:r>
            <a:endParaRPr lang="zh-CN" altLang="en-US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6DC3B43-DE62-B20E-5D5D-17F7B28D9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Acknowledgement</a:t>
            </a:r>
            <a:endParaRPr lang="zh-CN" altLang="en-US" dirty="0"/>
          </a:p>
        </p:txBody>
      </p:sp>
      <p:pic>
        <p:nvPicPr>
          <p:cNvPr id="2050" name="Picture 2" descr="NSF Logo and symbol, meaning, history, PNG, brand">
            <a:extLst>
              <a:ext uri="{FF2B5EF4-FFF2-40B4-BE49-F238E27FC236}">
                <a16:creationId xmlns:a16="http://schemas.microsoft.com/office/drawing/2014/main" id="{A82E0FF7-95C3-E29F-C4B6-6AA28724D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0" y="5476940"/>
            <a:ext cx="2116551" cy="119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CAT - Sustainable Transportation Systems Research Group - Purdue University">
            <a:extLst>
              <a:ext uri="{FF2B5EF4-FFF2-40B4-BE49-F238E27FC236}">
                <a16:creationId xmlns:a16="http://schemas.microsoft.com/office/drawing/2014/main" id="{430EF258-BE62-4EB7-C4B2-05187F89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014" y="5663472"/>
            <a:ext cx="2210256" cy="100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18A228D-8EDD-4C0E-84DA-90408DF4FF9B}"/>
              </a:ext>
            </a:extLst>
          </p:cNvPr>
          <p:cNvSpPr txBox="1">
            <a:spLocks/>
          </p:cNvSpPr>
          <p:nvPr/>
        </p:nvSpPr>
        <p:spPr>
          <a:xfrm>
            <a:off x="73891" y="2630488"/>
            <a:ext cx="12044218" cy="7985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masis MT Pro Medium" panose="020406040500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81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EBBA45-B714-FC3D-4BD2-52576305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417E43-86AE-B6DC-CF7B-74067842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51D11F5C-C949-193C-A6E4-A4971C635054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6C797BE-AE66-C6B2-4D6D-8E2CC8A8AEB2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CTM evaluation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88D759D-2405-DF55-8905-583A93521ED5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8DE361C-DCC0-438C-F04C-2B1489D736AF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C4CE6737-DCE1-BCFF-C201-40839023F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Toy network analysis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62AA27-D2F3-F1C2-1EE2-824A755A004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B4E1EFB-A71E-20BC-E7A9-D56E3E4FDE75}"/>
              </a:ext>
            </a:extLst>
          </p:cNvPr>
          <p:cNvSpPr txBox="1"/>
          <p:nvPr/>
        </p:nvSpPr>
        <p:spPr>
          <a:xfrm>
            <a:off x="5083759" y="2188193"/>
            <a:ext cx="7108242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masis MT Pro Medium"/>
                <a:ea typeface="等线"/>
              </a:rPr>
              <a:t>Veh_1</a:t>
            </a:r>
            <a:r>
              <a:rPr lang="en-US" altLang="zh-CN" sz="1600" dirty="0">
                <a:latin typeface="Amasis MT Pro Medium"/>
                <a:ea typeface="等线"/>
              </a:rPr>
              <a:t>: 25-26, t=0 |route: 25-1-2-3-22-23-24-26. Time: 0-4-8-9-12-13-16-19 </a:t>
            </a:r>
          </a:p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masis MT Pro Medium"/>
                <a:ea typeface="等线"/>
              </a:rPr>
              <a:t>Veh_2</a:t>
            </a:r>
            <a:r>
              <a:rPr lang="en-US" altLang="zh-CN" sz="1600" dirty="0">
                <a:latin typeface="Amasis MT Pro Medium"/>
                <a:ea typeface="等线"/>
              </a:rPr>
              <a:t>: 25-26, t=1 |route: 25-1-2-19-20-9-24-26. Time: 1-2-4-5-8-11-14-15</a:t>
            </a:r>
          </a:p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masis MT Pro Medium"/>
                <a:ea typeface="等线"/>
              </a:rPr>
              <a:t>Veh_3</a:t>
            </a:r>
            <a:r>
              <a:rPr lang="en-US" altLang="zh-CN" sz="1600" dirty="0">
                <a:latin typeface="Amasis MT Pro Medium"/>
                <a:ea typeface="等线"/>
              </a:rPr>
              <a:t>: 25-26, t=2 |route: 25-1-2-3-22-23-24-26. Time: 2-4-8-9-12-13-16-19</a:t>
            </a: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masis MT Pro Medium"/>
                <a:ea typeface="等线"/>
              </a:rPr>
              <a:t>Veh_4</a:t>
            </a:r>
            <a:r>
              <a:rPr lang="en-US" altLang="zh-CN" sz="1600" dirty="0">
                <a:latin typeface="Amasis MT Pro Medium"/>
                <a:ea typeface="等线"/>
              </a:rPr>
              <a:t>: 25-26, t=3 |route: 25-13-4-5-20-9-24-26. Time: 3-6-8-11-14-15-18-19</a:t>
            </a:r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2EFBD672-FBD2-819D-8634-A1CC6944F58A}"/>
              </a:ext>
            </a:extLst>
          </p:cNvPr>
          <p:cNvGrpSpPr/>
          <p:nvPr/>
        </p:nvGrpSpPr>
        <p:grpSpPr>
          <a:xfrm>
            <a:off x="441219" y="1786785"/>
            <a:ext cx="4918073" cy="3866241"/>
            <a:chOff x="441219" y="1786785"/>
            <a:chExt cx="4918073" cy="386624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DAF8FD4-6098-135B-5949-7F8DD8315A87}"/>
                </a:ext>
              </a:extLst>
            </p:cNvPr>
            <p:cNvGrpSpPr/>
            <p:nvPr/>
          </p:nvGrpSpPr>
          <p:grpSpPr>
            <a:xfrm>
              <a:off x="441219" y="1786785"/>
              <a:ext cx="4918073" cy="3866241"/>
              <a:chOff x="152400" y="1621971"/>
              <a:chExt cx="4918073" cy="3866241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03AF37BF-0842-6009-9C3D-89C56EB43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5" y="2102733"/>
                <a:ext cx="3330254" cy="7022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356A574-4504-240C-6280-B96C50221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3100590"/>
                <a:ext cx="3311274" cy="231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CCA429-F104-C3CF-8D38-708F9DEE6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77" y="2102733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2C5CBF9-196D-B14B-5552-F788C544B4D6}"/>
                  </a:ext>
                </a:extLst>
              </p:cNvPr>
              <p:cNvSpPr txBox="1"/>
              <p:nvPr/>
            </p:nvSpPr>
            <p:spPr>
              <a:xfrm>
                <a:off x="1349828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90AAD56-D7FE-FE0E-E00A-0A9EC5B3784F}"/>
                  </a:ext>
                </a:extLst>
              </p:cNvPr>
              <p:cNvSpPr txBox="1"/>
              <p:nvPr/>
            </p:nvSpPr>
            <p:spPr>
              <a:xfrm>
                <a:off x="2474685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</a:t>
                </a:r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2FBF55-3AC7-C835-D00A-A146FB0C14EC}"/>
                  </a:ext>
                </a:extLst>
              </p:cNvPr>
              <p:cNvSpPr txBox="1"/>
              <p:nvPr/>
            </p:nvSpPr>
            <p:spPr>
              <a:xfrm>
                <a:off x="3672113" y="1767113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3</a:t>
                </a:r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2D2156-0B8E-0D19-A48C-7AC0D366EEA2}"/>
                  </a:ext>
                </a:extLst>
              </p:cNvPr>
              <p:cNvSpPr txBox="1"/>
              <p:nvPr/>
            </p:nvSpPr>
            <p:spPr>
              <a:xfrm>
                <a:off x="1349826" y="281032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4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963D7EE-B7EB-6823-91D6-6345F3A23149}"/>
                  </a:ext>
                </a:extLst>
              </p:cNvPr>
              <p:cNvSpPr txBox="1"/>
              <p:nvPr/>
            </p:nvSpPr>
            <p:spPr>
              <a:xfrm>
                <a:off x="1367969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7</a:t>
                </a:r>
                <a:endParaRPr lang="zh-CN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393C047-FC75-D678-8E8B-C85F3543DB42}"/>
                  </a:ext>
                </a:extLst>
              </p:cNvPr>
              <p:cNvSpPr txBox="1"/>
              <p:nvPr/>
            </p:nvSpPr>
            <p:spPr>
              <a:xfrm>
                <a:off x="2474683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8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1794B86-44CB-F5F6-1459-65DD9D4DFC73}"/>
                  </a:ext>
                </a:extLst>
              </p:cNvPr>
              <p:cNvSpPr txBox="1"/>
              <p:nvPr/>
            </p:nvSpPr>
            <p:spPr>
              <a:xfrm>
                <a:off x="605969" y="239304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13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30AA5B-2C9F-EC47-CC98-4FB9912BC9CC}"/>
                  </a:ext>
                </a:extLst>
              </p:cNvPr>
              <p:cNvSpPr txBox="1"/>
              <p:nvPr/>
            </p:nvSpPr>
            <p:spPr>
              <a:xfrm>
                <a:off x="3626754" y="383539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9</a:t>
                </a:r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6F068B8-B5CF-2C07-72DC-E4E3A3B07CBC}"/>
                  </a:ext>
                </a:extLst>
              </p:cNvPr>
              <p:cNvSpPr txBox="1"/>
              <p:nvPr/>
            </p:nvSpPr>
            <p:spPr>
              <a:xfrm>
                <a:off x="2420255" y="4715326"/>
                <a:ext cx="475342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11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DD5A5F6-D2B2-E414-22A7-467F13BB41D4}"/>
                  </a:ext>
                </a:extLst>
              </p:cNvPr>
              <p:cNvSpPr txBox="1"/>
              <p:nvPr/>
            </p:nvSpPr>
            <p:spPr>
              <a:xfrm>
                <a:off x="605968" y="3399969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14</a:t>
                </a:r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29F6E8-F2F1-731C-0AED-E36209BA3032}"/>
                  </a:ext>
                </a:extLst>
              </p:cNvPr>
              <p:cNvSpPr txBox="1"/>
              <p:nvPr/>
            </p:nvSpPr>
            <p:spPr>
              <a:xfrm>
                <a:off x="1304467" y="47697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10</a:t>
                </a:r>
                <a:endParaRPr lang="zh-CN" altLang="en-US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BB9E3F-1567-4921-8E4E-B6EB95229C2E}"/>
                  </a:ext>
                </a:extLst>
              </p:cNvPr>
              <p:cNvSpPr txBox="1"/>
              <p:nvPr/>
            </p:nvSpPr>
            <p:spPr>
              <a:xfrm>
                <a:off x="3581396" y="4715325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12</a:t>
                </a:r>
                <a:endParaRPr lang="zh-CN" alt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1DB576D-482B-415C-0143-9B3526735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4116589"/>
                <a:ext cx="3311274" cy="29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F2E6839-B7E4-99B2-A7B3-8C266617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777" y="5034279"/>
                <a:ext cx="3320141" cy="1462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58015B3B-AC86-B5EE-B726-0FE49EA63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8419" y="2102732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E061393A-59E6-4719-58B3-DF74975600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490" y="2102731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9063ED9A-2111-F06D-59C2-749A16B823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0918" y="2095499"/>
                <a:ext cx="18981" cy="2945038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5EBFA10-60B3-1540-85E7-D13855925E4E}"/>
                  </a:ext>
                </a:extLst>
              </p:cNvPr>
              <p:cNvSpPr txBox="1"/>
              <p:nvPr/>
            </p:nvSpPr>
            <p:spPr>
              <a:xfrm>
                <a:off x="2474682" y="2819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5</a:t>
                </a:r>
                <a:endParaRPr lang="zh-CN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E407DA-39FB-81E4-4CAE-030378B1B949}"/>
                  </a:ext>
                </a:extLst>
              </p:cNvPr>
              <p:cNvSpPr txBox="1"/>
              <p:nvPr/>
            </p:nvSpPr>
            <p:spPr>
              <a:xfrm>
                <a:off x="3626754" y="281032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6</a:t>
                </a:r>
                <a:endParaRPr lang="zh-CN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47C2349-FA7C-56DC-AFA6-471C84FB49FB}"/>
                  </a:ext>
                </a:extLst>
              </p:cNvPr>
              <p:cNvSpPr txBox="1"/>
              <p:nvPr/>
            </p:nvSpPr>
            <p:spPr>
              <a:xfrm>
                <a:off x="605967" y="4434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15</a:t>
                </a:r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9B58870-1BFD-E55F-3524-87F4A2EF6CE1}"/>
                  </a:ext>
                </a:extLst>
              </p:cNvPr>
              <p:cNvSpPr txBox="1"/>
              <p:nvPr/>
            </p:nvSpPr>
            <p:spPr>
              <a:xfrm>
                <a:off x="1676397" y="239304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16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42BEA86-C76D-8F92-5741-FEDBEA3A98FC}"/>
                  </a:ext>
                </a:extLst>
              </p:cNvPr>
              <p:cNvSpPr txBox="1"/>
              <p:nvPr/>
            </p:nvSpPr>
            <p:spPr>
              <a:xfrm>
                <a:off x="1676396" y="339996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17</a:t>
                </a:r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3A3211C-E8A4-720F-ECC0-1BA2D9DE72B7}"/>
                  </a:ext>
                </a:extLst>
              </p:cNvPr>
              <p:cNvSpPr txBox="1"/>
              <p:nvPr/>
            </p:nvSpPr>
            <p:spPr>
              <a:xfrm>
                <a:off x="1676395" y="443411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18</a:t>
                </a:r>
                <a:endParaRPr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AFDAFE5-1D51-21B4-E1F6-8CD4CD6733E7}"/>
                  </a:ext>
                </a:extLst>
              </p:cNvPr>
              <p:cNvSpPr txBox="1"/>
              <p:nvPr/>
            </p:nvSpPr>
            <p:spPr>
              <a:xfrm>
                <a:off x="2819397" y="241118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19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07B2AF9-9A1F-614D-2DC6-E0478637F994}"/>
                  </a:ext>
                </a:extLst>
              </p:cNvPr>
              <p:cNvSpPr txBox="1"/>
              <p:nvPr/>
            </p:nvSpPr>
            <p:spPr>
              <a:xfrm>
                <a:off x="2819396" y="3418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20</a:t>
                </a:r>
                <a:endParaRPr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AFC75F-28BB-30D4-71FC-9F7F54F44C2D}"/>
                  </a:ext>
                </a:extLst>
              </p:cNvPr>
              <p:cNvSpPr txBox="1"/>
              <p:nvPr/>
            </p:nvSpPr>
            <p:spPr>
              <a:xfrm>
                <a:off x="2819395" y="44522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21</a:t>
                </a:r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F0F066-9B80-4BB8-BDEC-F7573FAADBF1}"/>
                  </a:ext>
                </a:extLst>
              </p:cNvPr>
              <p:cNvSpPr txBox="1"/>
              <p:nvPr/>
            </p:nvSpPr>
            <p:spPr>
              <a:xfrm>
                <a:off x="3898897" y="243839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22</a:t>
                </a:r>
                <a:endParaRPr lang="zh-CN" altLang="en-US" dirty="0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FEAA760-059D-1177-A1BD-07DA34C2674D}"/>
                  </a:ext>
                </a:extLst>
              </p:cNvPr>
              <p:cNvSpPr txBox="1"/>
              <p:nvPr/>
            </p:nvSpPr>
            <p:spPr>
              <a:xfrm>
                <a:off x="3898896" y="3445326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23</a:t>
                </a:r>
                <a:endParaRPr lang="zh-CN" altLang="en-US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D5CAD0-8D00-F681-A1C5-73B13C027282}"/>
                  </a:ext>
                </a:extLst>
              </p:cNvPr>
              <p:cNvSpPr txBox="1"/>
              <p:nvPr/>
            </p:nvSpPr>
            <p:spPr>
              <a:xfrm>
                <a:off x="3778823" y="4424052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24</a:t>
                </a:r>
                <a:endParaRPr lang="zh-CN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9805C3-63BB-F724-B963-2097C4D0B3E1}"/>
                  </a:ext>
                </a:extLst>
              </p:cNvPr>
              <p:cNvSpPr txBox="1"/>
              <p:nvPr/>
            </p:nvSpPr>
            <p:spPr>
              <a:xfrm>
                <a:off x="596898" y="1621971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25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F011D-1037-7260-E284-72DBC6C0EE7C}"/>
                  </a:ext>
                </a:extLst>
              </p:cNvPr>
              <p:cNvSpPr txBox="1"/>
              <p:nvPr/>
            </p:nvSpPr>
            <p:spPr>
              <a:xfrm>
                <a:off x="4588326" y="5005613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26</a:t>
                </a:r>
                <a:endParaRPr lang="zh-CN" altLang="en-US" dirty="0"/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1F2F1A9-4B13-BFB4-1C07-DA28905A1F41}"/>
                  </a:ext>
                </a:extLst>
              </p:cNvPr>
              <p:cNvCxnSpPr/>
              <p:nvPr/>
            </p:nvCxnSpPr>
            <p:spPr>
              <a:xfrm>
                <a:off x="152400" y="1647824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C89A0A8-1C5A-E8BC-5DAA-95A1074B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899" y="5040537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3BBB516E-3D2D-68A3-F0CC-F12286414A64}"/>
                </a:ext>
              </a:extLst>
            </p:cNvPr>
            <p:cNvCxnSpPr/>
            <p:nvPr/>
          </p:nvCxnSpPr>
          <p:spPr>
            <a:xfrm>
              <a:off x="1247535" y="2274569"/>
              <a:ext cx="3302202" cy="2939153"/>
            </a:xfrm>
            <a:prstGeom prst="bentConnector3">
              <a:avLst>
                <a:gd name="adj1" fmla="val 100067"/>
              </a:avLst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05431F53-DC4E-E0F6-600D-9A93152680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527378" y="3202477"/>
              <a:ext cx="2910113" cy="1044260"/>
            </a:xfrm>
            <a:prstGeom prst="bentConnector3">
              <a:avLst>
                <a:gd name="adj1" fmla="val 68983"/>
              </a:avLst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19183989-3465-BCF7-D9A4-8D0B574EBB4F}"/>
                </a:ext>
              </a:extLst>
            </p:cNvPr>
            <p:cNvCxnSpPr/>
            <p:nvPr/>
          </p:nvCxnSpPr>
          <p:spPr>
            <a:xfrm>
              <a:off x="1247535" y="2311513"/>
              <a:ext cx="2249713" cy="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连接符: 肘形 213">
              <a:extLst>
                <a:ext uri="{FF2B5EF4-FFF2-40B4-BE49-F238E27FC236}">
                  <a16:creationId xmlns:a16="http://schemas.microsoft.com/office/drawing/2014/main" id="{D464DD1D-A72B-1103-6984-ADCCEFE2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47535" y="2204718"/>
              <a:ext cx="3360435" cy="2989403"/>
            </a:xfrm>
            <a:prstGeom prst="bentConnector3">
              <a:avLst>
                <a:gd name="adj1" fmla="val 100299"/>
              </a:avLst>
            </a:prstGeom>
            <a:ln w="571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E16D2F18-79B7-7390-F595-BFFD44CB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415132" y="4326760"/>
              <a:ext cx="1042669" cy="876362"/>
            </a:xfrm>
            <a:prstGeom prst="bentConnector3">
              <a:avLst>
                <a:gd name="adj1" fmla="val 99607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连接符: 肘形 231">
              <a:extLst>
                <a:ext uri="{FF2B5EF4-FFF2-40B4-BE49-F238E27FC236}">
                  <a16:creationId xmlns:a16="http://schemas.microsoft.com/office/drawing/2014/main" id="{90A7350E-26E4-EC51-362C-6BA60EFFE6B0}"/>
                </a:ext>
              </a:extLst>
            </p:cNvPr>
            <p:cNvCxnSpPr>
              <a:cxnSpLocks/>
            </p:cNvCxnSpPr>
            <p:nvPr/>
          </p:nvCxnSpPr>
          <p:spPr>
            <a:xfrm>
              <a:off x="1263277" y="2318102"/>
              <a:ext cx="2216032" cy="967720"/>
            </a:xfrm>
            <a:prstGeom prst="bentConnector3">
              <a:avLst>
                <a:gd name="adj1" fmla="val -433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71F79997-0905-B292-D07E-FD42691F03AA}"/>
                </a:ext>
              </a:extLst>
            </p:cNvPr>
            <p:cNvCxnSpPr/>
            <p:nvPr/>
          </p:nvCxnSpPr>
          <p:spPr>
            <a:xfrm>
              <a:off x="3433129" y="3279302"/>
              <a:ext cx="0" cy="1047758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/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%4+1</m:t>
                    </m:r>
                  </m:oMath>
                </a14:m>
                <a:r>
                  <a:rPr lang="zh-CN" altLang="en-US" sz="2000" dirty="0">
                    <a:latin typeface="Amasis MT Pro Medium" panose="020406040500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blipFill>
                <a:blip r:embed="rId2"/>
                <a:stretch>
                  <a:fillRect l="-2222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文本框 244">
            <a:extLst>
              <a:ext uri="{FF2B5EF4-FFF2-40B4-BE49-F238E27FC236}">
                <a16:creationId xmlns:a16="http://schemas.microsoft.com/office/drawing/2014/main" id="{67928630-50E4-EE51-A875-10326DCAB219}"/>
              </a:ext>
            </a:extLst>
          </p:cNvPr>
          <p:cNvSpPr txBox="1"/>
          <p:nvPr/>
        </p:nvSpPr>
        <p:spPr>
          <a:xfrm>
            <a:off x="1187275" y="5481828"/>
            <a:ext cx="33719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masis MT Pro Medium" panose="02040604050005020304" pitchFamily="18" charset="0"/>
              </a:rPr>
              <a:t>Figure 2: A 3x3 toy network</a:t>
            </a:r>
            <a:endParaRPr lang="zh-CN" alt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7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730E88-33C3-4222-7395-4DC2C55A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EDF027A-0CED-01CA-200B-1D9E7FE4A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B38736EF-DCC1-7EB6-AEC0-F5BA7A621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CTM Calibration</a:t>
            </a:r>
            <a:endParaRPr lang="zh-CN" altLang="en-US" sz="2800" dirty="0"/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4F6C9F2-6AC9-1336-485C-C85A0743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9" y="3528204"/>
            <a:ext cx="3450543" cy="2576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/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=1890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57.6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19.85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37.79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2.81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blipFill>
                <a:blip r:embed="rId3"/>
                <a:stretch>
                  <a:fillRect l="-952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C5D7F388-3B8B-B150-E50C-2F5D65418B37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C0852A1-EC7A-1F9A-2B1B-EE18CF45A103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8864AB-9EFB-3383-00E1-7A1E08E534C6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EF89E51-2B16-EAF5-ECAC-C81ED39240F3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25F6E23-D291-267C-94EA-649CD91C6F3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16" name="图片 38" descr="图形用户界面, 图表&#10;&#10;AI 生成的内容可能不正确。">
            <a:extLst>
              <a:ext uri="{FF2B5EF4-FFF2-40B4-BE49-F238E27FC236}">
                <a16:creationId xmlns:a16="http://schemas.microsoft.com/office/drawing/2014/main" id="{2D3B8AD2-8DD1-4EE0-AB55-2D416D319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61" y="1814817"/>
            <a:ext cx="8102382" cy="2095691"/>
          </a:xfrm>
          <a:prstGeom prst="rect">
            <a:avLst/>
          </a:prstGeom>
        </p:spPr>
      </p:pic>
      <p:pic>
        <p:nvPicPr>
          <p:cNvPr id="17" name="图片 39" descr="图表&#10;&#10;AI 生成的内容可能不正确。">
            <a:extLst>
              <a:ext uri="{FF2B5EF4-FFF2-40B4-BE49-F238E27FC236}">
                <a16:creationId xmlns:a16="http://schemas.microsoft.com/office/drawing/2014/main" id="{1AF5E82A-B14F-454F-A5A6-FE0C7F9FA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1" y="3946040"/>
            <a:ext cx="8102382" cy="2067426"/>
          </a:xfrm>
          <a:prstGeom prst="rect">
            <a:avLst/>
          </a:prstGeom>
        </p:spPr>
      </p:pic>
      <p:sp>
        <p:nvSpPr>
          <p:cNvPr id="18" name="文本框 41">
            <a:extLst>
              <a:ext uri="{FF2B5EF4-FFF2-40B4-BE49-F238E27FC236}">
                <a16:creationId xmlns:a16="http://schemas.microsoft.com/office/drawing/2014/main" id="{A799BCF7-78DF-4A06-8E47-BB7B10D8177A}"/>
              </a:ext>
            </a:extLst>
          </p:cNvPr>
          <p:cNvSpPr txBox="1"/>
          <p:nvPr/>
        </p:nvSpPr>
        <p:spPr>
          <a:xfrm>
            <a:off x="6096000" y="3677601"/>
            <a:ext cx="3991335" cy="461665"/>
          </a:xfrm>
          <a:prstGeom prst="rect">
            <a:avLst/>
          </a:prstGeom>
          <a:solidFill>
            <a:srgbClr val="AE976B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masis MT Pro Medium" panose="02040604050005020304" pitchFamily="18" charset="0"/>
              </a:rPr>
              <a:t>MAE 0.61 </a:t>
            </a:r>
            <a:r>
              <a:rPr lang="en-US" altLang="zh-CN" sz="2400" dirty="0" err="1">
                <a:latin typeface="Amasis MT Pro Medium" panose="02040604050005020304" pitchFamily="18" charset="0"/>
              </a:rPr>
              <a:t>veh</a:t>
            </a:r>
            <a:r>
              <a:rPr lang="en-US" altLang="zh-CN" sz="2400" dirty="0">
                <a:latin typeface="Amasis MT Pro Medium" panose="02040604050005020304" pitchFamily="18" charset="0"/>
              </a:rPr>
              <a:t>/cell/step</a:t>
            </a:r>
          </a:p>
        </p:txBody>
      </p:sp>
    </p:spTree>
    <p:extLst>
      <p:ext uri="{BB962C8B-B14F-4D97-AF65-F5344CB8AC3E}">
        <p14:creationId xmlns:p14="http://schemas.microsoft.com/office/powerpoint/2010/main" val="247821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E9AF4D-B5AB-E57E-F893-BF96B5A8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968968-4D22-4B95-26F6-9D4C2550F9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EF5554C-CA1F-80D5-D9D4-9CAF2100020B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75A7491-D042-F6AB-E750-1DD0FA36929E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87A2BF6-6861-C123-81D8-54DE92DEE8BC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9DEA2636-608A-CC85-B4DC-0592521B8C93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546BA969-5D0E-BB44-012D-4EFED65F04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Normal cells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/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blipFill>
                <a:blip r:embed="rId2"/>
                <a:stretch>
                  <a:fillRect l="-1613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7E03D05-318B-B792-693D-02100F43EB27}"/>
              </a:ext>
            </a:extLst>
          </p:cNvPr>
          <p:cNvSpPr txBox="1"/>
          <p:nvPr/>
        </p:nvSpPr>
        <p:spPr>
          <a:xfrm>
            <a:off x="2503746" y="3330828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normal 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/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blipFill>
                <a:blip r:embed="rId3"/>
                <a:stretch>
                  <a:fillRect l="-2262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本框 193">
            <a:extLst>
              <a:ext uri="{FF2B5EF4-FFF2-40B4-BE49-F238E27FC236}">
                <a16:creationId xmlns:a16="http://schemas.microsoft.com/office/drawing/2014/main" id="{A2530775-CD1E-5F05-8ACC-2F84BE9C6A1A}"/>
              </a:ext>
            </a:extLst>
          </p:cNvPr>
          <p:cNvSpPr txBox="1"/>
          <p:nvPr/>
        </p:nvSpPr>
        <p:spPr>
          <a:xfrm>
            <a:off x="2503746" y="4099114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sink cell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/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blipFill>
                <a:blip r:embed="rId4"/>
                <a:stretch>
                  <a:fillRect l="-1757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文本框 195">
            <a:extLst>
              <a:ext uri="{FF2B5EF4-FFF2-40B4-BE49-F238E27FC236}">
                <a16:creationId xmlns:a16="http://schemas.microsoft.com/office/drawing/2014/main" id="{391912DC-23C2-BBDC-A1B0-FCAE0829A287}"/>
              </a:ext>
            </a:extLst>
          </p:cNvPr>
          <p:cNvSpPr txBox="1"/>
          <p:nvPr/>
        </p:nvSpPr>
        <p:spPr>
          <a:xfrm>
            <a:off x="2503746" y="4931443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masis MT Pro Medium" panose="02040604050005020304" pitchFamily="18" charset="0"/>
              </a:rPr>
              <a:t>For source cell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06576454-DB5D-BBDA-0AB6-8EA7F22F4F6F}"/>
              </a:ext>
            </a:extLst>
          </p:cNvPr>
          <p:cNvGrpSpPr/>
          <p:nvPr/>
        </p:nvGrpSpPr>
        <p:grpSpPr>
          <a:xfrm>
            <a:off x="2605053" y="1813664"/>
            <a:ext cx="6341172" cy="1204150"/>
            <a:chOff x="1690653" y="2043487"/>
            <a:chExt cx="6341172" cy="1204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7A4D70D-E955-9EE0-8631-EC88EEB496CC}"/>
                    </a:ext>
                  </a:extLst>
                </p:cNvPr>
                <p:cNvSpPr txBox="1"/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71438A1-F360-0C35-67D4-05EE03431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29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7D5EB115-3ADA-FBA5-671B-ECF003CDAEF1}"/>
                    </a:ext>
                  </a:extLst>
                </p:cNvPr>
                <p:cNvSpPr txBox="1"/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AE317AB-93E3-D591-7827-9DA69BB7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E863F3D8-1D22-A972-D224-5F34195344AE}"/>
                    </a:ext>
                  </a:extLst>
                </p:cNvPr>
                <p:cNvSpPr txBox="1"/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288905-5939-C039-1561-101EBE9E4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EBB188E-40A0-3935-2546-C2A8CA6FDB50}"/>
                </a:ext>
              </a:extLst>
            </p:cNvPr>
            <p:cNvCxnSpPr/>
            <p:nvPr/>
          </p:nvCxnSpPr>
          <p:spPr>
            <a:xfrm>
              <a:off x="2014104" y="2455995"/>
              <a:ext cx="57432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0EA78F2B-0AC0-5845-CFCA-3DAE732F7768}"/>
                </a:ext>
              </a:extLst>
            </p:cNvPr>
            <p:cNvCxnSpPr>
              <a:cxnSpLocks/>
            </p:cNvCxnSpPr>
            <p:nvPr/>
          </p:nvCxnSpPr>
          <p:spPr>
            <a:xfrm>
              <a:off x="2014104" y="3247637"/>
              <a:ext cx="571081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F3CC753-4733-3A23-AAC3-01D01C1199D8}"/>
                </a:ext>
              </a:extLst>
            </p:cNvPr>
            <p:cNvCxnSpPr>
              <a:stCxn id="198" idx="3"/>
              <a:endCxn id="204" idx="1"/>
            </p:cNvCxnSpPr>
            <p:nvPr/>
          </p:nvCxnSpPr>
          <p:spPr>
            <a:xfrm flipV="1">
              <a:off x="3199810" y="2831391"/>
              <a:ext cx="1076848" cy="33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E1CDA8F6-3CF8-43D5-7C65-8CAD2165ADB6}"/>
                </a:ext>
              </a:extLst>
            </p:cNvPr>
            <p:cNvCxnSpPr>
              <a:stCxn id="204" idx="3"/>
              <a:endCxn id="205" idx="1"/>
            </p:cNvCxnSpPr>
            <p:nvPr/>
          </p:nvCxnSpPr>
          <p:spPr>
            <a:xfrm>
              <a:off x="5462364" y="2831391"/>
              <a:ext cx="107684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B30EE2-C50D-251E-723C-BE8B88FBD886}"/>
                    </a:ext>
                  </a:extLst>
                </p:cNvPr>
                <p:cNvSpPr txBox="1"/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387F7C-BE90-1539-6DB4-483453C22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6AE5A525-748C-2F04-AF83-C26D45889E7E}"/>
                    </a:ext>
                  </a:extLst>
                </p:cNvPr>
                <p:cNvSpPr txBox="1"/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20851-5795-51EF-FA57-A744117BE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BEA85006-AB14-0F35-24A2-19155CBF9313}"/>
                    </a:ext>
                  </a:extLst>
                </p:cNvPr>
                <p:cNvSpPr txBox="1"/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15BE034-A3F2-117F-A571-E1F641FC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72777CBA-87BB-E9A1-EBD1-55A6D82ED114}"/>
                    </a:ext>
                  </a:extLst>
                </p:cNvPr>
                <p:cNvSpPr txBox="1"/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49000E4-FCE7-9911-60B6-81A28AC91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148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7C0917AE-0CFD-A9FD-AFA1-B0C5633AB9ED}"/>
                    </a:ext>
                  </a:extLst>
                </p:cNvPr>
                <p:cNvSpPr txBox="1"/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5CA4548-E0CF-91A6-48B5-66179C658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1486"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49283B66-F498-51CB-46DA-7D7238D00100}"/>
                </a:ext>
              </a:extLst>
            </p:cNvPr>
            <p:cNvCxnSpPr>
              <a:cxnSpLocks/>
            </p:cNvCxnSpPr>
            <p:nvPr/>
          </p:nvCxnSpPr>
          <p:spPr>
            <a:xfrm>
              <a:off x="1690653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EA26C7CB-1CCD-F81F-9953-9EF45040A1D2}"/>
                </a:ext>
              </a:extLst>
            </p:cNvPr>
            <p:cNvCxnSpPr>
              <a:cxnSpLocks/>
            </p:cNvCxnSpPr>
            <p:nvPr/>
          </p:nvCxnSpPr>
          <p:spPr>
            <a:xfrm>
              <a:off x="7724918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C934B388-D1FC-366E-7DEF-645A8D35BA1D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6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75BD1B-02D2-D12F-7BDB-2DCB1332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D7E845-144C-1999-492D-D10C4D3E85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EDEA294-070D-64F1-5308-7566B64CE30C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1421556-8303-D024-DB40-8FF5AE6F75D6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2442F1F-4860-C621-B70B-163279B1D227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8AE7EB-DE7D-B633-0E65-066A8F3646DC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8F66DEDC-0D92-9963-552F-DF7DF6384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Merging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1BE682CE-E231-2BE7-7D8A-F5433B82CC91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/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/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/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A3419F-07C6-F42F-865F-B8A58659B71B}"/>
              </a:ext>
            </a:extLst>
          </p:cNvPr>
          <p:cNvCxnSpPr>
            <a:cxnSpLocks/>
          </p:cNvCxnSpPr>
          <p:nvPr/>
        </p:nvCxnSpPr>
        <p:spPr>
          <a:xfrm>
            <a:off x="1727603" y="2104229"/>
            <a:ext cx="392180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09577E-80C4-7EC2-603E-FC85104FF282}"/>
              </a:ext>
            </a:extLst>
          </p:cNvPr>
          <p:cNvCxnSpPr>
            <a:cxnSpLocks/>
          </p:cNvCxnSpPr>
          <p:nvPr/>
        </p:nvCxnSpPr>
        <p:spPr>
          <a:xfrm>
            <a:off x="1679657" y="3121789"/>
            <a:ext cx="395001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579582-E2B7-2170-0EDD-E29A655CD16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209335" y="2390917"/>
            <a:ext cx="779426" cy="26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896A8F-ABE0-DD98-AAAD-8A0F1BA36C2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196958" y="2651602"/>
            <a:ext cx="791803" cy="1851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/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/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/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/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/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(no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blipFill>
                <a:blip r:embed="rId9"/>
                <a:stretch>
                  <a:fillRect l="-731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/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(downstream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blipFill>
                <a:blip r:embed="rId10"/>
                <a:stretch>
                  <a:fillRect l="-731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/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/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/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/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/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/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85A0B25-5B5C-19E0-4F4D-FA435B9A8311}"/>
              </a:ext>
            </a:extLst>
          </p:cNvPr>
          <p:cNvCxnSpPr>
            <a:cxnSpLocks/>
          </p:cNvCxnSpPr>
          <p:nvPr/>
        </p:nvCxnSpPr>
        <p:spPr>
          <a:xfrm>
            <a:off x="1700178" y="2394111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C1CEE69-2BFC-05F3-0BE6-9CC08B35296D}"/>
              </a:ext>
            </a:extLst>
          </p:cNvPr>
          <p:cNvCxnSpPr>
            <a:cxnSpLocks/>
          </p:cNvCxnSpPr>
          <p:nvPr/>
        </p:nvCxnSpPr>
        <p:spPr>
          <a:xfrm>
            <a:off x="1688512" y="283012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164AA78-A1C0-B407-3093-B51144C8D2B9}"/>
              </a:ext>
            </a:extLst>
          </p:cNvPr>
          <p:cNvCxnSpPr>
            <a:cxnSpLocks/>
          </p:cNvCxnSpPr>
          <p:nvPr/>
        </p:nvCxnSpPr>
        <p:spPr>
          <a:xfrm>
            <a:off x="5174467" y="2651602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81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FA59F9-A18D-1D16-72A2-81300BB8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C3159ED-D285-84F7-9178-F9410128B1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/>
              <a:t>Methodology</a:t>
            </a:r>
            <a:endParaRPr lang="zh-CN" altLang="en-US" dirty="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3018DB9-1D63-E8E4-BCC3-A0BAC99D6B91}"/>
              </a:ext>
            </a:extLst>
          </p:cNvPr>
          <p:cNvGrpSpPr/>
          <p:nvPr/>
        </p:nvGrpSpPr>
        <p:grpSpPr>
          <a:xfrm>
            <a:off x="-9525" y="742951"/>
            <a:ext cx="12201525" cy="400110"/>
            <a:chOff x="-9525" y="742951"/>
            <a:chExt cx="12201525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F72D875-1061-4425-EA52-36BB6041927B}"/>
                </a:ext>
              </a:extLst>
            </p:cNvPr>
            <p:cNvSpPr txBox="1"/>
            <p:nvPr/>
          </p:nvSpPr>
          <p:spPr>
            <a:xfrm>
              <a:off x="-9525" y="742951"/>
              <a:ext cx="19145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Overview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A1C816E-3EFA-4B7C-E61C-1B3EB44360B9}"/>
                </a:ext>
              </a:extLst>
            </p:cNvPr>
            <p:cNvSpPr txBox="1"/>
            <p:nvPr/>
          </p:nvSpPr>
          <p:spPr>
            <a:xfrm>
              <a:off x="1905001" y="742951"/>
              <a:ext cx="3181349" cy="400110"/>
            </a:xfrm>
            <a:prstGeom prst="rect">
              <a:avLst/>
            </a:prstGeom>
            <a:solidFill>
              <a:srgbClr val="101010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rgbClr val="AE976B"/>
                  </a:solidFill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Cell Transmission Model</a:t>
              </a:r>
              <a:endParaRPr lang="zh-CN" altLang="en-US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58E358B-AD29-FEA4-2F53-4358B75E14D8}"/>
                </a:ext>
              </a:extLst>
            </p:cNvPr>
            <p:cNvSpPr txBox="1"/>
            <p:nvPr/>
          </p:nvSpPr>
          <p:spPr>
            <a:xfrm>
              <a:off x="5086350" y="742951"/>
              <a:ext cx="29432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Travel Cost Prediction</a:t>
              </a:r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8CFA5E9E-F689-8A54-DD90-54EEF231BF61}"/>
                </a:ext>
              </a:extLst>
            </p:cNvPr>
            <p:cNvSpPr txBox="1"/>
            <p:nvPr/>
          </p:nvSpPr>
          <p:spPr>
            <a:xfrm>
              <a:off x="8029575" y="742951"/>
              <a:ext cx="41624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Amasis MT Pro Medium" panose="02040604050005020304" pitchFamily="18" charset="0"/>
                </a:rPr>
                <a:t>D-VRP &amp; Coverage Optimization</a:t>
              </a:r>
              <a:endParaRPr lang="zh-CN" altLang="en-US" sz="2000" dirty="0">
                <a:latin typeface="Amasis MT Pro Medium" panose="020406040500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/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/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/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BFE1FBD-A78A-B45A-09EC-95EBB8D7A368}"/>
              </a:ext>
            </a:extLst>
          </p:cNvPr>
          <p:cNvCxnSpPr>
            <a:cxnSpLocks/>
          </p:cNvCxnSpPr>
          <p:nvPr/>
        </p:nvCxnSpPr>
        <p:spPr>
          <a:xfrm>
            <a:off x="1736914" y="1933033"/>
            <a:ext cx="39126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6F46429B-07D4-D3DD-6E3E-C2F82D1C953F}"/>
              </a:ext>
            </a:extLst>
          </p:cNvPr>
          <p:cNvCxnSpPr>
            <a:cxnSpLocks/>
          </p:cNvCxnSpPr>
          <p:nvPr/>
        </p:nvCxnSpPr>
        <p:spPr>
          <a:xfrm>
            <a:off x="1736914" y="2897969"/>
            <a:ext cx="39192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2B4B9090-2FDC-E2D6-1F64-87F1DA28C9CC}"/>
              </a:ext>
            </a:extLst>
          </p:cNvPr>
          <p:cNvCxnSpPr>
            <a:cxnSpLocks/>
            <a:stCxn id="199" idx="3"/>
            <a:endCxn id="201" idx="1"/>
          </p:cNvCxnSpPr>
          <p:nvPr/>
        </p:nvCxnSpPr>
        <p:spPr>
          <a:xfrm flipV="1">
            <a:off x="3217579" y="2211128"/>
            <a:ext cx="947661" cy="17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75A14E33-2194-5BE8-2D82-79C718024F3C}"/>
              </a:ext>
            </a:extLst>
          </p:cNvPr>
          <p:cNvCxnSpPr>
            <a:cxnSpLocks/>
            <a:stCxn id="199" idx="3"/>
            <a:endCxn id="200" idx="1"/>
          </p:cNvCxnSpPr>
          <p:nvPr/>
        </p:nvCxnSpPr>
        <p:spPr>
          <a:xfrm>
            <a:off x="3217579" y="2383755"/>
            <a:ext cx="941081" cy="2607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/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/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/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/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/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/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/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/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52893BB-D9FC-D9A1-8FED-E6BCE9DBA306}"/>
              </a:ext>
            </a:extLst>
          </p:cNvPr>
          <p:cNvCxnSpPr>
            <a:cxnSpLocks/>
          </p:cNvCxnSpPr>
          <p:nvPr/>
        </p:nvCxnSpPr>
        <p:spPr>
          <a:xfrm>
            <a:off x="1736914" y="238375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89E996DD-10E0-8E30-344F-079A9728F826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5350946" y="2211128"/>
            <a:ext cx="3052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A41F2637-D2F2-2183-CD08-93540F5FA532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5344366" y="2644500"/>
            <a:ext cx="3052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文本占位符 5">
            <a:extLst>
              <a:ext uri="{FF2B5EF4-FFF2-40B4-BE49-F238E27FC236}">
                <a16:creationId xmlns:a16="http://schemas.microsoft.com/office/drawing/2014/main" id="{853F43F2-4E6A-FBFD-C07F-B587F8A85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/>
              <a:t>Diverging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AAD752F-F4AB-2C56-9F4F-9EA416F03FAF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617192B2-111B-7C2F-7918-360ADB3AA9FC}"/>
              </a:ext>
            </a:extLst>
          </p:cNvPr>
          <p:cNvSpPr txBox="1"/>
          <p:nvPr/>
        </p:nvSpPr>
        <p:spPr>
          <a:xfrm>
            <a:off x="7043161" y="1519526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intersection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041463A6-C1AD-A67F-5449-4BD690FD561C}"/>
              </a:ext>
            </a:extLst>
          </p:cNvPr>
          <p:cNvSpPr txBox="1"/>
          <p:nvPr/>
        </p:nvSpPr>
        <p:spPr>
          <a:xfrm>
            <a:off x="7043161" y="3566707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link-diverge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/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/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/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blipFill>
                <a:blip r:embed="rId15"/>
                <a:stretch>
                  <a:fillRect r="-24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84359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   August 2026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Learning to Route for Sensing Coverage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A neural amortised solver for budget-constrained fleet routing — method and results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202608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• The problem and the network</a:t>
            </a:r>
          </a:p>
          <a:p>
            <a:pPr>
              <a:defRPr sz="1600" b="1"/>
            </a:pPr>
            <a:r>
              <a:t>• Change (a) — the objective: before vs now · why the weight is a switch (rigorous) · how each budget Bᵥ is set</a:t>
            </a:r>
          </a:p>
          <a:p>
            <a:pPr>
              <a:defRPr sz="1600" b="0"/>
            </a:pPr>
            <a:r>
              <a:t>• Where this sits in the literature — setting comparison</a:t>
            </a:r>
          </a:p>
          <a:p>
            <a:pPr>
              <a:defRPr sz="1600" b="0"/>
            </a:pPr>
            <a:r>
              <a:t>• Pipelines: training  ·  case-by-case generation</a:t>
            </a:r>
          </a:p>
          <a:p>
            <a:pPr>
              <a:defRPr sz="1600" b="1"/>
            </a:pPr>
            <a:r>
              <a:t>• Change (b) — the model: overview + encoder + decoder (editable diagrams)</a:t>
            </a:r>
          </a:p>
          <a:p>
            <a:pPr>
              <a:defRPr sz="1600" b="0"/>
            </a:pPr>
            <a:r>
              <a:t>• Evaluation design and results (3 seeds, 2 300 held-out cases)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The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Definition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One case (an 'operating day'): congestion δ ∈ {0,1}⁸⁰ per directed link · V vehicles · per-vehicle task (origin gate o, destination gate d, departure t₀, budget B)</a:t>
            </a:r>
          </a:p>
          <a:p>
            <a:pPr>
              <a:defRPr sz="1400" b="0"/>
            </a:pPr>
            <a:r>
              <a:t>• Vehicles run SIMULTANEOUSLY on one timeline. Entering link i at time t occupies space–time cells (i, t … t+c−1), with travel time c(i,t) = (base(i)+t)//4 + 1 + δᵢ</a:t>
            </a:r>
          </a:p>
          <a:p>
            <a:pPr>
              <a:defRPr sz="1400" b="1"/>
            </a:pPr>
            <a:r>
              <a:t>• Objective: maximise the fleet's sensing coverage (union of occupied cells — overlap counts once), pay for travel, respect each vehicle's own budget (next slide, spelled out)</a:t>
            </a:r>
          </a:p>
          <a:p>
            <a:pPr>
              <a:defRPr sz="1400" b="0"/>
            </a:pPr>
            <a:r>
              <a:t>• Bᵥ = the vehicle's shift length / remaining energy;  α = 0.3 / 0.7</a:t>
            </a:r>
          </a:p>
          <a:p>
            <a:pPr>
              <a:defRPr sz="1400" b="1"/>
            </a:pPr>
            <a:r>
              <a:t>• Taxonomy: budget-constrained, selective, max-utility fleet routing = TEAM-ORIENTEERING type — not a visit-all min-cost CVRP</a:t>
            </a:r>
          </a:p>
          <a:p>
            <a:pPr>
              <a:defRPr sz="1400" b="0"/>
            </a:pPr>
            <a:r>
              <a:t>• Gurobi solves it exactly (multi-commodity time-expanded flow) and is the source of training labels AND the benchmark; the learned model replaces per-case solving at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The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Network &amp; instances</a:t>
            </a:r>
            <a:endParaRPr lang="zh-CN" altLang="en-US" sz="2800" dirty="0"/>
          </a:p>
        </p:txBody>
      </p:sp>
      <p:pic>
        <p:nvPicPr>
          <p:cNvPr id="204" name="Picture 203" descr="fig0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371600"/>
            <a:ext cx="8595360" cy="4072892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35931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/>
            </a:pPr>
            <a:r>
              <a:t>• Fixed bidirectional 4×4: 80 directed links, no U-turns · 8 gates (4 corners + 4 edge midpoints) · all 56 ordered OD pairs feasible (heatmap) · horizon H = 338</a:t>
            </a:r>
          </a:p>
          <a:p>
            <a:pPr>
              <a:defRPr sz="1250" b="1"/>
            </a:pPr>
            <a:r>
              <a:t>• The network and the OD set are FIXED; what varies per case is δ, V, and each vehicle's (o, d, t₀, 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(a) — objective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Objective, before vs now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8580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2514E"/>
                </a:solidFill>
              </a:defRPr>
            </a:pPr>
            <a:r>
              <a:t>BEFORE — weight-controlled, one global horizon H</a:t>
            </a:r>
          </a:p>
        </p:txBody>
      </p:sp>
      <p:pic>
        <p:nvPicPr>
          <p:cNvPr id="205" name="Picture 204" descr="eq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565" y="1783080"/>
            <a:ext cx="5766564" cy="566928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685800" y="2606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6834"/>
                </a:solidFill>
              </a:defRPr>
            </a:pPr>
            <a:r>
              <a:t>NOW — budget-controlled, per-vehicle deadline (objective terms unchanged)</a:t>
            </a:r>
          </a:p>
        </p:txBody>
      </p:sp>
      <p:pic>
        <p:nvPicPr>
          <p:cNvPr id="207" name="Picture 206" descr="eq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611" y="2971800"/>
            <a:ext cx="6338472" cy="658368"/>
          </a:xfrm>
          <a:prstGeom prst="rect">
            <a:avLst/>
          </a:prstGeom>
        </p:spPr>
      </p:pic>
      <p:graphicFrame>
        <p:nvGraphicFramePr>
          <p:cNvPr id="208" name="Table 207"/>
          <p:cNvGraphicFramePr>
            <a:graphicFrameLocks noGrp="1"/>
          </p:cNvGraphicFramePr>
          <p:nvPr/>
        </p:nvGraphicFramePr>
        <p:xfrm>
          <a:off x="1234440" y="4069080"/>
          <a:ext cx="9692640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0B0B"/>
                          </a:solidFill>
                        </a:defRPr>
                      </a:pPr>
                      <a:r>
                        <a:t>what changed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B0B0B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B0B0B"/>
                          </a:solidFill>
                        </a:defRPr>
                      </a:pPr>
                      <a:r>
                        <a:t>now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control variable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weight α₂ (a preference)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per-vehicle budget Bᵥ (a physical resource)</a:t>
                      </a:r>
                    </a:p>
                  </a:txBody>
                  <a:tcPr marL="45720" marR="45720" marT="13716" marB="13716"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hard constraint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arrive by the global horizon H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arrive by own deadline t₀ᵥ + Bᵥ</a:t>
                      </a:r>
                    </a:p>
                  </a:txBody>
                  <a:tcPr marL="45720" marR="45720" marT="13716" marB="13716"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normaliser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V · H  (fleet × horizon)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Σᵥ Bᵥ  (available driving time); cov ≤ cost ≤ Σᵥ Bᵥ keeps both terms in (0,1]</a:t>
                      </a:r>
                    </a:p>
                  </a:txBody>
                  <a:tcPr marL="45720" marR="45720" marT="13716" marB="13716"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solution response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0B0B"/>
                          </a:solidFill>
                        </a:defRPr>
                      </a:pPr>
                      <a:r>
                        <a:t>step function of α₂ (next 3 slides)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0B0B"/>
                          </a:solidFill>
                        </a:defRPr>
                      </a:pPr>
                      <a:r>
                        <a:t>monotone in Bᵥ — a usable dial</a:t>
                      </a:r>
                    </a:p>
                  </a:txBody>
                  <a:tcPr marL="45720" marR="45720" marT="13716" marB="13716" anchor="ctr"/>
                </a:tc>
              </a:tr>
            </a:tbl>
          </a:graphicData>
        </a:graphic>
      </p:graphicFrame>
      <p:sp>
        <p:nvSpPr>
          <p:cNvPr id="209" name="TextBox 208"/>
          <p:cNvSpPr txBox="1"/>
          <p:nvPr/>
        </p:nvSpPr>
        <p:spPr>
          <a:xfrm>
            <a:off x="1874519" y="614476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/>
            </a:pPr>
            <a:r>
              <a:t>• Verified reduction: at Bᵥ ≥ H the new MILP returns the old one's solution link-for-link — a strict generalisation, not a different problem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(a) — objective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Why α is a switch — proof I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85800" y="1371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2514E"/>
                </a:solidFill>
              </a:defRPr>
            </a:pPr>
            <a:r>
              <a:t>Setup.  For a fixed instance (network, δ, tasks, deadlines), a feasible solution R = (R₁ … R_V):</a:t>
            </a:r>
          </a:p>
        </p:txBody>
      </p:sp>
      <p:pic>
        <p:nvPicPr>
          <p:cNvPr id="205" name="Picture 204" descr="eq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66" y="1737360"/>
            <a:ext cx="8147962" cy="475488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685800" y="23957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2514E"/>
                </a:solidFill>
              </a:defRPr>
            </a:pPr>
            <a:r>
              <a:t>Lemma (cell accounting).  Each time-step of travel occupies exactly one (link, time) cell, and the union counts every cell once. Hence</a:t>
            </a:r>
          </a:p>
        </p:txBody>
      </p:sp>
      <p:pic>
        <p:nvPicPr>
          <p:cNvPr id="207" name="Picture 206" descr="eq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289" y="2798064"/>
            <a:ext cx="8021117" cy="310896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685800" y="32461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14E"/>
                </a:solidFill>
              </a:defRPr>
            </a:pPr>
            <a:r>
              <a:t>Measured on all 10 780 optimal labels: median K/C = 0.999; K = C exactly (zero overlap) in 84–93 % per shard — the zero-overlap regime is the TYPICAL one, not a corner case.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5800" y="3931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52514E"/>
                </a:solidFill>
              </a:defRPr>
            </a:pPr>
            <a:r>
              <a:t>Theorem (collapse in the zero-overlap regime).  If K(R) = C(R) for the instance's candidate solutions, the objective degenerates to a single scalar multiple of total travel:</a:t>
            </a:r>
          </a:p>
        </p:txBody>
      </p:sp>
      <p:pic>
        <p:nvPicPr>
          <p:cNvPr id="210" name="Picture 209" descr="eq_collap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969" y="4462272"/>
            <a:ext cx="4843756" cy="475488"/>
          </a:xfrm>
          <a:prstGeom prst="rect">
            <a:avLst/>
          </a:prstGeom>
        </p:spPr>
      </p:pic>
      <p:sp>
        <p:nvSpPr>
          <p:cNvPr id="211" name="TextBox 210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• Minimising it therefore means:  α₂ &lt; α₁ → minimise C (min-time routes) ·  α₂ &gt; α₁ → MAXIMISE C (fill the budget) ·  α₂ = α₁ → every feasible solution ties (total degeneracy)</a:t>
            </a:r>
          </a:p>
          <a:p>
            <a:pPr>
              <a:defRPr sz="1200" b="1"/>
            </a:pPr>
            <a:r>
              <a:t>• The map  α₂ ↦ optimal-solution set  is a STEP function with its only jump at α₂/α₁ = 1. No value of α₂ selects anything between the two extremes — and this is independent of any normaliser N</a:t>
            </a:r>
          </a:p>
          <a:p>
            <a:pPr>
              <a:defRPr sz="1200" b="0"/>
            </a:pPr>
            <a:r>
              <a:t>• α's only residual role: for α₂ &lt; α₁ it breaks ties AMONG min-cost solutions (more coverage preferred at equal cost)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(a) — objective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Why α is a switch — proof II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85800" y="1371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2514E"/>
                </a:solidFill>
              </a:defRPr>
            </a:pPr>
            <a:r>
              <a:t>Proposition A (the cost regime is robust).  Let C* = min feasible cost and K₀ = best coverage among min-cost solutions. Using K ≤ C:</a:t>
            </a:r>
          </a:p>
        </p:txBody>
      </p:sp>
      <p:pic>
        <p:nvPicPr>
          <p:cNvPr id="205" name="Picture 204" descr="eq_pr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499" y="1773936"/>
            <a:ext cx="5322696" cy="475488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640080" y="239572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/>
            </a:pPr>
            <a:r>
              <a:t>• Proof: f(R) ≥ (α₁−α₂)C(R)/N for every R, while the best min-cost solution attains (α₁C* − α₂K₀)/N; compare. If a min-cost solution has zero overlap (K₀ = C*), the threshold is 0: EVERY optimum is min-cost — overlap only shifts the switch point, it cannot create interior positions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3127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2514E"/>
                </a:solidFill>
              </a:defRPr>
            </a:pPr>
            <a:r>
              <a:t>Proposition B (the roam regime saturates the budget).  A deadline-feasible detour of length k with ΔK fresh cells changes the objective by</a:t>
            </a:r>
          </a:p>
        </p:txBody>
      </p:sp>
      <p:pic>
        <p:nvPicPr>
          <p:cNvPr id="208" name="Picture 207" descr="eq_p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974" y="3529584"/>
            <a:ext cx="4659745" cy="457200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640080" y="4133087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• For α₂ &gt; α₁ every FULLY-fresh detour (ΔK = k) strictly improves — so at any optimum, no vehicle can still afford one: budgets bind. The threshold ΔK/k &gt; α₁/α₂ also explains why solutions barely move across α₂ ∈ [0.52, 0.90] in the zero-overlap regime</a:t>
            </a:r>
          </a:p>
          <a:p>
            <a:pPr>
              <a:defRPr sz="1200" b="1"/>
            </a:pPr>
            <a:r>
              <a:t>• Conclusion: α selects one of two regimes; the quantity that positions a solution INSIDE the roam regime is the budget. C*(B) grows monotonically in bounded increments as B grows — a graded, learnable response</a:t>
            </a:r>
          </a:p>
          <a:p>
            <a:pPr>
              <a:defRPr sz="1200" b="0"/>
            </a:pPr>
            <a:r>
              <a:t>• That is change (a): keep α fixed (0.3/0.7, roam regime), move the control to the constraint — the per-vehicle budget Bᵥ. Next slide: both claims measured on one instance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(a) — objective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Switch vs dial — measured</a:t>
            </a:r>
            <a:endParaRPr lang="zh-CN" altLang="en-US" sz="2800" dirty="0"/>
          </a:p>
        </p:txBody>
      </p:sp>
      <p:pic>
        <p:nvPicPr>
          <p:cNvPr id="204" name="Picture 203" descr="figS1_knob_vs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4060090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2312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/>
            </a:pPr>
            <a:r>
              <a:t>• One fixed instance, one MILP, one solver, MIPGap 0.5 %. LEFT: 13 values of α₂ with the budget fixed at H → 2 distinct solutions (α₂ = 0.10–0.48 identical link-for-link). RIGHT: α frozen at 0.3/0.7, per-vehicle budget swept → 10 distinct, monotone solutions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(a) — objective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How Bᵥ is set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85800" y="1371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52514E"/>
                </a:solidFill>
              </a:defRPr>
            </a:pPr>
            <a:r>
              <a:t>Bᵥ is NOT a fixed constant — it is derived per vehicle, per instance, from a slack ratio ρᵥ:</a:t>
            </a:r>
          </a:p>
        </p:txBody>
      </p:sp>
      <p:pic>
        <p:nvPicPr>
          <p:cNvPr id="205" name="Picture 204" descr="eq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65" y="1737360"/>
            <a:ext cx="4953965" cy="365760"/>
          </a:xfrm>
          <a:prstGeom prst="rect">
            <a:avLst/>
          </a:prstGeom>
        </p:spPr>
      </p:pic>
      <p:pic>
        <p:nvPicPr>
          <p:cNvPr id="206" name="Picture 205" descr="eq_tau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544" y="2212848"/>
            <a:ext cx="8354607" cy="329184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640080" y="2724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/>
            </a:pPr>
            <a:r>
              <a:t>• Step 1 — draw the slack ratio ρᵥ.  Training farm: per vehicle from the anchors {1.0, 1.5, 2.0, 3.0}; in 35 % of fleets all vehicles share one ρ (homogeneous), in 65 % each vehicle draws its own (heterogeneous). At TEST time ρ is arbitrary — including values never seen in training ({1.25, 1.75} interpolation, 4.0 extrapolation)</a:t>
            </a:r>
          </a:p>
          <a:p>
            <a:pPr>
              <a:defRPr sz="1250" b="0"/>
            </a:pPr>
            <a:r>
              <a:t>• Step 2 — compute the feasibility floor τᵐⁱⁿᵥ.  Earliest arrival o→d departing at t₀ under THIS instance's congestion δ (time-dependent Dijkstra) — instance-specific, not a table lookup</a:t>
            </a:r>
          </a:p>
          <a:p>
            <a:pPr>
              <a:defRPr sz="1250" b="0"/>
            </a:pPr>
            <a:r>
              <a:t>• Step 3 — Bᵥ = ⌈ρᵥ · τᵐⁱⁿᵥ⌉, floored at τᵐⁱⁿᵥ (a task is never born infeasible) and capped at H − t₀ᵥ (never beyond the coverage grid)</a:t>
            </a:r>
          </a:p>
          <a:p>
            <a:pPr>
              <a:defRPr sz="1250" b="1"/>
            </a:pPr>
            <a:r>
              <a:t>• Why a RATIO and not an absolute number: the same B = 100 is vacuous for a near OD (τᵐⁱⁿ = 14) and infeasible for a far one (τᵐⁱⁿ = 120). ρ is comparable across all ODs:  ρ = 1 ⇔ exactly the min-time trip;  ρ = 2 ⇔ twice the minimum time</a:t>
            </a:r>
          </a:p>
          <a:p>
            <a:pPr>
              <a:defRPr sz="1250" b="0"/>
            </a:pPr>
            <a:r>
              <a:t>• Worked example (the sweep instance, V = 3, τᵐⁱⁿ = [38, 120, 14]):  ρ = 1.5 for all ⇒  B = [57, 180, 21] — same slack semantics, very different absolute budgets</a:t>
            </a:r>
          </a:p>
          <a:p>
            <a:pPr>
              <a:defRPr sz="1250" b="1"/>
            </a:pPr>
            <a:r>
              <a:t>• Bᵥ then enters BOTH sides of the pipeline: the MILP constraint (labels) and the model input (conditioning) + the decoder feasibility mask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Setting comparison</a:t>
            </a:r>
            <a:endParaRPr lang="zh-CN" altLang="en-US" sz="2800" dirty="0"/>
          </a:p>
        </p:txBody>
      </p:sp>
      <p:graphicFrame>
        <p:nvGraphicFramePr>
          <p:cNvPr id="204" name="Table 203"/>
          <p:cNvGraphicFramePr>
            <a:graphicFrameLocks noGrp="1"/>
          </p:cNvGraphicFramePr>
          <p:nvPr/>
        </p:nvGraphicFramePr>
        <p:xfrm>
          <a:off x="502920" y="1417320"/>
          <a:ext cx="11201400" cy="44256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8920"/>
                <a:gridCol w="1188720"/>
                <a:gridCol w="1298448"/>
                <a:gridCol w="1298448"/>
                <a:gridCol w="1170432"/>
                <a:gridCol w="1298448"/>
                <a:gridCol w="1170432"/>
                <a:gridCol w="987552"/>
              </a:tblGrid>
              <a:tr h="40233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selective</a:t>
                      </a:r>
                      <a:br/>
                      <a:r>
                        <a:t>(not visit-all)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per-vehicle</a:t>
                      </a:r>
                      <a:br/>
                      <a:r>
                        <a:t>(o,d,t₀,B)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arc-level fixed</a:t>
                      </a:r>
                      <a:br/>
                      <a:r>
                        <a:t>network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time-dep.</a:t>
                      </a:r>
                      <a:br/>
                      <a:r>
                        <a:t>travel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space–time</a:t>
                      </a:r>
                      <a:br/>
                      <a:r>
                        <a:t>coverage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learned</a:t>
                      </a:r>
                      <a:br/>
                      <a:r>
                        <a:t>amortised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B0B0B"/>
                          </a:solidFill>
                        </a:defRPr>
                      </a:pPr>
                      <a:r>
                        <a:t>budget</a:t>
                      </a:r>
                      <a:br/>
                      <a:r>
                        <a:t>0-shot</a:t>
                      </a:r>
                    </a:p>
                  </a:txBody>
                  <a:tcPr marL="45720" marR="45720" marT="13716" marB="13716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Kool AM '19 (OP)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TOP-Former '25 (TOP)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budget only,</a:t>
                      </a:r>
                      <a:br/>
                      <a:r>
                        <a:t>homog.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UAS-MSTOP '23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start + fuel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MTPOMO / MVMoE / RouteFinder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L / O attrs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variant-</a:t>
                      </a:r>
                      <a:br/>
                      <a:r>
                        <a:t>level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GOAL '25 (incl. OP task)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FM-MCVRP '24 (fixed graph SL)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fixed graph,</a:t>
                      </a:r>
                      <a:br/>
                      <a:r>
                        <a:t>nodes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SED2AM '25 (TD-VRP)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road data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Neural CARP '19–'26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0B0B0B"/>
                          </a:solidFill>
                        </a:defRPr>
                      </a:pPr>
                      <a:r>
                        <a:t>Drive-by sensing OR (Han'24, Chen'24, Zhu'14)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52514E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3716" marB="13716"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EB6834"/>
                          </a:solidFill>
                        </a:defRPr>
                      </a:pPr>
                      <a:r>
                        <a:t>OURS (benchmark v1)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13716" marB="13716" anchor="ctr"/>
                </a:tc>
              </a:tr>
            </a:tbl>
          </a:graphicData>
        </a:graphic>
      </p:graphicFrame>
      <p:sp>
        <p:nvSpPr>
          <p:cNvPr id="205" name="TextBox 204"/>
          <p:cNvSpPr txBox="1"/>
          <p:nvPr/>
        </p:nvSpPr>
        <p:spPr>
          <a:xfrm>
            <a:off x="1874519" y="605332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• No existing work is identical: every neighbour misses ≥ 2 columns. The application shelf (bottom) has the right problem but no learning; the neural shelves have learning but not this problem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Neighbours vs ours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/>
            </a:pPr>
            <a:r>
              <a:t>• Closest three, and exactly what they miss:</a:t>
            </a:r>
          </a:p>
          <a:p>
            <a:pPr>
              <a:defRPr sz="1100" b="0"/>
            </a:pPr>
            <a:r>
              <a:t>   – TOP-Former (closest neural): team + per-vehicle budget MASKING — but one shared depot, homogeneous budget, synchronized start, Euclidean nodes, static prizes, RL</a:t>
            </a:r>
          </a:p>
          <a:p>
            <a:pPr>
              <a:defRPr sz="1100" b="0"/>
            </a:pPr>
            <a:r>
              <a:t>   – FM-MCVRP (closest recipe): fixed graph + SL + joint fleet sequence — but visit-all min-cost CVRP, no budgets, no time dependence, deliberately sub-optimal labels</a:t>
            </a:r>
          </a:p>
          <a:p>
            <a:pPr>
              <a:defRPr sz="1100" b="0"/>
            </a:pPr>
            <a:r>
              <a:t>   – Han et al. '24 TR-B (closest problem): space–time sensing utility + budget on real networks — but pure OR, per-instance solving, no learned router at all</a:t>
            </a:r>
          </a:p>
          <a:p>
            <a:pPr>
              <a:defRPr sz="1250" b="1"/>
            </a:pPr>
            <a:r>
              <a:t>• Honesty box — every ingredient of our network exists somewhere: mask kernel (Kool), attribute conditioning (MTPOMO / RouteFinder), fixed-graph SL + joint sequence (FM-MCVRP), centralized team decoding (TOP-Former)</a:t>
            </a:r>
          </a:p>
          <a:p>
            <a:pPr>
              <a:defRPr sz="1250" b="1"/>
            </a:pPr>
            <a:r>
              <a:t>• What is ours: (C1) the first learned amortised solver for THIS problem class — budget-constrained team sensing-coverage routing, arc-level, time-dependent — the bridge between the two shelves</a:t>
            </a:r>
          </a:p>
          <a:p>
            <a:pPr>
              <a:defRPr sz="1100" b="0"/>
            </a:pPr>
            <a:r>
              <a:t>   – (C2) the switch-vs-dial analysis: exact characterisation of when a scalarisation weight cannot position solutions, and the constructive replacement (budget in the constraint)</a:t>
            </a:r>
          </a:p>
          <a:p>
            <a:pPr>
              <a:defRPr sz="1100" b="0"/>
            </a:pPr>
            <a:r>
              <a:t>   – (C3) value-level zero-shot evaluation: unseen CONTINUOUS budgets (interp + extrap) + a solver-tracked response curve — extends the variant-level zero-shot of MTPOMO / RouteFinder</a:t>
            </a:r>
          </a:p>
          <a:p>
            <a:pPr>
              <a:defRPr sz="1250" b="0"/>
            </a:pPr>
            <a:r>
              <a:t>• Threats we track: uniform-utility degeneracy (wᵢ pending) · toy scale (80 links) · greedy-only decoding · fast-moving neighbours (DeCoST ICLR'26)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Pipeline 1 /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Training (offline, run once)</a:t>
            </a:r>
            <a:endParaRPr lang="zh-CN" altLang="en-US" sz="2800" dirty="0"/>
          </a:p>
        </p:txBody>
      </p:sp>
      <p:sp>
        <p:nvSpPr>
          <p:cNvPr id="204" name="Rounded Rectangle 203"/>
          <p:cNvSpPr/>
          <p:nvPr/>
        </p:nvSpPr>
        <p:spPr>
          <a:xfrm>
            <a:off x="502920" y="1417320"/>
            <a:ext cx="2048256" cy="10058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Environment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fixed 4×4 · 80 links</a:t>
            </a:r>
            <a:br/>
            <a:r>
              <a:t>c(i,t) time-dependent</a:t>
            </a:r>
            <a:br/>
            <a:r>
              <a:t>TD-Dijkstra oracle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2734056" y="1417320"/>
            <a:ext cx="2048256" cy="10058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Case sampler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δ ~ {0,1}⁸⁰ · V ∈ {2,3,4,6}</a:t>
            </a:r>
            <a:br/>
            <a:r>
              <a:t>ODs stratified + 4 held out</a:t>
            </a:r>
            <a:br/>
            <a:r>
              <a:t>t₀ ∈ {0…5}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965192" y="1417320"/>
            <a:ext cx="2048256" cy="100584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Budget assignment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ρᵥ ~ anchors {1, 1.5, 2, 3}</a:t>
            </a:r>
            <a:br/>
            <a:r>
              <a:t>Bᵥ = ⌈ρᵥ·τᵐⁱⁿᵥ⌉</a:t>
            </a:r>
            <a:br/>
            <a:r>
              <a:t>65 % heterogeneous fleets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196328" y="1417320"/>
            <a:ext cx="2048256" cy="10058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2A78D6"/>
                </a:solidFill>
              </a:defRPr>
            </a:pPr>
            <a:r>
              <a:t>Gurobi MILP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time-expanded flow</a:t>
            </a:r>
            <a:br/>
            <a:r>
              <a:t>per-vehicle deadline t₀+B</a:t>
            </a:r>
            <a:br/>
            <a:r>
              <a:t>MIPGap 2 % · 0.90 s/case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427464" y="1417320"/>
            <a:ext cx="2048256" cy="10058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Label set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10 780 (case, routes)</a:t>
            </a:r>
            <a:br/>
            <a:r>
              <a:t>0 errors · 0 hit the cap</a:t>
            </a:r>
            <a:br/>
            <a:r>
              <a:t>~17 min · 15 workers</a:t>
            </a:r>
          </a:p>
        </p:txBody>
      </p:sp>
      <p:cxnSp>
        <p:nvCxnSpPr>
          <p:cNvPr id="209" name="Connector 208"/>
          <p:cNvCxnSpPr>
            <a:stCxn id="204" idx="3"/>
            <a:endCxn id="205" idx="1"/>
          </p:cNvCxnSpPr>
          <p:nvPr/>
        </p:nvCxnSpPr>
        <p:spPr>
          <a:xfrm flipV="1">
            <a:off x="2551176" y="1920240"/>
            <a:ext cx="18288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>
            <a:stCxn id="205" idx="3"/>
            <a:endCxn id="206" idx="1"/>
          </p:cNvCxnSpPr>
          <p:nvPr/>
        </p:nvCxnSpPr>
        <p:spPr>
          <a:xfrm flipV="1">
            <a:off x="4782312" y="1920240"/>
            <a:ext cx="18288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>
            <a:stCxn id="206" idx="3"/>
            <a:endCxn id="207" idx="1"/>
          </p:cNvCxnSpPr>
          <p:nvPr/>
        </p:nvCxnSpPr>
        <p:spPr>
          <a:xfrm flipV="1">
            <a:off x="7013448" y="1920240"/>
            <a:ext cx="18288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>
            <a:stCxn id="207" idx="3"/>
            <a:endCxn id="208" idx="1"/>
          </p:cNvCxnSpPr>
          <p:nvPr/>
        </p:nvCxnSpPr>
        <p:spPr>
          <a:xfrm flipV="1">
            <a:off x="9244584" y="1920240"/>
            <a:ext cx="18288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2"/>
          <p:cNvSpPr/>
          <p:nvPr/>
        </p:nvSpPr>
        <p:spPr>
          <a:xfrm>
            <a:off x="502920" y="3063240"/>
            <a:ext cx="2615184" cy="10058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Tokenise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[BOS v₁-links SEP v₂-links</a:t>
            </a:r>
            <a:br/>
            <a:r>
              <a:t>SEP … EOS] · vocab 84</a:t>
            </a:r>
            <a:br/>
            <a:r>
              <a:t>one string = whole fleet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3319272" y="3063240"/>
            <a:ext cx="2615184" cy="10058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Teacher forcing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predict the next link token</a:t>
            </a:r>
            <a:br/>
            <a:r>
              <a:t>cross-entropy (PAD ignored)</a:t>
            </a:r>
            <a:br/>
            <a:r>
              <a:t>AdamW 3e-4 · batch 32 · 60 ep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135624" y="3063240"/>
            <a:ext cx="2615184" cy="100584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Select by GENERATION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each epoch: masked-greedy</a:t>
            </a:r>
            <a:br/>
            <a:r>
              <a:t>decode 150 val cases →</a:t>
            </a:r>
            <a:br/>
            <a:r>
              <a:t>TRUE objective gap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8951976" y="3063240"/>
            <a:ext cx="2615184" cy="10058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Best checkpoint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1.04 M params</a:t>
            </a:r>
            <a:br/>
            <a:r>
              <a:t>3 seeds · ~4 min/seed</a:t>
            </a:r>
            <a:br/>
            <a:r>
              <a:t>(one RTX 3090)</a:t>
            </a:r>
          </a:p>
        </p:txBody>
      </p:sp>
      <p:cxnSp>
        <p:nvCxnSpPr>
          <p:cNvPr id="217" name="Connector 216"/>
          <p:cNvCxnSpPr>
            <a:stCxn id="213" idx="3"/>
            <a:endCxn id="214" idx="1"/>
          </p:cNvCxnSpPr>
          <p:nvPr/>
        </p:nvCxnSpPr>
        <p:spPr>
          <a:xfrm flipV="1">
            <a:off x="3118104" y="3566160"/>
            <a:ext cx="201168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>
            <a:stCxn id="214" idx="3"/>
            <a:endCxn id="215" idx="1"/>
          </p:cNvCxnSpPr>
          <p:nvPr/>
        </p:nvCxnSpPr>
        <p:spPr>
          <a:xfrm flipV="1">
            <a:off x="5934456" y="3566160"/>
            <a:ext cx="201168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>
            <a:stCxn id="215" idx="3"/>
            <a:endCxn id="216" idx="1"/>
          </p:cNvCxnSpPr>
          <p:nvPr/>
        </p:nvCxnSpPr>
        <p:spPr>
          <a:xfrm flipV="1">
            <a:off x="8750808" y="3566160"/>
            <a:ext cx="201168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>
            <a:stCxn id="208" idx="2"/>
            <a:endCxn id="213" idx="0"/>
          </p:cNvCxnSpPr>
          <p:nvPr/>
        </p:nvCxnSpPr>
        <p:spPr>
          <a:xfrm flipH="1">
            <a:off x="1810512" y="2423160"/>
            <a:ext cx="8641080" cy="64008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• Loss is imitation only: next-link cross-entropy on Gurobi's sequences — no solver, no decoding, no reward inside the training loop</a:t>
            </a:r>
          </a:p>
          <a:p>
            <a:pPr>
              <a:defRPr sz="1200" b="1"/>
            </a:pPr>
            <a:r>
              <a:t>• Model selection is NOT the training loss: CE keeps improving while true solution quality can worsen (imitation overfitting) — selecting on generated-solution gap catches this</a:t>
            </a:r>
          </a:p>
          <a:p>
            <a:pPr>
              <a:defRPr sz="1200" b="0"/>
            </a:pPr>
            <a:r>
              <a:t>• The budget enters twice already at training time: as an input feature ([ρᵥ, Bᵥ/H] in the task token) and inside the validation decoder's feasibility mask</a:t>
            </a:r>
          </a:p>
          <a:p>
            <a:pPr>
              <a:defRPr sz="1200" b="0"/>
            </a:pPr>
            <a:r>
              <a:t>• Everything above runs once; retraining is ~20 min end-to-end (farm + 3 seeds)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Pipeline 2 /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Generation (online, per case)</a:t>
            </a:r>
            <a:endParaRPr lang="zh-CN" altLang="en-US" sz="2800" dirty="0"/>
          </a:p>
        </p:txBody>
      </p:sp>
      <p:sp>
        <p:nvSpPr>
          <p:cNvPr id="204" name="Rounded Rectangle 203"/>
          <p:cNvSpPr/>
          <p:nvPr/>
        </p:nvSpPr>
        <p:spPr>
          <a:xfrm>
            <a:off x="502920" y="16002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New case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today's δ</a:t>
            </a:r>
            <a:br/>
            <a:r>
              <a:t>V tasks (o, d, t₀, B)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2971800" y="160020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Encoder — runs ONCE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80 link tokens + V task</a:t>
            </a:r>
            <a:br/>
            <a:r>
              <a:t>tokens → case memory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806440" y="1600200"/>
            <a:ext cx="3246120" cy="109728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Autoregressive step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decoder → logits over 84</a:t>
            </a:r>
            <a:br/>
            <a:r>
              <a:t>+ feasibility mask (−∞)</a:t>
            </a:r>
            <a:br/>
            <a:r>
              <a:t>→ argmax next link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646920" y="16002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V routes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feasible by</a:t>
            </a:r>
            <a:br/>
            <a:r>
              <a:t>construction</a:t>
            </a:r>
          </a:p>
        </p:txBody>
      </p:sp>
      <p:cxnSp>
        <p:nvCxnSpPr>
          <p:cNvPr id="208" name="Connector 207"/>
          <p:cNvCxnSpPr>
            <a:stCxn id="204" idx="3"/>
            <a:endCxn id="205" idx="1"/>
          </p:cNvCxnSpPr>
          <p:nvPr/>
        </p:nvCxnSpPr>
        <p:spPr>
          <a:xfrm flipV="1">
            <a:off x="2651760" y="2148840"/>
            <a:ext cx="32004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>
            <a:stCxn id="205" idx="3"/>
            <a:endCxn id="206" idx="1"/>
          </p:cNvCxnSpPr>
          <p:nvPr/>
        </p:nvCxnSpPr>
        <p:spPr>
          <a:xfrm flipV="1">
            <a:off x="5486400" y="2148840"/>
            <a:ext cx="32004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>
            <a:stCxn id="206" idx="3"/>
            <a:endCxn id="207" idx="1"/>
          </p:cNvCxnSpPr>
          <p:nvPr/>
        </p:nvCxnSpPr>
        <p:spPr>
          <a:xfrm flipV="1">
            <a:off x="9052560" y="2148840"/>
            <a:ext cx="59436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6080760" y="3154680"/>
            <a:ext cx="3246120" cy="566928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5240">
            <a:solidFill>
              <a:srgbClr val="8A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0B0B0B"/>
                </a:solidFill>
              </a:defRPr>
            </a:pPr>
            <a:r>
              <a:t>⟲  append token · t += c(l, t) · repeat until EOS</a:t>
            </a:r>
          </a:p>
        </p:txBody>
      </p:sp>
      <p:cxnSp>
        <p:nvCxnSpPr>
          <p:cNvPr id="212" name="Connector 211"/>
          <p:cNvCxnSpPr>
            <a:stCxn id="206" idx="2"/>
            <a:endCxn id="211" idx="0"/>
          </p:cNvCxnSpPr>
          <p:nvPr/>
        </p:nvCxnSpPr>
        <p:spPr>
          <a:xfrm>
            <a:off x="7429500" y="2697480"/>
            <a:ext cx="274320" cy="45720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2"/>
          <p:cNvSpPr/>
          <p:nvPr/>
        </p:nvSpPr>
        <p:spPr>
          <a:xfrm>
            <a:off x="914400" y="3017520"/>
            <a:ext cx="4114800" cy="141732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EB6834"/>
                </a:solidFill>
              </a:defRPr>
            </a:pPr>
            <a:r>
              <a:t>Feasibility mask (0 parameters)</a:t>
            </a:r>
          </a:p>
          <a:p>
            <a:pPr algn="ctr">
              <a:defRPr sz="919">
                <a:solidFill>
                  <a:srgbClr val="52514E"/>
                </a:solidFill>
              </a:defRPr>
            </a:pPr>
            <a:r>
              <a:t>① not a road successor / U-turn</a:t>
            </a:r>
            <a:br/>
            <a:r>
              <a:t>② cannot reach OWN destination by t₀ᵥ + Bᵥ  (TD-Dijkstra query)</a:t>
            </a:r>
            <a:br/>
            <a:r>
              <a:t>③ SEP only when parked next to own gate; EOS after V SEPs</a:t>
            </a:r>
          </a:p>
        </p:txBody>
      </p:sp>
      <p:cxnSp>
        <p:nvCxnSpPr>
          <p:cNvPr id="214" name="Connector 213"/>
          <p:cNvCxnSpPr>
            <a:stCxn id="213" idx="0"/>
            <a:endCxn id="206" idx="2"/>
          </p:cNvCxnSpPr>
          <p:nvPr/>
        </p:nvCxnSpPr>
        <p:spPr>
          <a:xfrm flipV="1">
            <a:off x="2971800" y="2697480"/>
            <a:ext cx="4457700" cy="320040"/>
          </a:xfrm>
          <a:prstGeom prst="bentConnector3">
            <a:avLst/>
          </a:prstGeom>
          <a:ln w="19050">
            <a:solidFill>
              <a:srgbClr val="EB68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• 6–9 ms per case on one GPU — including the mask's earliest-arrival queries; no solver call anywhere at deployment</a:t>
            </a:r>
          </a:p>
          <a:p>
            <a:pPr>
              <a:defRPr sz="1200" b="1"/>
            </a:pPr>
            <a:r>
              <a:t>• The mask is why unseen budgets stay feasible: feasibility is ENFORCED by rules, the network only ranks the legal moves (the budget has a hard mechanical channel, not just a soft preference from the labels)</a:t>
            </a:r>
          </a:p>
          <a:p>
            <a:pPr>
              <a:defRPr sz="1200" b="0"/>
            </a:pPr>
            <a:r>
              <a:t>• SEP ends a vehicle; decoding continues with the next vehicle from its own (o, t₀) — later vehicles see earlier routes through self-attention (coordination)</a:t>
            </a:r>
          </a:p>
          <a:p>
            <a:pPr>
              <a:defRPr sz="1200" b="0"/>
            </a:pPr>
            <a:r>
              <a:t>• Today: greedy decoding. Multi-sample (nucleus) decoding is the known next lever — inference-only, no retraining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(b) — model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Architecture overview</a:t>
            </a:r>
            <a:endParaRPr lang="zh-CN" altLang="en-US" sz="2800" dirty="0"/>
          </a:p>
        </p:txBody>
      </p:sp>
      <p:sp>
        <p:nvSpPr>
          <p:cNvPr id="204" name="Rounded Rectangle 203"/>
          <p:cNvSpPr/>
          <p:nvPr/>
        </p:nvSpPr>
        <p:spPr>
          <a:xfrm>
            <a:off x="502920" y="1645920"/>
            <a:ext cx="2240280" cy="13716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Inputs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congestion δ (80)</a:t>
            </a:r>
            <a:br/>
            <a:r>
              <a:t>V tasks</a:t>
            </a:r>
            <a:br/>
            <a:r>
              <a:t>(o, d, t₀, ρ, B/H)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154680" y="164592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Transformer encoder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×3 layers · d = 128</a:t>
            </a:r>
            <a:br/>
            <a:r>
              <a:t>4 heads · pre-norm</a:t>
            </a:r>
            <a:br/>
            <a:r>
              <a:t>runs once per case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897880" y="1645920"/>
            <a:ext cx="2240280" cy="13716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2A78D6"/>
                </a:solidFill>
              </a:defRPr>
            </a:pPr>
            <a:r>
              <a:t>Case memory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(80 + V) × d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732520" y="1645920"/>
            <a:ext cx="2926080" cy="13716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Autoregressive decoder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joint fleet sequence</a:t>
            </a:r>
            <a:br/>
            <a:r>
              <a:t>×3 blocks → head (84)</a:t>
            </a:r>
            <a:br/>
            <a:r>
              <a:t>→ masked softmax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8732520" y="3749039"/>
            <a:ext cx="2926080" cy="118872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EB6834"/>
                </a:solidFill>
              </a:defRPr>
            </a:pPr>
            <a:r>
              <a:t>Feasibility mask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topology · OWN deadline</a:t>
            </a:r>
            <a:br/>
            <a:r>
              <a:t>t₀ᵥ + Bᵥ · SEP/EOS grammar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120640" y="3749039"/>
            <a:ext cx="2651760" cy="11887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Fleet plan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V feasible routes</a:t>
            </a:r>
            <a:br/>
            <a:r>
              <a:t>6–9 ms per case</a:t>
            </a:r>
          </a:p>
        </p:txBody>
      </p:sp>
      <p:cxnSp>
        <p:nvCxnSpPr>
          <p:cNvPr id="210" name="Connector 209"/>
          <p:cNvCxnSpPr>
            <a:stCxn id="204" idx="3"/>
            <a:endCxn id="205" idx="1"/>
          </p:cNvCxnSpPr>
          <p:nvPr/>
        </p:nvCxnSpPr>
        <p:spPr>
          <a:xfrm flipV="1">
            <a:off x="2743200" y="2331720"/>
            <a:ext cx="41148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>
            <a:stCxn id="205" idx="3"/>
            <a:endCxn id="206" idx="1"/>
          </p:cNvCxnSpPr>
          <p:nvPr/>
        </p:nvCxnSpPr>
        <p:spPr>
          <a:xfrm flipV="1">
            <a:off x="5486400" y="2331720"/>
            <a:ext cx="41148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>
            <a:stCxn id="206" idx="3"/>
            <a:endCxn id="207" idx="1"/>
          </p:cNvCxnSpPr>
          <p:nvPr/>
        </p:nvCxnSpPr>
        <p:spPr>
          <a:xfrm flipV="1">
            <a:off x="8138160" y="2331720"/>
            <a:ext cx="594360" cy="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>
            <a:stCxn id="208" idx="0"/>
            <a:endCxn id="207" idx="2"/>
          </p:cNvCxnSpPr>
          <p:nvPr/>
        </p:nvCxnSpPr>
        <p:spPr>
          <a:xfrm flipH="1" flipV="1">
            <a:off x="10195560" y="3017520"/>
            <a:ext cx="0" cy="731519"/>
          </a:xfrm>
          <a:prstGeom prst="bentConnector3">
            <a:avLst/>
          </a:prstGeom>
          <a:ln w="19050">
            <a:solidFill>
              <a:srgbClr val="EB68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>
            <a:stCxn id="207" idx="2"/>
            <a:endCxn id="209" idx="3"/>
          </p:cNvCxnSpPr>
          <p:nvPr/>
        </p:nvCxnSpPr>
        <p:spPr>
          <a:xfrm flipH="1">
            <a:off x="7772400" y="3017520"/>
            <a:ext cx="2423160" cy="1325879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5760720" y="31272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60" b="0">
                <a:solidFill>
                  <a:srgbClr val="52514E"/>
                </a:solidFill>
              </a:defRPr>
            </a:pPr>
            <a:r>
              <a:t>the decoder cross-attends to the</a:t>
            </a:r>
            <a:br/>
            <a:r>
              <a:t>case memory at EVERY step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• The two redesign points (details on the next two slides):</a:t>
            </a:r>
          </a:p>
          <a:p>
            <a:pPr>
              <a:defRPr sz="1050" b="0"/>
            </a:pPr>
            <a:r>
              <a:t>   – ① instance attributes (o, d, t₀, B) moved OUT of the weights and INTO the input — one model serves every OD, fleet size, departure and budget</a:t>
            </a:r>
          </a:p>
          <a:p>
            <a:pPr>
              <a:defRPr sz="1050" b="0"/>
            </a:pPr>
            <a:r>
              <a:t>   – ② the mask threshold is each vehicle's OWN deadline t₀ᵥ + Bᵥ — unseen budgets stay feasible by construction</a:t>
            </a:r>
          </a:p>
          <a:p>
            <a:pPr>
              <a:defRPr sz="1200" b="0"/>
            </a:pPr>
            <a:r>
              <a:t>• All diagram elements are native shapes — fully editable (boxes, elbow connectors)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(b) — model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Encoder — token construction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371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52514E"/>
                </a:solidFill>
              </a:defRPr>
            </a:pPr>
            <a:r>
              <a:t>Link tokens  (×80, one per directed link)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40080" y="169164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Emb(link id)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2697480" y="169164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W · δᵢ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417320" y="2651760"/>
            <a:ext cx="2514600" cy="56692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50" b="1">
                <a:solidFill>
                  <a:srgbClr val="0B0B0B"/>
                </a:solidFill>
              </a:defRPr>
            </a:pPr>
            <a:r>
              <a:t>link token  (d)</a:t>
            </a:r>
          </a:p>
        </p:txBody>
      </p:sp>
      <p:cxnSp>
        <p:nvCxnSpPr>
          <p:cNvPr id="208" name="Connector 207"/>
          <p:cNvCxnSpPr>
            <a:stCxn id="205" idx="2"/>
            <a:endCxn id="207" idx="0"/>
          </p:cNvCxnSpPr>
          <p:nvPr/>
        </p:nvCxnSpPr>
        <p:spPr>
          <a:xfrm>
            <a:off x="1531620" y="2258568"/>
            <a:ext cx="1143000" cy="39319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>
            <a:stCxn id="206" idx="2"/>
            <a:endCxn id="207" idx="0"/>
          </p:cNvCxnSpPr>
          <p:nvPr/>
        </p:nvCxnSpPr>
        <p:spPr>
          <a:xfrm flipH="1">
            <a:off x="2674620" y="2258568"/>
            <a:ext cx="914400" cy="39319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5120640" y="13716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B6834"/>
                </a:solidFill>
              </a:defRPr>
            </a:pPr>
            <a:r>
              <a:t>Task tokens  (×V, one per vehicle — redesign ①: attributes as INPUT)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120640" y="1691640"/>
            <a:ext cx="1481328" cy="56692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Emb_o(o)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784848" y="1691640"/>
            <a:ext cx="1481328" cy="56692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Emb_d(d)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449056" y="1691640"/>
            <a:ext cx="1481328" cy="56692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Proj(t₀)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0113264" y="1691640"/>
            <a:ext cx="1572768" cy="566928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EB6834"/>
                </a:solidFill>
              </a:defRPr>
            </a:pPr>
            <a:r>
              <a:t>Proj([ρ, B/H])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7178040" y="2651760"/>
            <a:ext cx="2514600" cy="566928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50" b="1">
                <a:solidFill>
                  <a:srgbClr val="0B0B0B"/>
                </a:solidFill>
              </a:defRPr>
            </a:pPr>
            <a:r>
              <a:t>task token  (d)</a:t>
            </a:r>
          </a:p>
        </p:txBody>
      </p:sp>
      <p:cxnSp>
        <p:nvCxnSpPr>
          <p:cNvPr id="216" name="Connector 215"/>
          <p:cNvCxnSpPr>
            <a:stCxn id="211" idx="2"/>
            <a:endCxn id="215" idx="0"/>
          </p:cNvCxnSpPr>
          <p:nvPr/>
        </p:nvCxnSpPr>
        <p:spPr>
          <a:xfrm>
            <a:off x="5861304" y="2258568"/>
            <a:ext cx="2574036" cy="39319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>
            <a:stCxn id="212" idx="2"/>
            <a:endCxn id="215" idx="0"/>
          </p:cNvCxnSpPr>
          <p:nvPr/>
        </p:nvCxnSpPr>
        <p:spPr>
          <a:xfrm>
            <a:off x="7525512" y="2258568"/>
            <a:ext cx="909828" cy="39319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>
            <a:stCxn id="213" idx="2"/>
            <a:endCxn id="215" idx="0"/>
          </p:cNvCxnSpPr>
          <p:nvPr/>
        </p:nvCxnSpPr>
        <p:spPr>
          <a:xfrm flipH="1">
            <a:off x="8435340" y="2258568"/>
            <a:ext cx="754380" cy="39319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>
            <a:stCxn id="214" idx="2"/>
            <a:endCxn id="215" idx="0"/>
          </p:cNvCxnSpPr>
          <p:nvPr/>
        </p:nvCxnSpPr>
        <p:spPr>
          <a:xfrm flipH="1">
            <a:off x="8435340" y="2258568"/>
            <a:ext cx="2464308" cy="39319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1417320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2514E"/>
                </a:solidFill>
              </a:defRPr>
            </a:pPr>
            <a:r>
              <a:t>sum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178040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2514E"/>
                </a:solidFill>
              </a:defRPr>
            </a:pPr>
            <a:r>
              <a:t>sum (4 attribute channels)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337560" y="365760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50" b="0">
                <a:solidFill>
                  <a:srgbClr val="0B0B0B"/>
                </a:solidFill>
              </a:defRPr>
            </a:pPr>
            <a:r>
              <a:t>concatenate:  (80 + V) tokens</a:t>
            </a:r>
          </a:p>
        </p:txBody>
      </p:sp>
      <p:cxnSp>
        <p:nvCxnSpPr>
          <p:cNvPr id="223" name="Connector 222"/>
          <p:cNvCxnSpPr>
            <a:stCxn id="207" idx="2"/>
            <a:endCxn id="222" idx="0"/>
          </p:cNvCxnSpPr>
          <p:nvPr/>
        </p:nvCxnSpPr>
        <p:spPr>
          <a:xfrm>
            <a:off x="2674620" y="3218688"/>
            <a:ext cx="3406140" cy="43891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>
            <a:stCxn id="215" idx="2"/>
            <a:endCxn id="222" idx="0"/>
          </p:cNvCxnSpPr>
          <p:nvPr/>
        </p:nvCxnSpPr>
        <p:spPr>
          <a:xfrm flipH="1">
            <a:off x="6080760" y="3218688"/>
            <a:ext cx="2354580" cy="43891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ounded Rectangle 224"/>
          <p:cNvSpPr/>
          <p:nvPr/>
        </p:nvSpPr>
        <p:spPr>
          <a:xfrm>
            <a:off x="3337560" y="4572000"/>
            <a:ext cx="5486400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0B0B0B"/>
                </a:solidFill>
              </a:defRPr>
            </a:pPr>
            <a:r>
              <a:t>Transformer encoder  ×3</a:t>
            </a:r>
          </a:p>
          <a:p>
            <a:pPr algn="ctr">
              <a:defRPr sz="880">
                <a:solidFill>
                  <a:srgbClr val="52514E"/>
                </a:solidFill>
              </a:defRPr>
            </a:pPr>
            <a:r>
              <a:t>self-attention + FFN · d = 128 · 4 heads · pre-norm</a:t>
            </a:r>
          </a:p>
        </p:txBody>
      </p:sp>
      <p:cxnSp>
        <p:nvCxnSpPr>
          <p:cNvPr id="226" name="Connector 225"/>
          <p:cNvCxnSpPr>
            <a:stCxn id="222" idx="2"/>
            <a:endCxn id="225" idx="0"/>
          </p:cNvCxnSpPr>
          <p:nvPr/>
        </p:nvCxnSpPr>
        <p:spPr>
          <a:xfrm flipH="1">
            <a:off x="6080760" y="4206240"/>
            <a:ext cx="0" cy="365760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ounded Rectangle 226"/>
          <p:cNvSpPr/>
          <p:nvPr/>
        </p:nvSpPr>
        <p:spPr>
          <a:xfrm>
            <a:off x="3337560" y="55778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50" b="1">
                <a:solidFill>
                  <a:srgbClr val="2A78D6"/>
                </a:solidFill>
              </a:defRPr>
            </a:pPr>
            <a:r>
              <a:t>case memory   (80 + V) × d</a:t>
            </a:r>
          </a:p>
        </p:txBody>
      </p:sp>
      <p:cxnSp>
        <p:nvCxnSpPr>
          <p:cNvPr id="228" name="Connector 227"/>
          <p:cNvCxnSpPr>
            <a:stCxn id="225" idx="2"/>
            <a:endCxn id="227" idx="0"/>
          </p:cNvCxnSpPr>
          <p:nvPr/>
        </p:nvCxnSpPr>
        <p:spPr>
          <a:xfrm flipH="1">
            <a:off x="6080760" y="5230368"/>
            <a:ext cx="0" cy="34747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1874519" y="62179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/>
            </a:pPr>
            <a:r>
              <a:t>• Why ①: one set of weights serves every OD pair, fleet size, departure and budget; the encoder reasons about the fleet JOINTLY. Same recipe as the routing foundation models (RouteFinder / MTPOMO attribute embeddings) — our budget plays their capacity's role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Change (b) — model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Decoder — one step</a:t>
            </a:r>
            <a:endParaRPr lang="zh-CN" altLang="en-US" sz="2800" dirty="0"/>
          </a:p>
        </p:txBody>
      </p:sp>
      <p:sp>
        <p:nvSpPr>
          <p:cNvPr id="204" name="Rounded Rectangle 203"/>
          <p:cNvSpPr/>
          <p:nvPr/>
        </p:nvSpPr>
        <p:spPr>
          <a:xfrm>
            <a:off x="3017520" y="1417320"/>
            <a:ext cx="713232" cy="47548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0B0B0B"/>
                </a:solidFill>
              </a:defRPr>
            </a:pPr>
            <a:r>
              <a:t>BOS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822191" y="1417320"/>
            <a:ext cx="713232" cy="47548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0B0B0B"/>
                </a:solidFill>
              </a:defRPr>
            </a:pPr>
            <a:r>
              <a:t>l₁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626864" y="1417320"/>
            <a:ext cx="713232" cy="47548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0B0B0B"/>
                </a:solidFill>
              </a:defRPr>
            </a:pPr>
            <a:r>
              <a:t>l₂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5431536" y="1417320"/>
            <a:ext cx="713232" cy="475488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EB6834"/>
                </a:solidFill>
              </a:defRPr>
            </a:pPr>
            <a:r>
              <a:t>SEP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236208" y="1417320"/>
            <a:ext cx="713232" cy="47548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0B0B0B"/>
                </a:solidFill>
              </a:defRPr>
            </a:pPr>
            <a:r>
              <a:t>l₁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7040880" y="1417320"/>
            <a:ext cx="713232" cy="47548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0">
                <a:solidFill>
                  <a:srgbClr val="0B0B0B"/>
                </a:solidFill>
              </a:defRPr>
            </a:pPr>
            <a:r>
              <a:t>…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017520" y="11155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14E"/>
                </a:solidFill>
              </a:defRPr>
            </a:pPr>
            <a:r>
              <a:t>partial JOINT fleet sequence — SEP parks a vehicle, the next one starts from its own (o, t₀)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3291840" y="224028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masked self-attention (causal)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3291840" y="306324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cross-attention → case memory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291840" y="388620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FFN     (decoder block ×3)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3291840" y="470916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linear head → logits over vocab (84)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3291840" y="553212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5240">
            <a:solidFill>
              <a:srgbClr val="C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0B0B0B"/>
                </a:solidFill>
              </a:defRPr>
            </a:pPr>
            <a:r>
              <a:t>softmax → next link (argmax / sample)</a:t>
            </a:r>
          </a:p>
        </p:txBody>
      </p:sp>
      <p:cxnSp>
        <p:nvCxnSpPr>
          <p:cNvPr id="216" name="Connector 215"/>
          <p:cNvCxnSpPr>
            <a:stCxn id="207" idx="2"/>
            <a:endCxn id="211" idx="0"/>
          </p:cNvCxnSpPr>
          <p:nvPr/>
        </p:nvCxnSpPr>
        <p:spPr>
          <a:xfrm flipH="1">
            <a:off x="5394960" y="1892808"/>
            <a:ext cx="393192" cy="347472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>
            <a:stCxn id="211" idx="2"/>
            <a:endCxn id="212" idx="0"/>
          </p:cNvCxnSpPr>
          <p:nvPr/>
        </p:nvCxnSpPr>
        <p:spPr>
          <a:xfrm flipH="1">
            <a:off x="5394960" y="2770632"/>
            <a:ext cx="0" cy="292608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>
            <a:stCxn id="212" idx="2"/>
            <a:endCxn id="213" idx="0"/>
          </p:cNvCxnSpPr>
          <p:nvPr/>
        </p:nvCxnSpPr>
        <p:spPr>
          <a:xfrm flipH="1">
            <a:off x="5394960" y="3593592"/>
            <a:ext cx="0" cy="292608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>
            <a:stCxn id="213" idx="2"/>
            <a:endCxn id="214" idx="0"/>
          </p:cNvCxnSpPr>
          <p:nvPr/>
        </p:nvCxnSpPr>
        <p:spPr>
          <a:xfrm flipH="1">
            <a:off x="5394960" y="4416552"/>
            <a:ext cx="0" cy="292608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>
            <a:stCxn id="214" idx="2"/>
            <a:endCxn id="215" idx="0"/>
          </p:cNvCxnSpPr>
          <p:nvPr/>
        </p:nvCxnSpPr>
        <p:spPr>
          <a:xfrm flipH="1">
            <a:off x="5394960" y="5239512"/>
            <a:ext cx="0" cy="292608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ounded Rectangle 220"/>
          <p:cNvSpPr/>
          <p:nvPr/>
        </p:nvSpPr>
        <p:spPr>
          <a:xfrm>
            <a:off x="640080" y="3063240"/>
            <a:ext cx="2011680" cy="530352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2A78D6"/>
                </a:solidFill>
              </a:defRPr>
            </a:pPr>
            <a:r>
              <a:t>case memory</a:t>
            </a:r>
          </a:p>
        </p:txBody>
      </p:sp>
      <p:cxnSp>
        <p:nvCxnSpPr>
          <p:cNvPr id="222" name="Connector 221"/>
          <p:cNvCxnSpPr>
            <a:stCxn id="221" idx="3"/>
            <a:endCxn id="212" idx="1"/>
          </p:cNvCxnSpPr>
          <p:nvPr/>
        </p:nvCxnSpPr>
        <p:spPr>
          <a:xfrm flipV="1">
            <a:off x="2651760" y="3328416"/>
            <a:ext cx="640080" cy="0"/>
          </a:xfrm>
          <a:prstGeom prst="bentConnector3">
            <a:avLst/>
          </a:prstGeom>
          <a:ln w="19050">
            <a:solidFill>
              <a:srgbClr val="2A78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2"/>
          <p:cNvSpPr/>
          <p:nvPr/>
        </p:nvSpPr>
        <p:spPr>
          <a:xfrm>
            <a:off x="8275320" y="356616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524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50" b="1">
                <a:solidFill>
                  <a:srgbClr val="EB6834"/>
                </a:solidFill>
              </a:defRPr>
            </a:pPr>
            <a:r>
              <a:t>feasibility mask — redesign ②</a:t>
            </a:r>
          </a:p>
          <a:p>
            <a:pPr algn="ctr">
              <a:defRPr sz="919">
                <a:solidFill>
                  <a:srgbClr val="52514E"/>
                </a:solidFill>
              </a:defRPr>
            </a:pPr>
            <a:r>
              <a:t>logits[illegal] = −∞</a:t>
            </a:r>
            <a:br/>
            <a:r>
              <a:t>① not a successor / U-turn</a:t>
            </a:r>
            <a:br/>
            <a:r>
              <a:t>② cannot reach own dest by t₀ᵥ + Bᵥ</a:t>
            </a:r>
            <a:br/>
            <a:r>
              <a:t>③ SEP only next to own gate</a:t>
            </a:r>
          </a:p>
        </p:txBody>
      </p:sp>
      <p:cxnSp>
        <p:nvCxnSpPr>
          <p:cNvPr id="224" name="Connector 223"/>
          <p:cNvCxnSpPr>
            <a:stCxn id="223" idx="1"/>
            <a:endCxn id="214" idx="3"/>
          </p:cNvCxnSpPr>
          <p:nvPr/>
        </p:nvCxnSpPr>
        <p:spPr>
          <a:xfrm flipH="1">
            <a:off x="7498080" y="4434840"/>
            <a:ext cx="777240" cy="539496"/>
          </a:xfrm>
          <a:prstGeom prst="bentConnector3">
            <a:avLst/>
          </a:prstGeom>
          <a:ln w="19050">
            <a:solidFill>
              <a:srgbClr val="EB68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>
            <a:stCxn id="215" idx="3"/>
            <a:endCxn id="209" idx="2"/>
          </p:cNvCxnSpPr>
          <p:nvPr/>
        </p:nvCxnSpPr>
        <p:spPr>
          <a:xfrm flipH="1" flipV="1">
            <a:off x="7397496" y="1892808"/>
            <a:ext cx="100584" cy="3904488"/>
          </a:xfrm>
          <a:prstGeom prst="bentConnector3">
            <a:avLst/>
          </a:prstGeom>
          <a:ln w="19050">
            <a:solidFill>
              <a:srgbClr val="8A88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7699248" y="22128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52514E"/>
                </a:solidFill>
              </a:defRPr>
            </a:pPr>
            <a:r>
              <a:t>append next token · advance clock t += c(l, t) · repeat until EOS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874519" y="62179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/>
            </a:pPr>
            <a:r>
              <a:t>• Why ②: the budget gets a HARD channel into decoding (mask), not only a soft preference from labels — feasibility is enforced, not learned, so budgets never seen in training still decode to feasible routes. The mask has no parameters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Label set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/>
            </a:pPr>
            <a:r>
              <a:t>• 10 780 Gurobi labels · 0 errors · 0 solves hit the 60 s cap · 0.90 s mean per case (tight budgets prune the time-expanded graph → labelling ~30× faster than the full-horizon farm) · ~17 min on 15 workers, fully resumable</a:t>
            </a:r>
          </a:p>
          <a:p>
            <a:pPr>
              <a:defRPr sz="1350" b="1"/>
            </a:pPr>
            <a:r>
              <a:t>• Shards:</a:t>
            </a:r>
          </a:p>
          <a:p>
            <a:pPr>
              <a:defRPr sz="1200" b="0"/>
            </a:pPr>
            <a:r>
              <a:t>   – train 8 000 · same-distribution test 800</a:t>
            </a:r>
          </a:p>
          <a:p>
            <a:pPr>
              <a:defRPr sz="1200" b="0"/>
            </a:pPr>
            <a:r>
              <a:t>   – OD zero-shot 400 (4 gate pairs never trained) · fleet extrapolation 400 (V ∈ {5,8})</a:t>
            </a:r>
          </a:p>
          <a:p>
            <a:pPr>
              <a:defRPr sz="1200" b="0"/>
            </a:pPr>
            <a:r>
              <a:t>   – UNSEEN-budget interpolation 400 (ρ ∈ {1.25, 1.75}) · extrapolation 300 (ρ = 4.0)</a:t>
            </a:r>
          </a:p>
          <a:p>
            <a:pPr>
              <a:defRPr sz="1200" b="0"/>
            </a:pPr>
            <a:r>
              <a:t>   – response curve: 60 fixed instances × 8 ρ values, re-solved by Gurobi at every ρ</a:t>
            </a:r>
          </a:p>
          <a:p>
            <a:pPr>
              <a:defRPr sz="1350" b="0"/>
            </a:pPr>
            <a:r>
              <a:t>• Trained ρ anchors {1.0, 1.5, 2.0, 3.0}; the three held-out ρ values appear in NO training label</a:t>
            </a:r>
          </a:p>
          <a:p>
            <a:pPr>
              <a:defRPr sz="1350" b="0"/>
            </a:pPr>
            <a:r>
              <a:t>• Every label passes two checks at write time: flow-decomposed objective ≡ Gurobi ObjVal (1e-6) and every per-vehicle deadline re-validated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Design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/>
            </a:pPr>
            <a:r>
              <a:t>• Five layers, 2 300 cases, none seen in training:</a:t>
            </a:r>
          </a:p>
          <a:p>
            <a:pPr>
              <a:defRPr sz="1200" b="0"/>
            </a:pPr>
            <a:r>
              <a:t>   – L1 same-distribution — 800 fresh cases (trained ODs, new δ / task mixes)</a:t>
            </a:r>
          </a:p>
          <a:p>
            <a:pPr>
              <a:defRPr sz="1200" b="0"/>
            </a:pPr>
            <a:r>
              <a:t>   – L2 OD ZERO-SHOT — 400 cases on 4 OD pairs never trained (G1→G5, G6→G2, G4→G8, G7→G3)</a:t>
            </a:r>
          </a:p>
          <a:p>
            <a:pPr>
              <a:defRPr sz="1200" b="0"/>
            </a:pPr>
            <a:r>
              <a:t>   – L3 fleet extrapolation — 400 cases with V ∈ {5, 8}, trained on {2,3,4,6}</a:t>
            </a:r>
          </a:p>
          <a:p>
            <a:pPr>
              <a:defRPr sz="1200" b="0"/>
            </a:pPr>
            <a:r>
              <a:t>   – L4a UNSEEN budget, interpolation — 400 cases at ρ ∈ {1.25, 1.75}</a:t>
            </a:r>
          </a:p>
          <a:p>
            <a:pPr>
              <a:defRPr sz="1200" b="0"/>
            </a:pPr>
            <a:r>
              <a:t>   – L4b UNSEEN budget, extrapolation — 300 cases at ρ = 4.0, beyond the trained range</a:t>
            </a:r>
          </a:p>
          <a:p>
            <a:pPr>
              <a:defRPr sz="1350" b="1"/>
            </a:pPr>
            <a:r>
              <a:t>• Plus the RESPONSE CURVE: 60 fixed instances re-solved at every ρ by both Gurobi and the model — did it learn the budget as a continuous quantity or memorise four settings?</a:t>
            </a:r>
          </a:p>
          <a:p>
            <a:pPr>
              <a:defRPr sz="1350" b="0"/>
            </a:pPr>
            <a:r>
              <a:t>• Metrics: feasibility rate · objective gap vs Gurobi (absolute + relative) · fraction matching or beating Gurobi · inference time · per-case CSV. 3 seeds, mean ± std</a:t>
            </a:r>
          </a:p>
          <a:p>
            <a:pPr>
              <a:defRPr sz="1350" b="0"/>
            </a:pPr>
            <a:r>
              <a:t>• Tuning used a validation slice of the training shard only; every reported number is from held-out shards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Five-layer exam</a:t>
            </a:r>
            <a:endParaRPr lang="zh-CN" altLang="en-US" sz="2800" dirty="0"/>
          </a:p>
        </p:txBody>
      </p:sp>
      <p:pic>
        <p:nvPicPr>
          <p:cNvPr id="204" name="Picture 203" descr="figS3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371600"/>
            <a:ext cx="8595360" cy="405261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15656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/>
            </a:pPr>
            <a:r>
              <a:t>• 3 seeds × 60 epochs · 2 300 held-out cases, 100 % feasible in every layer · 6–9 ms per case · 274/800 of L1 match or beat Gurobi</a:t>
            </a:r>
          </a:p>
          <a:p>
            <a:pPr>
              <a:defRPr sz="1250" b="1"/>
            </a:pPr>
            <a:r>
              <a:t>• Unseen budgets (L4a, orange) cost about as much accuracy as an unseen fleet size — the budget generalises like the other conditioned attributes, not worse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Budget response curve</a:t>
            </a:r>
            <a:endParaRPr lang="zh-CN" altLang="en-US" sz="2800" dirty="0"/>
          </a:p>
        </p:txBody>
      </p:sp>
      <p:pic>
        <p:nvPicPr>
          <p:cNvPr id="204" name="Picture 203" descr="figS2_respons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371600"/>
            <a:ext cx="8229600" cy="4053969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170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/>
            </a:pPr>
            <a:r>
              <a:t>• Monotone response reproduced — including at ρ = 1.25 / 1.75 / 4.0, absent from every training label. At ρ = 1 the model is EXACTLY optimal (60/60); tracking degrades as slack grows (ρ = 4: 514 vs 708 cells) — the limit of greedy decoding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Where this stands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/>
            </a:pPr>
            <a:r>
              <a:t>• One recipe, verified end to end: Gurobi labels offline → 1.04 M-parameter Transformer → guaranteed-feasible millisecond inference, conditioned on each vehicle's own budget</a:t>
            </a:r>
          </a:p>
          <a:p>
            <a:pPr>
              <a:defRPr sz="1350" b="0"/>
            </a:pPr>
            <a:r>
              <a:t>• The control variable is now physical (shift length / energy), continuous, and demonstrably generalises to budgets never trained on</a:t>
            </a:r>
          </a:p>
          <a:p>
            <a:pPr>
              <a:defRPr sz="1350" b="0"/>
            </a:pPr>
            <a:r>
              <a:t>• Positioning: the first learned amortised solver for this problem class — the bridge between the drive-by-sensing OR shelf (right problem, no learning) and the neural routing shelf (right method, different problem)</a:t>
            </a:r>
          </a:p>
          <a:p>
            <a:pPr>
              <a:defRPr sz="1350" b="0"/>
            </a:pPr>
            <a:r>
              <a:t>• Verification chain at every step: MILP ≡ flow decomposition ≡ simulator · budget MILP ≡ the full-horizon MILP at B ≥ H · per-case CSVs against Gurobi on every held-out layer</a:t>
            </a:r>
          </a:p>
          <a:p>
            <a:pPr>
              <a:defRPr sz="1350" b="0"/>
            </a:pPr>
            <a:r>
              <a:t>• Known and deliberately open: with uniform cell utility, overlap = 0 in ~92 % of optimal solutions, so coverage ≈ cost. The budget controls HOW MUCH to roam; making WHICH cells a real decision needs heterogeneous utility wᵢ — the next modelling step, not a fix</a:t>
            </a:r>
          </a:p>
          <a:p>
            <a:pPr>
              <a:defRPr sz="1350" b="1"/>
            </a:pPr>
            <a:r>
              <a:t>• Next levers, in order: multi-sample (non-greedy) decoding · wider ρ range for extrapolation · data-volume slope · heterogeneous wᵢ · then the 5×5 real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664</Words>
  <Application>Microsoft Office PowerPoint</Application>
  <PresentationFormat>Widescreen</PresentationFormat>
  <Paragraphs>133</Paragraphs>
  <Slides>10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Amasis MT Pro</vt:lpstr>
      <vt:lpstr>Amasis MT Pro Medium</vt:lpstr>
      <vt:lpstr>Arial</vt:lpstr>
      <vt:lpstr>Cambria Math</vt:lpstr>
      <vt:lpstr>Times New Roman</vt:lpstr>
      <vt:lpstr>Wingdings</vt:lpstr>
      <vt:lpstr>PU</vt:lpstr>
      <vt:lpstr>Yilin Wang  Dec.12nd 2025</vt:lpstr>
      <vt:lpstr>PowerPoint Presentation</vt:lpstr>
      <vt:lpstr>PowerPoint Presentation</vt:lpstr>
      <vt:lpstr>PowerPoint Presentation</vt:lpstr>
      <vt:lpstr>Yilin Wang: wang4517@purdue.edu Yiheng Feng*: feng333@purdue.edu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Yilin Wang  Nov.4th 2025</dc:title>
  <dc:creator>Yilin Wang</dc:creator>
  <cp:lastModifiedBy>Yilin Wang</cp:lastModifiedBy>
  <cp:revision>59</cp:revision>
  <dcterms:created xsi:type="dcterms:W3CDTF">2025-11-01T23:58:16Z</dcterms:created>
  <dcterms:modified xsi:type="dcterms:W3CDTF">2026-08-02T19:39:51Z</dcterms:modified>
</cp:coreProperties>
</file>