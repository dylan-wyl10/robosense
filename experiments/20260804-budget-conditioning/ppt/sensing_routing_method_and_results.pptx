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340" r:id="rId34"/>
    <p:sldId id="341" r:id="rId35"/>
    <p:sldId id="342" r:id="rId36"/>
    <p:sldId id="343" r:id="rId37"/>
    <p:sldId id="344" r:id="rId38"/>
    <p:sldId id="345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S::wang4517@purdue.edu::06abc78b-9058-4e15-afda-57e086dc17fc" providerId="AD" clId="Web-{0D53C210-D543-EEF5-D373-561EF8F735D5}"/>
    <pc:docChg chg="addSld delSld modSld">
      <pc:chgData name="Yilin Wang" userId="S::wang4517@purdue.edu::06abc78b-9058-4e15-afda-57e086dc17fc" providerId="AD" clId="Web-{0D53C210-D543-EEF5-D373-561EF8F735D5}" dt="2026-07-28T15:13:34.751" v="25" actId="14100"/>
      <pc:docMkLst>
        <pc:docMk/>
      </pc:docMkLst>
      <pc:sldChg chg="addSp delSp modSp add replId delAnim">
        <pc:chgData name="Yilin Wang" userId="S::wang4517@purdue.edu::06abc78b-9058-4e15-afda-57e086dc17fc" providerId="AD" clId="Web-{0D53C210-D543-EEF5-D373-561EF8F735D5}" dt="2026-07-28T15:13:34.751" v="25" actId="14100"/>
        <pc:sldMkLst>
          <pc:docMk/>
          <pc:sldMk cId="2831382767" sldId="324"/>
        </pc:sldMkLst>
        <pc:spChg chg="add mod">
          <ac:chgData name="Yilin Wang" userId="S::wang4517@purdue.edu::06abc78b-9058-4e15-afda-57e086dc17fc" providerId="AD" clId="Web-{0D53C210-D543-EEF5-D373-561EF8F735D5}" dt="2026-07-28T14:51:11.727" v="9"/>
          <ac:spMkLst>
            <pc:docMk/>
            <pc:sldMk cId="2831382767" sldId="324"/>
            <ac:spMk id="4" creationId="{A1BF681D-B533-1EEC-0B34-7B5963391A20}"/>
          </ac:spMkLst>
        </pc:spChg>
        <pc:spChg chg="add mod">
          <ac:chgData name="Yilin Wang" userId="S::wang4517@purdue.edu::06abc78b-9058-4e15-afda-57e086dc17fc" providerId="AD" clId="Web-{0D53C210-D543-EEF5-D373-561EF8F735D5}" dt="2026-07-28T14:51:19.852" v="15" actId="20577"/>
          <ac:spMkLst>
            <pc:docMk/>
            <pc:sldMk cId="2831382767" sldId="324"/>
            <ac:spMk id="9" creationId="{6460684C-5514-A7FE-301A-0735D9BC5FF8}"/>
          </ac:spMkLst>
        </pc:spChg>
        <pc:picChg chg="add mod">
          <ac:chgData name="Yilin Wang" userId="S::wang4517@purdue.edu::06abc78b-9058-4e15-afda-57e086dc17fc" providerId="AD" clId="Web-{0D53C210-D543-EEF5-D373-561EF8F735D5}" dt="2026-07-28T15:13:34.751" v="25" actId="14100"/>
          <ac:picMkLst>
            <pc:docMk/>
            <pc:sldMk cId="2831382767" sldId="324"/>
            <ac:picMk id="10" creationId="{6ADF9D61-5DD0-EC04-A9E0-2B0BA3B782AC}"/>
          </ac:picMkLst>
        </pc:picChg>
      </pc:sldChg>
    </pc:docChg>
  </pc:docChgLst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8-02T19:39:47.362" v="790" actId="47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add del">
        <pc:chgData name="Yilin Wang" userId="06abc78b-9058-4e15-afda-57e086dc17fc" providerId="ADAL" clId="{82DDD170-D4B5-46ED-803B-C300EEBF3622}" dt="2026-08-02T19:39:47.362" v="790" actId="47"/>
        <pc:sldMkLst>
          <pc:docMk/>
          <pc:sldMk cId="3966750816" sldId="290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addSp delSp modSp add del mod delAnim">
        <pc:chgData name="Yilin Wang" userId="06abc78b-9058-4e15-afda-57e086dc17fc" providerId="ADAL" clId="{82DDD170-D4B5-46ED-803B-C300EEBF3622}" dt="2026-08-02T19:39:28.239" v="772" actId="47"/>
        <pc:sldMkLst>
          <pc:docMk/>
          <pc:sldMk cId="2074524224" sldId="304"/>
        </pc:sldMkLst>
      </pc:sldChg>
      <pc:sldChg chg="add del">
        <pc:chgData name="Yilin Wang" userId="06abc78b-9058-4e15-afda-57e086dc17fc" providerId="ADAL" clId="{82DDD170-D4B5-46ED-803B-C300EEBF3622}" dt="2026-08-02T19:39:36.549" v="779" actId="47"/>
        <pc:sldMkLst>
          <pc:docMk/>
          <pc:sldMk cId="4255979582" sldId="305"/>
        </pc:sldMkLst>
      </pc:sldChg>
      <pc:sldChg chg="addSp delSp modSp add del mod">
        <pc:chgData name="Yilin Wang" userId="06abc78b-9058-4e15-afda-57e086dc17fc" providerId="ADAL" clId="{82DDD170-D4B5-46ED-803B-C300EEBF3622}" dt="2026-08-02T19:39:30.322" v="775" actId="47"/>
        <pc:sldMkLst>
          <pc:docMk/>
          <pc:sldMk cId="907687665" sldId="306"/>
        </pc:sldMkLst>
      </pc:sldChg>
      <pc:sldChg chg="add del">
        <pc:chgData name="Yilin Wang" userId="06abc78b-9058-4e15-afda-57e086dc17fc" providerId="ADAL" clId="{82DDD170-D4B5-46ED-803B-C300EEBF3622}" dt="2026-08-02T19:39:31.473" v="776" actId="47"/>
        <pc:sldMkLst>
          <pc:docMk/>
          <pc:sldMk cId="0" sldId="308"/>
        </pc:sldMkLst>
      </pc:sldChg>
      <pc:sldChg chg="add del">
        <pc:chgData name="Yilin Wang" userId="06abc78b-9058-4e15-afda-57e086dc17fc" providerId="ADAL" clId="{82DDD170-D4B5-46ED-803B-C300EEBF3622}" dt="2026-08-02T19:39:32.500" v="777" actId="47"/>
        <pc:sldMkLst>
          <pc:docMk/>
          <pc:sldMk cId="0" sldId="309"/>
        </pc:sldMkLst>
      </pc:sldChg>
      <pc:sldChg chg="add del">
        <pc:chgData name="Yilin Wang" userId="06abc78b-9058-4e15-afda-57e086dc17fc" providerId="ADAL" clId="{82DDD170-D4B5-46ED-803B-C300EEBF3622}" dt="2026-08-02T19:39:41.660" v="784" actId="47"/>
        <pc:sldMkLst>
          <pc:docMk/>
          <pc:sldMk cId="0" sldId="310"/>
        </pc:sldMkLst>
      </pc:sldChg>
      <pc:sldChg chg="add del">
        <pc:chgData name="Yilin Wang" userId="06abc78b-9058-4e15-afda-57e086dc17fc" providerId="ADAL" clId="{82DDD170-D4B5-46ED-803B-C300EEBF3622}" dt="2026-08-02T19:39:40.863" v="783" actId="47"/>
        <pc:sldMkLst>
          <pc:docMk/>
          <pc:sldMk cId="0" sldId="311"/>
        </pc:sldMkLst>
      </pc:sldChg>
      <pc:sldChg chg="add del">
        <pc:chgData name="Yilin Wang" userId="06abc78b-9058-4e15-afda-57e086dc17fc" providerId="ADAL" clId="{82DDD170-D4B5-46ED-803B-C300EEBF3622}" dt="2026-08-02T19:39:42.402" v="785" actId="47"/>
        <pc:sldMkLst>
          <pc:docMk/>
          <pc:sldMk cId="0" sldId="312"/>
        </pc:sldMkLst>
      </pc:sldChg>
      <pc:sldChg chg="add del">
        <pc:chgData name="Yilin Wang" userId="06abc78b-9058-4e15-afda-57e086dc17fc" providerId="ADAL" clId="{82DDD170-D4B5-46ED-803B-C300EEBF3622}" dt="2026-08-02T19:39:40.175" v="782" actId="47"/>
        <pc:sldMkLst>
          <pc:docMk/>
          <pc:sldMk cId="0" sldId="313"/>
        </pc:sldMkLst>
      </pc:sldChg>
      <pc:sldChg chg="modSp add del mod">
        <pc:chgData name="Yilin Wang" userId="06abc78b-9058-4e15-afda-57e086dc17fc" providerId="ADAL" clId="{82DDD170-D4B5-46ED-803B-C300EEBF3622}" dt="2026-08-02T19:39:29.022" v="773" actId="47"/>
        <pc:sldMkLst>
          <pc:docMk/>
          <pc:sldMk cId="0" sldId="314"/>
        </pc:sldMkLst>
      </pc:sldChg>
      <pc:sldChg chg="add del">
        <pc:chgData name="Yilin Wang" userId="06abc78b-9058-4e15-afda-57e086dc17fc" providerId="ADAL" clId="{82DDD170-D4B5-46ED-803B-C300EEBF3622}" dt="2026-08-02T19:39:43.495" v="786" actId="47"/>
        <pc:sldMkLst>
          <pc:docMk/>
          <pc:sldMk cId="0" sldId="315"/>
        </pc:sldMkLst>
      </pc:sldChg>
      <pc:sldChg chg="add del">
        <pc:chgData name="Yilin Wang" userId="06abc78b-9058-4e15-afda-57e086dc17fc" providerId="ADAL" clId="{82DDD170-D4B5-46ED-803B-C300EEBF3622}" dt="2026-08-02T19:39:38.952" v="781" actId="47"/>
        <pc:sldMkLst>
          <pc:docMk/>
          <pc:sldMk cId="0" sldId="316"/>
        </pc:sldMkLst>
      </pc:sldChg>
      <pc:sldChg chg="add del">
        <pc:chgData name="Yilin Wang" userId="06abc78b-9058-4e15-afda-57e086dc17fc" providerId="ADAL" clId="{82DDD170-D4B5-46ED-803B-C300EEBF3622}" dt="2026-08-02T19:39:44.250" v="787" actId="47"/>
        <pc:sldMkLst>
          <pc:docMk/>
          <pc:sldMk cId="0" sldId="317"/>
        </pc:sldMkLst>
      </pc:sldChg>
      <pc:sldChg chg="add del">
        <pc:chgData name="Yilin Wang" userId="06abc78b-9058-4e15-afda-57e086dc17fc" providerId="ADAL" clId="{82DDD170-D4B5-46ED-803B-C300EEBF3622}" dt="2026-08-02T19:39:45.336" v="788" actId="47"/>
        <pc:sldMkLst>
          <pc:docMk/>
          <pc:sldMk cId="0" sldId="318"/>
        </pc:sldMkLst>
      </pc:sldChg>
      <pc:sldChg chg="add del">
        <pc:chgData name="Yilin Wang" userId="06abc78b-9058-4e15-afda-57e086dc17fc" providerId="ADAL" clId="{82DDD170-D4B5-46ED-803B-C300EEBF3622}" dt="2026-08-02T19:39:46.372" v="789" actId="47"/>
        <pc:sldMkLst>
          <pc:docMk/>
          <pc:sldMk cId="0" sldId="319"/>
        </pc:sldMkLst>
      </pc:sldChg>
      <pc:sldChg chg="add del">
        <pc:chgData name="Yilin Wang" userId="06abc78b-9058-4e15-afda-57e086dc17fc" providerId="ADAL" clId="{82DDD170-D4B5-46ED-803B-C300EEBF3622}" dt="2026-08-02T19:39:36.146" v="778" actId="47"/>
        <pc:sldMkLst>
          <pc:docMk/>
          <pc:sldMk cId="0" sldId="320"/>
        </pc:sldMkLst>
      </pc:sldChg>
      <pc:sldChg chg="del">
        <pc:chgData name="Yilin Wang" userId="06abc78b-9058-4e15-afda-57e086dc17fc" providerId="ADAL" clId="{82DDD170-D4B5-46ED-803B-C300EEBF3622}" dt="2026-08-02T19:39:29.573" v="774" actId="47"/>
        <pc:sldMkLst>
          <pc:docMk/>
          <pc:sldMk cId="2490872928" sldId="321"/>
        </pc:sldMkLst>
      </pc:sldChg>
      <pc:sldChg chg="delSp modSp add mod">
        <pc:chgData name="Yilin Wang" userId="06abc78b-9058-4e15-afda-57e086dc17fc" providerId="ADAL" clId="{82DDD170-D4B5-46ED-803B-C300EEBF3622}" dt="2026-07-16T21:33:12.906" v="771" actId="20577"/>
        <pc:sldMkLst>
          <pc:docMk/>
          <pc:sldMk cId="2361112164" sldId="322"/>
        </pc:sldMkLst>
        <pc:spChg chg="mod">
          <ac:chgData name="Yilin Wang" userId="06abc78b-9058-4e15-afda-57e086dc17fc" providerId="ADAL" clId="{82DDD170-D4B5-46ED-803B-C300EEBF3622}" dt="2026-07-16T21:33:12.906" v="771" actId="20577"/>
          <ac:spMkLst>
            <pc:docMk/>
            <pc:sldMk cId="2361112164" sldId="322"/>
            <ac:spMk id="7" creationId="{33AE8DB3-4C29-0DE3-EB73-8D2BBFBB8CBF}"/>
          </ac:spMkLst>
        </pc:spChg>
        <pc:spChg chg="mod">
          <ac:chgData name="Yilin Wang" userId="06abc78b-9058-4e15-afda-57e086dc17fc" providerId="ADAL" clId="{82DDD170-D4B5-46ED-803B-C300EEBF3622}" dt="2026-07-16T21:32:53.871" v="735" actId="20577"/>
          <ac:spMkLst>
            <pc:docMk/>
            <pc:sldMk cId="2361112164" sldId="322"/>
            <ac:spMk id="203" creationId="{A219F0BA-71F5-BA11-CCBD-9327897B98CC}"/>
          </ac:spMkLst>
        </pc:spChg>
      </pc:sldChg>
      <pc:sldChg chg="add">
        <pc:chgData name="Yilin Wang" userId="06abc78b-9058-4e15-afda-57e086dc17fc" providerId="ADAL" clId="{82DDD170-D4B5-46ED-803B-C300EEBF3622}" dt="2026-07-16T21:32:47.529" v="734"/>
        <pc:sldMkLst>
          <pc:docMk/>
          <pc:sldMk cId="35167972" sldId="323"/>
        </pc:sldMkLst>
      </pc:sldChg>
      <pc:sldChg chg="del">
        <pc:chgData name="Yilin Wang" userId="06abc78b-9058-4e15-afda-57e086dc17fc" providerId="ADAL" clId="{82DDD170-D4B5-46ED-803B-C300EEBF3622}" dt="2026-08-02T19:39:36.934" v="780" actId="47"/>
        <pc:sldMkLst>
          <pc:docMk/>
          <pc:sldMk cId="2831382767" sldId="324"/>
        </pc:sldMkLst>
      </pc:sldChg>
    </pc:docChg>
  </pc:docChgLst>
  <pc:docChgLst>
    <pc:chgData name="Yilin Wang" userId="S::wang4517@purdue.edu::06abc78b-9058-4e15-afda-57e086dc17fc" providerId="AD" clId="Web-{73E358AC-2E5E-D559-125E-0E3EF88494AA}"/>
    <pc:docChg chg="addSld modSld">
      <pc:chgData name="Yilin Wang" userId="S::wang4517@purdue.edu::06abc78b-9058-4e15-afda-57e086dc17fc" providerId="AD" clId="Web-{73E358AC-2E5E-D559-125E-0E3EF88494AA}" dt="2026-07-14T15:01:04.722" v="118" actId="2057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2026/8/2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373D-6337-3720-B4C6-42A3F89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D289A-57A2-D44D-9735-B77E62135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527FF0-4349-E451-CB64-8DAFFD099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884E1A-6918-23BB-C9C5-EA66EB9B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58705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2153-BCD3-3380-18A6-5AF9D397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6DB483-11E5-CA9D-E732-A6B8DDA6FD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DBC9FBA9-D645-9710-11B9-89A2783E1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67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06BF-3122-F046-736C-41F9C472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</a:t>
            </a:r>
            <a:r>
              <a:rPr lang="en-US" altLang="zh-CN"/>
              <a:t>Orientated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11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   August 2026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Learning to Route for Sensing Coverage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A neural amortised solver for budget-constrained fleet routing — method and results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202608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/>
            </a:pPr>
            <a:r>
              <a:t>• The problem and the network</a:t>
            </a:r>
          </a:p>
          <a:p>
            <a:pPr>
              <a:defRPr sz="1600" b="1"/>
            </a:pPr>
            <a:r>
              <a:t>• Change (a) — the objective: before vs now · why the weight is a switch (rigorous) · how each budget Bᵥ is set</a:t>
            </a:r>
          </a:p>
          <a:p>
            <a:pPr>
              <a:defRPr sz="1600" b="0"/>
            </a:pPr>
            <a:r>
              <a:t>• Where this sits in the literature — setting comparison</a:t>
            </a:r>
          </a:p>
          <a:p>
            <a:pPr>
              <a:defRPr sz="1600" b="0"/>
            </a:pPr>
            <a:r>
              <a:t>• Pipelines: training  ·  case-by-case generation</a:t>
            </a:r>
          </a:p>
          <a:p>
            <a:pPr>
              <a:defRPr sz="1600" b="1"/>
            </a:pPr>
            <a:r>
              <a:t>• Change (b) — the model: overview + encoder + decoder (editable diagrams)</a:t>
            </a:r>
          </a:p>
          <a:p>
            <a:pPr>
              <a:defRPr sz="1600" b="0"/>
            </a:pPr>
            <a:r>
              <a:t>• Evaluation design and results (3 seeds, 2 300 held-out cases)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Definition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One case (an 'operating day'): congestion δ ∈ {0,1}⁸⁰ per directed link · V vehicles · per-vehicle task (origin gate o, destination gate d, departure t₀, budget B)</a:t>
            </a:r>
          </a:p>
          <a:p>
            <a:pPr>
              <a:defRPr sz="1400" b="0"/>
            </a:pPr>
            <a:r>
              <a:t>• Vehicles run SIMULTANEOUSLY on one timeline. Entering link i at time t occupies space–time cells (i, t … t+c−1), with travel time c(i,t) = (base(i)+t)//4 + 1 + δᵢ</a:t>
            </a:r>
          </a:p>
          <a:p>
            <a:pPr>
              <a:defRPr sz="1400" b="1"/>
            </a:pPr>
            <a:r>
              <a:t>• Objective: maximise the fleet's sensing coverage (union of occupied cells — overlap counts once), pay for travel, respect each vehicle's own budget (next slide, spelled out)</a:t>
            </a:r>
          </a:p>
          <a:p>
            <a:pPr>
              <a:defRPr sz="1400" b="0"/>
            </a:pPr>
            <a:r>
              <a:t>• Bᵥ = the vehicle's shift length / remaining energy;  α = 0.3 / 0.7</a:t>
            </a:r>
          </a:p>
          <a:p>
            <a:pPr>
              <a:defRPr sz="1400" b="1"/>
            </a:pPr>
            <a:r>
              <a:t>• Taxonomy: budget-constrained, selective, max-utility fleet routing = TEAM-ORIENTEERING type — not a visit-all min-cost CVRP</a:t>
            </a:r>
          </a:p>
          <a:p>
            <a:pPr>
              <a:defRPr sz="1400" b="0"/>
            </a:pPr>
            <a:r>
              <a:t>• Gurobi solves it exactly (multi-commodity time-expanded flow) and is the source of training labels AND the benchmark; the learned model replaces per-case solving at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Network &amp; instances</a:t>
            </a:r>
            <a:endParaRPr lang="zh-CN" altLang="en-US" sz="2800" dirty="0"/>
          </a:p>
        </p:txBody>
      </p:sp>
      <p:pic>
        <p:nvPicPr>
          <p:cNvPr id="204" name="Picture 203" descr="fig0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72892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35931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Fixed bidirectional 4×4: 80 directed links, no U-turns · 8 gates (4 corners + 4 edge midpoints) · all 56 ordered OD pairs feasible (heatmap) · horizon H = 338</a:t>
            </a:r>
          </a:p>
          <a:p>
            <a:pPr>
              <a:defRPr sz="1250" b="1"/>
            </a:pPr>
            <a:r>
              <a:t>• The network and the OD set are FIXED; what varies per case is δ, V, and each vehicle's (o, d, t₀,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Objective, before vs now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2514E"/>
                </a:solidFill>
              </a:defRPr>
            </a:pPr>
            <a:r>
              <a:t>BEFORE — weight-controlled, one global horizon H</a:t>
            </a:r>
          </a:p>
        </p:txBody>
      </p:sp>
      <p:pic>
        <p:nvPicPr>
          <p:cNvPr id="205" name="Picture 204" descr="eq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65" y="1783080"/>
            <a:ext cx="5766564" cy="56692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606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B6834"/>
                </a:solidFill>
              </a:defRPr>
            </a:pPr>
            <a:r>
              <a:t>NOW — budget-controlled, per-vehicle deadline (objective terms unchanged)</a:t>
            </a:r>
          </a:p>
        </p:txBody>
      </p:sp>
      <p:pic>
        <p:nvPicPr>
          <p:cNvPr id="207" name="Picture 206" descr="eq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1" y="2971800"/>
            <a:ext cx="6338472" cy="658368"/>
          </a:xfrm>
          <a:prstGeom prst="rect">
            <a:avLst/>
          </a:prstGeom>
        </p:spPr>
      </p:pic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1234440" y="4069080"/>
          <a:ext cx="969264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now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control variable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weight α₂ (a preference)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 budget Bᵥ (a physical resource)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hard constraint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arrive by the global horizon H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arrive by own deadline t₀ᵥ + Bᵥ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normaliser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V · H  (fleet × horizon)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Σᵥ Bᵥ  (available driving time); cov ≤ cost ≤ Σᵥ Bᵥ keeps both terms in (0,1]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solution response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step function of α₂ (next 3 slides)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monotone in Bᵥ — a usable dial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1874519" y="614476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Verified reduction: at Bᵥ ≥ H the new MILP returns the old one's solution link-for-link — a strict generalisation, not a different problem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Setup.  For a fixed instance (network, δ, tasks, deadlines), a feasible solution R = (R₁ … R_V):</a:t>
            </a:r>
          </a:p>
        </p:txBody>
      </p:sp>
      <p:pic>
        <p:nvPicPr>
          <p:cNvPr id="205" name="Picture 204" descr="eq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866" y="1737360"/>
            <a:ext cx="8147962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39572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Lemma (cell accounting).  Each time-step of travel occupies exactly one (link, time) cell, and the union counts every cell once. Hence</a:t>
            </a:r>
          </a:p>
        </p:txBody>
      </p:sp>
      <p:pic>
        <p:nvPicPr>
          <p:cNvPr id="207" name="Picture 206" descr="eq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289" y="2798064"/>
            <a:ext cx="8021117" cy="310896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685800" y="32461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2514E"/>
                </a:solidFill>
              </a:defRPr>
            </a:pPr>
            <a:r>
              <a:t>Measured on all 10 780 optimal labels: median K/C = 0.999; K = C exactly (zero overlap) in 84–93 % per shard — the zero-overlap regime is the TYPICAL one, not a corner case.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5800" y="3931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Theorem (collapse in the zero-overlap regime).  If K(R) = C(R) for the instance's candidate solutions, the objective degenerates to a single scalar multiple of total travel:</a:t>
            </a:r>
          </a:p>
        </p:txBody>
      </p:sp>
      <p:pic>
        <p:nvPicPr>
          <p:cNvPr id="210" name="Picture 209" descr="eq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969" y="4462272"/>
            <a:ext cx="4843756" cy="475488"/>
          </a:xfrm>
          <a:prstGeom prst="rect">
            <a:avLst/>
          </a:prstGeom>
        </p:spPr>
      </p:pic>
      <p:sp>
        <p:nvSpPr>
          <p:cNvPr id="211" name="TextBox 210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Minimising it therefore means:  α₂ &lt; α₁ → minimise C (min-time routes) ·  α₂ &gt; α₁ → MAXIMISE C (fill the budget) ·  α₂ = α₁ → every feasible solution ties (total degeneracy)</a:t>
            </a:r>
          </a:p>
          <a:p>
            <a:pPr>
              <a:defRPr sz="1200" b="1"/>
            </a:pPr>
            <a:r>
              <a:t>• The map  α₂ ↦ optimal-solution set  is a STEP function with its only jump at α₂/α₁ = 1. No value of α₂ selects anything between the two extremes — and this is independent of any normaliser N</a:t>
            </a:r>
          </a:p>
          <a:p>
            <a:pPr>
              <a:defRPr sz="1200" b="0"/>
            </a:pPr>
            <a:r>
              <a:t>• α's only residual role: for α₂ &lt; α₁ it breaks ties AMONG min-cost solutions (more coverage preferred at equal cost)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A (the cost regime is robust).  Let C* = min feasible cost and K₀ = best coverage among min-cost solutions. Using K ≤ C:</a:t>
            </a:r>
          </a:p>
        </p:txBody>
      </p:sp>
      <p:pic>
        <p:nvPicPr>
          <p:cNvPr id="205" name="Picture 204" descr="eq_pr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499" y="1773936"/>
            <a:ext cx="5322696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40080" y="23957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Proof: f(R) ≥ (α₁−α₂)C(R)/N for every R, while the best min-cost solution attains (α₁C* − α₂K₀)/N; compare. If a min-cost solution has zero overlap (K₀ = C*), the threshold is 0: EVERY optimum is min-cost — overlap only shifts the switch point, it cannot create interior positions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5800" y="312724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B (the roam regime saturates the budget).  A deadline-feasible detour of length k with ΔK fresh cells changes the objective by</a:t>
            </a:r>
          </a:p>
        </p:txBody>
      </p:sp>
      <p:pic>
        <p:nvPicPr>
          <p:cNvPr id="208" name="Picture 207" descr="eq_pr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974" y="3529584"/>
            <a:ext cx="4659745" cy="457200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640080" y="4133087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For α₂ &gt; α₁ every FULLY-fresh detour (ΔK = k) strictly improves — so at any optimum, no vehicle can still afford one: budgets bind. The threshold ΔK/k &gt; α₁/α₂ also explains why solutions barely move across α₂ ∈ [0.52, 0.90] in the zero-overlap regime</a:t>
            </a:r>
          </a:p>
          <a:p>
            <a:pPr>
              <a:defRPr sz="1200" b="1"/>
            </a:pPr>
            <a:r>
              <a:t>• Conclusion: α selects one of two regimes; the quantity that positions a solution INSIDE the roam regime is the budget. C*(B) grows monotonically in bounded increments as B grows — a graded, learnable response</a:t>
            </a:r>
          </a:p>
          <a:p>
            <a:pPr>
              <a:defRPr sz="1200" b="0"/>
            </a:pPr>
            <a:r>
              <a:t>• That is change (a): keep α fixed (0.3/0.7, roam regime), move the control to the constraint — the per-vehicle budget Bᵥ. Next slide: both claims measured on one instance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Switch vs dial — measured</a:t>
            </a:r>
            <a:endParaRPr lang="zh-CN" altLang="en-US" sz="2800" dirty="0"/>
          </a:p>
        </p:txBody>
      </p:sp>
      <p:pic>
        <p:nvPicPr>
          <p:cNvPr id="204" name="Picture 203" descr="figS1_knob_vs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06009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2312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One fixed instance, one MILP, one solver, MIPGap 0.5 %. LEFT: 13 values of α₂ with the budget fixed at H → 2 distinct solutions (α₂ = 0.10–0.48 identical link-for-link). RIGHT: α frozen at 0.3/0.7, per-vehicle budget swept → 10 distinct, monotone solutions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Step 0: earliest arrival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Before any budget can be set, we must know the fastest this vehicle could possibly make its trip TODAY — earliest arrival on the current network, under this case's congestion δ. One run per vehicle: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85800" y="1956816"/>
            <a:ext cx="8321040" cy="2514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54864" bIns="54864"/>
          <a:lstStyle/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EarliestArrival(o, t₀, δ):        # one run per vehicle, on today's network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entry[l] ← t₀  for every link l leaving gate o;  push (t₀, l)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while queue not empty: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(t, l) ← pop the SMALLEST entry time     # ordinary Dijkstra order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t &gt; entry[l]: continue                # stale label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s ← t + c(l, t)      # exit time; the clock is INSIDE the cost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l ends at a gate g:  arrive[g] ← min(arrive[g], s)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for every successor j of l (no U-turn):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    if s &lt; entry[j]:  entry[j] ← s;  push (s, j)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return arrive                               # earliest arrival at EVERY gate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τᵐⁱⁿ_v = arrive[d_v] − t₀_v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235440" y="1956816"/>
            <a:ext cx="2468880" cy="25146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EB6834"/>
                </a:solidFill>
              </a:defRPr>
            </a:pPr>
            <a:r>
              <a:t>Where it runs</a:t>
            </a:r>
          </a:p>
          <a:p>
            <a:pPr algn="ctr">
              <a:defRPr sz="860">
                <a:solidFill>
                  <a:srgbClr val="52514E"/>
                </a:solidFill>
              </a:defRPr>
            </a:pPr>
            <a:r>
              <a:t>① budget assignment:</a:t>
            </a:r>
            <a:br/>
            <a:r>
              <a:t>V runs per case</a:t>
            </a:r>
            <a:br/>
            <a:r>
              <a:t>(~41 000 in the farm)</a:t>
            </a:r>
            <a:br/>
            <a:br/>
            <a:r>
              <a:t>② decoder mask:</a:t>
            </a:r>
            <a:br/>
            <a:r>
              <a:t>min_finish(l, t, d) —</a:t>
            </a:r>
            <a:br/>
            <a:r>
              <a:t>same algorithm from one</a:t>
            </a:r>
            <a:br/>
            <a:r>
              <a:t>link, memoised</a:t>
            </a:r>
            <a:br/>
            <a:br/>
            <a:r>
              <a:t>③ horizon calibration:</a:t>
            </a:r>
            <a:br/>
            <a:r>
              <a:t>once, all 8 gates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47091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It is ordinary Dijkstra with ONE change: a label is a time, not a distance, and relaxing link l entered at time t costs c(l, t) — today's congestion δ sits inside c</a:t>
            </a:r>
          </a:p>
          <a:p>
            <a:pPr>
              <a:defRPr sz="1200" b="0"/>
            </a:pPr>
            <a:r>
              <a:t>• Why the greedy order stays correct: our costs are FIFO — t + c(l, t) never decreases in t (entering later can never mean exiting earlier), so the first label popped for a link is final, exactly the classic Dijkstra invariant</a:t>
            </a:r>
          </a:p>
          <a:p>
            <a:pPr>
              <a:defRPr sz="1200" b="0"/>
            </a:pPr>
            <a:r>
              <a:t>• One run touches at most 80 links → microseconds; ~41 000 runs across the whole farm are negligible next to the 0.90 s MILP solves. The mask's memoised queries are part of the 6–9 ms inference time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How Bᵥ is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In plain words: first compute the fastest this vehicle could make its trip today (τᵐⁱⁿᵥ, previous slide); the budget is that minimum times a slack factor — 'you get ρ× the minimum time'. Not a fixed constant: derived per vehicle, per instance.</a:t>
            </a:r>
          </a:p>
        </p:txBody>
      </p:sp>
      <p:pic>
        <p:nvPicPr>
          <p:cNvPr id="205" name="Picture 204" descr="eq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865" y="1883664"/>
            <a:ext cx="4953965" cy="365760"/>
          </a:xfrm>
          <a:prstGeom prst="rect">
            <a:avLst/>
          </a:prstGeom>
        </p:spPr>
      </p:pic>
      <p:pic>
        <p:nvPicPr>
          <p:cNvPr id="206" name="Picture 205" descr="eq_tau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44" y="2359152"/>
            <a:ext cx="8354607" cy="329184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Step 1 — draw the slack ratio ρᵥ.  Training farm: per vehicle from the anchors {1.0, 1.5, 2.0, 3.0}; in 35 % of fleets all vehicles share one ρ (homogeneous), in 65 % each vehicle draws its own (heterogeneous). At TEST time ρ is arbitrary — including values never seen in training ({1.25, 1.75} interpolation, 4.0 extrapolation)</a:t>
            </a:r>
          </a:p>
          <a:p>
            <a:pPr>
              <a:defRPr sz="1250" b="0"/>
            </a:pPr>
            <a:r>
              <a:t>• Step 2 — the feasibility floor τᵐⁱⁿᵥ comes from the TD-Dijkstra run of the previous slide (earliest arrival o→d departing at t₀ under THIS instance's δ) — instance-specific, not a table lookup</a:t>
            </a:r>
          </a:p>
          <a:p>
            <a:pPr>
              <a:defRPr sz="1250" b="0"/>
            </a:pPr>
            <a:r>
              <a:t>• Step 3 — Bᵥ = ⌈ρᵥ · τᵐⁱⁿᵥ⌉, floored at τᵐⁱⁿᵥ (a task is never born infeasible) and capped at H − t₀ᵥ (never beyond the coverage grid)</a:t>
            </a:r>
          </a:p>
          <a:p>
            <a:pPr>
              <a:defRPr sz="1250" b="1"/>
            </a:pPr>
            <a:r>
              <a:t>• Why a RATIO and not an absolute number: the same B = 100 is vacuous for a near OD (τᵐⁱⁿ = 14) and infeasible for a far one (τᵐⁱⁿ = 120). ρ is comparable across all ODs:  ρ = 1 ⇔ exactly the min-time trip;  ρ = 2 ⇔ twice the minimum time</a:t>
            </a:r>
          </a:p>
          <a:p>
            <a:pPr>
              <a:defRPr sz="1250" b="0"/>
            </a:pPr>
            <a:r>
              <a:t>• Worked example (the sweep instance, V = 3, τᵐⁱⁿ = [38, 120, 14]):  ρ = 1.5 for all ⇒  B = [57, 180, 21] — same slack semantics, very different absolute budgets</a:t>
            </a:r>
          </a:p>
          <a:p>
            <a:pPr>
              <a:defRPr sz="1250" b="1"/>
            </a:pPr>
            <a:r>
              <a:t>• Bᵥ then enters BOTH sides of the pipeline: the MILP constraint (labels) and the model input (conditioning) + the decoder feasibility mask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Setting comparison</a:t>
            </a:r>
            <a:endParaRPr lang="zh-CN" altLang="en-US" sz="2800" dirty="0"/>
          </a:p>
        </p:txBody>
      </p:sp>
      <p:graphicFrame>
        <p:nvGraphicFramePr>
          <p:cNvPr id="204" name="Table 203"/>
          <p:cNvGraphicFramePr>
            <a:graphicFrameLocks noGrp="1"/>
          </p:cNvGraphicFramePr>
          <p:nvPr/>
        </p:nvGraphicFramePr>
        <p:xfrm>
          <a:off x="502920" y="1417320"/>
          <a:ext cx="11201400" cy="4425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88920"/>
                <a:gridCol w="1188720"/>
                <a:gridCol w="1298448"/>
                <a:gridCol w="1298448"/>
                <a:gridCol w="1170432"/>
                <a:gridCol w="1298448"/>
                <a:gridCol w="1170432"/>
                <a:gridCol w="987552"/>
              </a:tblGrid>
              <a:tr h="402336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selective</a:t>
                      </a:r>
                      <a:br/>
                      <a:r>
                        <a:t>(not visit-all)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</a:t>
                      </a:r>
                      <a:br/>
                      <a:r>
                        <a:t>(o,d,t₀,B)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arc-level fixed</a:t>
                      </a:r>
                      <a:br/>
                      <a:r>
                        <a:t>network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time-dep.</a:t>
                      </a:r>
                      <a:br/>
                      <a:r>
                        <a:t>travel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space–time</a:t>
                      </a:r>
                      <a:br/>
                      <a:r>
                        <a:t>coverage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learned</a:t>
                      </a:r>
                      <a:br/>
                      <a:r>
                        <a:t>amortised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budget</a:t>
                      </a:r>
                      <a:br/>
                      <a:r>
                        <a:t>0-shot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Kool AM '19 (OP)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TOP-Former '25 (TOP)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budget only,</a:t>
                      </a:r>
                      <a:br/>
                      <a:r>
                        <a:t>homog.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UAS-MSTOP '23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start + fuel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MTPOMO / MVMoE / RouteFinder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L / O attrs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variant-</a:t>
                      </a:r>
                      <a:br/>
                      <a:r>
                        <a:t>level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GOAL '25 (incl. OP task)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FM-MCVRP '24 (fixed graph SL)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fixed graph,</a:t>
                      </a:r>
                      <a:br/>
                      <a:r>
                        <a:t>nodes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SED2AM '25 (TD-VRP)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road data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Neural CARP '19–'26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Drive-by sensing OR (Han'24, Chen'24, Zhu'14)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1">
                          <a:solidFill>
                            <a:srgbClr val="EB6834"/>
                          </a:solidFill>
                        </a:defRPr>
                      </a:pPr>
                      <a:r>
                        <a:t>OURS (benchmark v1)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5" name="TextBox 204"/>
          <p:cNvSpPr txBox="1"/>
          <p:nvPr/>
        </p:nvSpPr>
        <p:spPr>
          <a:xfrm>
            <a:off x="1874519" y="605332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• No existing work is identical: every neighbour misses ≥ 2 columns. The application shelf (bottom) has the right problem but no learning; the neural shelves have learning but not this problem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Neighbours vs ours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Closest three, and exactly what they miss:</a:t>
            </a:r>
          </a:p>
          <a:p>
            <a:pPr>
              <a:defRPr sz="1100" b="0"/>
            </a:pPr>
            <a:r>
              <a:t>   – TOP-Former (closest neural): team + per-vehicle budget MASKING — but one shared depot, homogeneous budget, synchronized start, Euclidean nodes, static prizes, RL</a:t>
            </a:r>
          </a:p>
          <a:p>
            <a:pPr>
              <a:defRPr sz="1100" b="0"/>
            </a:pPr>
            <a:r>
              <a:t>   – FM-MCVRP (closest recipe): fixed graph + SL + joint fleet sequence — but visit-all min-cost CVRP, no budgets, no time dependence, deliberately sub-optimal labels</a:t>
            </a:r>
          </a:p>
          <a:p>
            <a:pPr>
              <a:defRPr sz="1100" b="0"/>
            </a:pPr>
            <a:r>
              <a:t>   – Han et al. '24 TR-B (closest problem): space–time sensing utility + budget on real networks — but pure OR, per-instance solving, no learned router at all</a:t>
            </a:r>
          </a:p>
          <a:p>
            <a:pPr>
              <a:defRPr sz="1250" b="1"/>
            </a:pPr>
            <a:r>
              <a:t>• Honesty box — every ingredient of our network exists somewhere: mask kernel (Kool), attribute conditioning (MTPOMO / RouteFinder), fixed-graph SL + joint sequence (FM-MCVRP), centralized team decoding (TOP-Former)</a:t>
            </a:r>
          </a:p>
          <a:p>
            <a:pPr>
              <a:defRPr sz="1250" b="1"/>
            </a:pPr>
            <a:r>
              <a:t>• What is ours: (C1) the first learned amortised solver for THIS problem class — budget-constrained team sensing-coverage routing, arc-level, time-dependent — the bridge between the two shelves</a:t>
            </a:r>
          </a:p>
          <a:p>
            <a:pPr>
              <a:defRPr sz="1100" b="0"/>
            </a:pPr>
            <a:r>
              <a:t>   – (C2) the switch-vs-dial analysis: exact characterisation of when a scalarisation weight cannot position solutions, and the constructive replacement (budget in the constraint)</a:t>
            </a:r>
          </a:p>
          <a:p>
            <a:pPr>
              <a:defRPr sz="1100" b="0"/>
            </a:pPr>
            <a:r>
              <a:t>   – (C3) value-level zero-shot evaluation: unseen CONTINUOUS budgets (interp + extrap) + a solver-tracked response curve — extends the variant-level zero-shot of MTPOMO / RouteFinder</a:t>
            </a:r>
          </a:p>
          <a:p>
            <a:pPr>
              <a:defRPr sz="1250" b="0"/>
            </a:pPr>
            <a:r>
              <a:t>• Threats we track: uniform-utility degeneracy (wᵢ pending) · toy scale (80 links) · greedy-only decoding · fast-moving neighbours (DeCoST ICLR'26)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1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Training (offline, run once)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Environment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fixed 4×4 · 80 links</a:t>
            </a:r>
            <a:br/>
            <a:r>
              <a:t>c(i,t) time-dependent</a:t>
            </a:r>
            <a:br/>
            <a:r>
              <a:t>TD-Dijkstra oracle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734056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Case sampler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δ ~ {0,1}⁸⁰ · V ∈ {2,3,4,6}</a:t>
            </a:r>
            <a:br/>
            <a:r>
              <a:t>ODs stratified + 4 held out</a:t>
            </a:r>
            <a:br/>
            <a:r>
              <a:t>t₀ ∈ {0…5}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965192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Budget assignment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ρᵥ ~ anchors {1, 1.5, 2, 3}</a:t>
            </a:r>
            <a:br/>
            <a:r>
              <a:t>Bᵥ = ⌈ρᵥ·τᵐⁱⁿᵥ⌉</a:t>
            </a:r>
            <a:br/>
            <a:r>
              <a:t>65 % heterogeneous fleets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196328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Gurobi MILP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time-expanded flow</a:t>
            </a:r>
            <a:br/>
            <a:r>
              <a:t>per-vehicle deadline t₀+B</a:t>
            </a:r>
            <a:br/>
            <a:r>
              <a:t>MIPGap 2 % · 0.90 s/case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9427464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Label set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10 780 (case, routes)</a:t>
            </a:r>
            <a:br/>
            <a:r>
              <a:t>0 errors · 0 hit the cap</a:t>
            </a:r>
            <a:br/>
            <a:r>
              <a:t>~17 min · 15 workers</a:t>
            </a:r>
          </a:p>
        </p:txBody>
      </p:sp>
      <p:cxnSp>
        <p:nvCxnSpPr>
          <p:cNvPr id="209" name="Connector 208"/>
          <p:cNvCxnSpPr>
            <a:stCxn id="204" idx="3"/>
            <a:endCxn id="205" idx="1"/>
          </p:cNvCxnSpPr>
          <p:nvPr/>
        </p:nvCxnSpPr>
        <p:spPr>
          <a:xfrm flipV="1">
            <a:off x="2551176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5" idx="3"/>
            <a:endCxn id="206" idx="1"/>
          </p:cNvCxnSpPr>
          <p:nvPr/>
        </p:nvCxnSpPr>
        <p:spPr>
          <a:xfrm flipV="1">
            <a:off x="4782312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6" idx="3"/>
            <a:endCxn id="207" idx="1"/>
          </p:cNvCxnSpPr>
          <p:nvPr/>
        </p:nvCxnSpPr>
        <p:spPr>
          <a:xfrm flipV="1">
            <a:off x="7013448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7" idx="3"/>
            <a:endCxn id="208" idx="1"/>
          </p:cNvCxnSpPr>
          <p:nvPr/>
        </p:nvCxnSpPr>
        <p:spPr>
          <a:xfrm flipV="1">
            <a:off x="9244584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502920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Tokenise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[BOS v₁-links SEP v₂-links</a:t>
            </a:r>
            <a:br/>
            <a:r>
              <a:t>SEP … EOS] · vocab 84</a:t>
            </a:r>
            <a:br/>
            <a:r>
              <a:t>one string = whole fleet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319272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Teacher forcing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predict the next link token</a:t>
            </a:r>
            <a:br/>
            <a:r>
              <a:t>cross-entropy (PAD ignored)</a:t>
            </a:r>
            <a:br/>
            <a:r>
              <a:t>AdamW 3e-4 · batch 32 · 60 ep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135624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Select by GENERATION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each epoch: masked-greedy</a:t>
            </a:r>
            <a:br/>
            <a:r>
              <a:t>decode 150 val cases →</a:t>
            </a:r>
            <a:br/>
            <a:r>
              <a:t>TRUE objective gap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951976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Best checkpoint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1.04 M params</a:t>
            </a:r>
            <a:br/>
            <a:r>
              <a:t>3 seeds · ~4 min/seed</a:t>
            </a:r>
            <a:br/>
            <a:r>
              <a:t>(one RTX 3090)</a:t>
            </a:r>
          </a:p>
        </p:txBody>
      </p:sp>
      <p:cxnSp>
        <p:nvCxnSpPr>
          <p:cNvPr id="217" name="Connector 216"/>
          <p:cNvCxnSpPr>
            <a:stCxn id="213" idx="3"/>
            <a:endCxn id="214" idx="1"/>
          </p:cNvCxnSpPr>
          <p:nvPr/>
        </p:nvCxnSpPr>
        <p:spPr>
          <a:xfrm flipV="1">
            <a:off x="3118104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4" idx="3"/>
            <a:endCxn id="215" idx="1"/>
          </p:cNvCxnSpPr>
          <p:nvPr/>
        </p:nvCxnSpPr>
        <p:spPr>
          <a:xfrm flipV="1">
            <a:off x="5934456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5" idx="3"/>
            <a:endCxn id="216" idx="1"/>
          </p:cNvCxnSpPr>
          <p:nvPr/>
        </p:nvCxnSpPr>
        <p:spPr>
          <a:xfrm flipV="1">
            <a:off x="8750808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08" idx="2"/>
            <a:endCxn id="213" idx="0"/>
          </p:cNvCxnSpPr>
          <p:nvPr/>
        </p:nvCxnSpPr>
        <p:spPr>
          <a:xfrm flipH="1">
            <a:off x="1810512" y="2423160"/>
            <a:ext cx="8641080" cy="64008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Loss is imitation only: next-link cross-entropy on Gurobi's sequences — no solver, no decoding, no reward inside the training loop</a:t>
            </a:r>
          </a:p>
          <a:p>
            <a:pPr>
              <a:defRPr sz="1200" b="1"/>
            </a:pPr>
            <a:r>
              <a:t>• Model selection is NOT the training loss: CE keeps improving while true solution quality can worsen (imitation overfitting) — selecting on generated-solution gap catches this</a:t>
            </a:r>
          </a:p>
          <a:p>
            <a:pPr>
              <a:defRPr sz="1200" b="0"/>
            </a:pPr>
            <a:r>
              <a:t>• The budget enters twice already at training time: as an input feature ([ρᵥ, Bᵥ/H] in the task token) and inside the validation decoder's feasibility mask</a:t>
            </a:r>
          </a:p>
          <a:p>
            <a:pPr>
              <a:defRPr sz="1200" b="0"/>
            </a:pPr>
            <a:r>
              <a:t>• Everything above runs once; retraining is ~20 min end-to-end (farm + 3 seeds)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2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Generation (online, per case)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00200"/>
            <a:ext cx="214884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New case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today's δ</a:t>
            </a:r>
            <a:br/>
            <a:r>
              <a:t>V tasks (o, d, t₀, B)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971800" y="1600200"/>
            <a:ext cx="25146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Encoder — runs ONCE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80 link tokens + V task</a:t>
            </a:r>
            <a:br/>
            <a:r>
              <a:t>tokens → case memory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06440" y="1600200"/>
            <a:ext cx="3246120" cy="109728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step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decoder → logits over 84</a:t>
            </a:r>
            <a:br/>
            <a:r>
              <a:t>+ feasibility mask (−∞)</a:t>
            </a:r>
            <a:br/>
            <a:r>
              <a:t>→ argmax next link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9646920" y="160020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V routes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feasible by</a:t>
            </a:r>
            <a:br/>
            <a:r>
              <a:t>construction</a:t>
            </a:r>
          </a:p>
        </p:txBody>
      </p:sp>
      <p:cxnSp>
        <p:nvCxnSpPr>
          <p:cNvPr id="208" name="Connector 207"/>
          <p:cNvCxnSpPr>
            <a:stCxn id="204" idx="3"/>
            <a:endCxn id="205" idx="1"/>
          </p:cNvCxnSpPr>
          <p:nvPr/>
        </p:nvCxnSpPr>
        <p:spPr>
          <a:xfrm flipV="1">
            <a:off x="265176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5" idx="3"/>
            <a:endCxn id="206" idx="1"/>
          </p:cNvCxnSpPr>
          <p:nvPr/>
        </p:nvCxnSpPr>
        <p:spPr>
          <a:xfrm flipV="1">
            <a:off x="548640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6" idx="3"/>
            <a:endCxn id="207" idx="1"/>
          </p:cNvCxnSpPr>
          <p:nvPr/>
        </p:nvCxnSpPr>
        <p:spPr>
          <a:xfrm flipV="1">
            <a:off x="9052560" y="214884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6080760" y="3154680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5240">
            <a:solidFill>
              <a:srgbClr val="8A88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⟲  append token · t += c(l, t) · repeat until EOS</a:t>
            </a:r>
          </a:p>
        </p:txBody>
      </p:sp>
      <p:cxnSp>
        <p:nvCxnSpPr>
          <p:cNvPr id="212" name="Connector 211"/>
          <p:cNvCxnSpPr>
            <a:stCxn id="206" idx="2"/>
            <a:endCxn id="211" idx="0"/>
          </p:cNvCxnSpPr>
          <p:nvPr/>
        </p:nvCxnSpPr>
        <p:spPr>
          <a:xfrm>
            <a:off x="7429500" y="2697480"/>
            <a:ext cx="274320" cy="45720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914400" y="301752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(0 parameters)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① not a road successor / U-turn</a:t>
            </a:r>
            <a:br/>
            <a:r>
              <a:t>② cannot reach OWN destination by t₀ᵥ + Bᵥ  (TD-Dijkstra query)</a:t>
            </a:r>
            <a:br/>
            <a:r>
              <a:t>③ SEP only when parked next to own gate; EOS after V SEPs</a:t>
            </a:r>
          </a:p>
        </p:txBody>
      </p:sp>
      <p:cxnSp>
        <p:nvCxnSpPr>
          <p:cNvPr id="214" name="Connector 213"/>
          <p:cNvCxnSpPr>
            <a:stCxn id="213" idx="0"/>
            <a:endCxn id="206" idx="2"/>
          </p:cNvCxnSpPr>
          <p:nvPr/>
        </p:nvCxnSpPr>
        <p:spPr>
          <a:xfrm flipV="1">
            <a:off x="2971800" y="2697480"/>
            <a:ext cx="4457700" cy="320040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6–9 ms per case on one GPU — including the mask's earliest-arrival queries; no solver call anywhere at deployment</a:t>
            </a:r>
          </a:p>
          <a:p>
            <a:pPr>
              <a:defRPr sz="1200" b="1"/>
            </a:pPr>
            <a:r>
              <a:t>• The mask is why unseen budgets stay feasible: feasibility is ENFORCED by rules, the network only ranks the legal moves (the budget has a hard mechanical channel, not just a soft preference from the labels)</a:t>
            </a:r>
          </a:p>
          <a:p>
            <a:pPr>
              <a:defRPr sz="1200" b="0"/>
            </a:pPr>
            <a:r>
              <a:t>• SEP ends a vehicle; decoding continues with the next vehicle from its own (o, t₀) — later vehicles see earlier routes through self-attention (coordination)</a:t>
            </a:r>
          </a:p>
          <a:p>
            <a:pPr>
              <a:defRPr sz="1200" b="0"/>
            </a:pPr>
            <a:r>
              <a:t>• Today: greedy decoding. Multi-sample (nucleus) decoding is the known next lever — inference-only, no retraining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Architecture overview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Inputs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congestion δ (80)</a:t>
            </a:r>
            <a:br/>
            <a:r>
              <a:t>V tasks</a:t>
            </a:r>
            <a:br/>
            <a:r>
              <a:t>(o, d, t₀, ρ, B/H)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154680" y="1645920"/>
            <a:ext cx="233172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×3 layers · d = 128</a:t>
            </a:r>
            <a:br/>
            <a:r>
              <a:t>4 heads · pre-norm</a:t>
            </a:r>
            <a:br/>
            <a:r>
              <a:t>runs once per case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9788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Case memory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(80 + V) × d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732520" y="1645920"/>
            <a:ext cx="29260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decoder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joint fleet sequence</a:t>
            </a:r>
            <a:br/>
            <a:r>
              <a:t>×3 blocks → head (84)</a:t>
            </a:r>
            <a:br/>
            <a:r>
              <a:t>→ masked softmax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732520" y="3749039"/>
            <a:ext cx="2926080" cy="11887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topology · OWN deadline</a:t>
            </a:r>
            <a:br/>
            <a:r>
              <a:t>t₀ᵥ + Bᵥ · SEP/EOS grammar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5120640" y="3749039"/>
            <a:ext cx="2651760" cy="11887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Fleet plan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V feasible routes</a:t>
            </a:r>
            <a:br/>
            <a:r>
              <a:t>6–9 ms per case</a:t>
            </a:r>
          </a:p>
        </p:txBody>
      </p:sp>
      <p:cxnSp>
        <p:nvCxnSpPr>
          <p:cNvPr id="210" name="Connector 209"/>
          <p:cNvCxnSpPr>
            <a:stCxn id="204" idx="3"/>
            <a:endCxn id="205" idx="1"/>
          </p:cNvCxnSpPr>
          <p:nvPr/>
        </p:nvCxnSpPr>
        <p:spPr>
          <a:xfrm flipV="1">
            <a:off x="27432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5" idx="3"/>
            <a:endCxn id="206" idx="1"/>
          </p:cNvCxnSpPr>
          <p:nvPr/>
        </p:nvCxnSpPr>
        <p:spPr>
          <a:xfrm flipV="1">
            <a:off x="54864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6" idx="3"/>
            <a:endCxn id="207" idx="1"/>
          </p:cNvCxnSpPr>
          <p:nvPr/>
        </p:nvCxnSpPr>
        <p:spPr>
          <a:xfrm flipV="1">
            <a:off x="8138160" y="233172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>
            <a:stCxn id="208" idx="0"/>
            <a:endCxn id="207" idx="2"/>
          </p:cNvCxnSpPr>
          <p:nvPr/>
        </p:nvCxnSpPr>
        <p:spPr>
          <a:xfrm flipH="1" flipV="1">
            <a:off x="10195560" y="3017520"/>
            <a:ext cx="0" cy="731519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>
            <a:stCxn id="207" idx="2"/>
            <a:endCxn id="209" idx="3"/>
          </p:cNvCxnSpPr>
          <p:nvPr/>
        </p:nvCxnSpPr>
        <p:spPr>
          <a:xfrm flipH="1">
            <a:off x="7772400" y="3017520"/>
            <a:ext cx="2423160" cy="1325879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5760720" y="312724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60" b="0">
                <a:solidFill>
                  <a:srgbClr val="52514E"/>
                </a:solidFill>
              </a:defRPr>
            </a:pPr>
            <a:r>
              <a:t>the decoder cross-attends to the</a:t>
            </a:r>
            <a:br/>
            <a:r>
              <a:t>case memory at EVERY step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The two redesign points (details on the next two slides):</a:t>
            </a:r>
          </a:p>
          <a:p>
            <a:pPr>
              <a:defRPr sz="1050" b="0"/>
            </a:pPr>
            <a:r>
              <a:t>   – ① instance attributes (o, d, t₀, B) moved OUT of the weights and INTO the input — one model serves every OD, fleet size, departure and budget</a:t>
            </a:r>
          </a:p>
          <a:p>
            <a:pPr>
              <a:defRPr sz="1050" b="0"/>
            </a:pPr>
            <a:r>
              <a:t>   – ② the mask threshold is each vehicle's OWN deadline t₀ᵥ + Bᵥ — unseen budgets stay feasible by construction</a:t>
            </a:r>
          </a:p>
          <a:p>
            <a:pPr>
              <a:defRPr sz="1200" b="0"/>
            </a:pPr>
            <a:r>
              <a:t>• All diagram elements are native shapes — fully editable (boxes, elbow connectors)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Encoder — token construction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3716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52514E"/>
                </a:solidFill>
              </a:defRPr>
            </a:pPr>
            <a:r>
              <a:t>Link tokens  (×80, one per directed link)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Emb(link id)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26974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W · δᵢ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41732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link token  (d)</a:t>
            </a:r>
          </a:p>
        </p:txBody>
      </p:sp>
      <p:cxnSp>
        <p:nvCxnSpPr>
          <p:cNvPr id="208" name="Connector 207"/>
          <p:cNvCxnSpPr>
            <a:stCxn id="205" idx="2"/>
            <a:endCxn id="207" idx="0"/>
          </p:cNvCxnSpPr>
          <p:nvPr/>
        </p:nvCxnSpPr>
        <p:spPr>
          <a:xfrm>
            <a:off x="1531620" y="2258568"/>
            <a:ext cx="11430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6" idx="2"/>
            <a:endCxn id="207" idx="0"/>
          </p:cNvCxnSpPr>
          <p:nvPr/>
        </p:nvCxnSpPr>
        <p:spPr>
          <a:xfrm flipH="1">
            <a:off x="2674620" y="2258568"/>
            <a:ext cx="9144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5120640" y="1371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B6834"/>
                </a:solidFill>
              </a:defRPr>
            </a:pPr>
            <a:r>
              <a:t>Task tokens  (×V, one per vehicle — redesign ①: attributes as INPUT)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5120640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Emb_o(o)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784848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Emb_d(d)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8449056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Proj(t₀)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10113264" y="1691640"/>
            <a:ext cx="1572768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EB6834"/>
                </a:solidFill>
              </a:defRPr>
            </a:pPr>
            <a:r>
              <a:t>Proj([ρ, B/H])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17804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task token  (d)</a:t>
            </a:r>
          </a:p>
        </p:txBody>
      </p:sp>
      <p:cxnSp>
        <p:nvCxnSpPr>
          <p:cNvPr id="216" name="Connector 215"/>
          <p:cNvCxnSpPr>
            <a:stCxn id="211" idx="2"/>
            <a:endCxn id="215" idx="0"/>
          </p:cNvCxnSpPr>
          <p:nvPr/>
        </p:nvCxnSpPr>
        <p:spPr>
          <a:xfrm>
            <a:off x="5861304" y="2258568"/>
            <a:ext cx="2574036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2" idx="2"/>
            <a:endCxn id="215" idx="0"/>
          </p:cNvCxnSpPr>
          <p:nvPr/>
        </p:nvCxnSpPr>
        <p:spPr>
          <a:xfrm>
            <a:off x="7525512" y="2258568"/>
            <a:ext cx="90982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3" idx="2"/>
            <a:endCxn id="215" idx="0"/>
          </p:cNvCxnSpPr>
          <p:nvPr/>
        </p:nvCxnSpPr>
        <p:spPr>
          <a:xfrm flipH="1">
            <a:off x="8435340" y="2258568"/>
            <a:ext cx="75438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4" idx="2"/>
            <a:endCxn id="215" idx="0"/>
          </p:cNvCxnSpPr>
          <p:nvPr/>
        </p:nvCxnSpPr>
        <p:spPr>
          <a:xfrm flipH="1">
            <a:off x="8435340" y="2258568"/>
            <a:ext cx="246430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141732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17804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 (4 attribute channels)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3337560" y="365760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0">
                <a:solidFill>
                  <a:srgbClr val="0B0B0B"/>
                </a:solidFill>
              </a:defRPr>
            </a:pPr>
            <a:r>
              <a:t>concatenate:  (80 + V) tokens</a:t>
            </a:r>
          </a:p>
        </p:txBody>
      </p:sp>
      <p:cxnSp>
        <p:nvCxnSpPr>
          <p:cNvPr id="223" name="Connector 222"/>
          <p:cNvCxnSpPr>
            <a:stCxn id="207" idx="2"/>
            <a:endCxn id="222" idx="0"/>
          </p:cNvCxnSpPr>
          <p:nvPr/>
        </p:nvCxnSpPr>
        <p:spPr>
          <a:xfrm>
            <a:off x="2674620" y="3218688"/>
            <a:ext cx="340614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>
            <a:stCxn id="215" idx="2"/>
            <a:endCxn id="222" idx="0"/>
          </p:cNvCxnSpPr>
          <p:nvPr/>
        </p:nvCxnSpPr>
        <p:spPr>
          <a:xfrm flipH="1">
            <a:off x="6080760" y="3218688"/>
            <a:ext cx="235458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unded Rectangle 224"/>
          <p:cNvSpPr/>
          <p:nvPr/>
        </p:nvSpPr>
        <p:spPr>
          <a:xfrm>
            <a:off x="3337560" y="457200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  ×3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self-attention + FFN · d = 128 · 4 heads · pre-norm</a:t>
            </a:r>
          </a:p>
        </p:txBody>
      </p:sp>
      <p:cxnSp>
        <p:nvCxnSpPr>
          <p:cNvPr id="226" name="Connector 225"/>
          <p:cNvCxnSpPr>
            <a:stCxn id="222" idx="2"/>
            <a:endCxn id="225" idx="0"/>
          </p:cNvCxnSpPr>
          <p:nvPr/>
        </p:nvCxnSpPr>
        <p:spPr>
          <a:xfrm flipH="1">
            <a:off x="6080760" y="4206240"/>
            <a:ext cx="0" cy="36576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/>
          <p:cNvSpPr/>
          <p:nvPr/>
        </p:nvSpPr>
        <p:spPr>
          <a:xfrm>
            <a:off x="3337560" y="55778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2A78D6"/>
                </a:solidFill>
              </a:defRPr>
            </a:pPr>
            <a:r>
              <a:t>case memory   (80 + V) × d</a:t>
            </a:r>
          </a:p>
        </p:txBody>
      </p:sp>
      <p:cxnSp>
        <p:nvCxnSpPr>
          <p:cNvPr id="228" name="Connector 227"/>
          <p:cNvCxnSpPr>
            <a:stCxn id="225" idx="2"/>
            <a:endCxn id="227" idx="0"/>
          </p:cNvCxnSpPr>
          <p:nvPr/>
        </p:nvCxnSpPr>
        <p:spPr>
          <a:xfrm flipH="1">
            <a:off x="6080760" y="5230368"/>
            <a:ext cx="0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①: one set of weights serves every OD pair, fleet size, departure and budget; the encoder reasons about the fleet JOINTLY. Same recipe as the routing foundation models (RouteFinder / MTPOMO attribute embeddings) — our budget plays their capacity's role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Decoder — one step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301752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BOS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22191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626864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l₂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31536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EB6834"/>
                </a:solidFill>
              </a:defRPr>
            </a:pPr>
            <a:r>
              <a:t>SEP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236208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704088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…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017520" y="11155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2514E"/>
                </a:solidFill>
              </a:defRPr>
            </a:pPr>
            <a:r>
              <a:t>partial JOINT fleet sequence — SEP parks a vehicle, the next one starts from its own (o, t₀)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91840" y="224028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masked self-attention (causal)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291840" y="306324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cross-attention → case memory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3291840" y="388620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FFN     (decoder block ×3)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291840" y="470916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linear head → logits over vocab (84)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3291840" y="553212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softmax → next link (argmax / sample)</a:t>
            </a:r>
          </a:p>
        </p:txBody>
      </p:sp>
      <p:cxnSp>
        <p:nvCxnSpPr>
          <p:cNvPr id="216" name="Connector 215"/>
          <p:cNvCxnSpPr>
            <a:stCxn id="207" idx="2"/>
            <a:endCxn id="211" idx="0"/>
          </p:cNvCxnSpPr>
          <p:nvPr/>
        </p:nvCxnSpPr>
        <p:spPr>
          <a:xfrm flipH="1">
            <a:off x="5394960" y="1892808"/>
            <a:ext cx="393192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1" idx="2"/>
            <a:endCxn id="212" idx="0"/>
          </p:cNvCxnSpPr>
          <p:nvPr/>
        </p:nvCxnSpPr>
        <p:spPr>
          <a:xfrm flipH="1">
            <a:off x="5394960" y="277063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2" idx="2"/>
            <a:endCxn id="213" idx="0"/>
          </p:cNvCxnSpPr>
          <p:nvPr/>
        </p:nvCxnSpPr>
        <p:spPr>
          <a:xfrm flipH="1">
            <a:off x="5394960" y="359359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3" idx="2"/>
            <a:endCxn id="214" idx="0"/>
          </p:cNvCxnSpPr>
          <p:nvPr/>
        </p:nvCxnSpPr>
        <p:spPr>
          <a:xfrm flipH="1">
            <a:off x="5394960" y="441655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14" idx="2"/>
            <a:endCxn id="215" idx="0"/>
          </p:cNvCxnSpPr>
          <p:nvPr/>
        </p:nvCxnSpPr>
        <p:spPr>
          <a:xfrm flipH="1">
            <a:off x="5394960" y="523951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/>
          <p:cNvSpPr/>
          <p:nvPr/>
        </p:nvSpPr>
        <p:spPr>
          <a:xfrm>
            <a:off x="640080" y="3063240"/>
            <a:ext cx="2011680" cy="530352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2A78D6"/>
                </a:solidFill>
              </a:defRPr>
            </a:pPr>
            <a:r>
              <a:t>case memory</a:t>
            </a:r>
          </a:p>
        </p:txBody>
      </p:sp>
      <p:cxnSp>
        <p:nvCxnSpPr>
          <p:cNvPr id="222" name="Connector 221"/>
          <p:cNvCxnSpPr>
            <a:stCxn id="221" idx="3"/>
            <a:endCxn id="212" idx="1"/>
          </p:cNvCxnSpPr>
          <p:nvPr/>
        </p:nvCxnSpPr>
        <p:spPr>
          <a:xfrm flipV="1">
            <a:off x="2651760" y="3328416"/>
            <a:ext cx="640080" cy="0"/>
          </a:xfrm>
          <a:prstGeom prst="bentConnector3">
            <a:avLst/>
          </a:prstGeom>
          <a:ln w="19050">
            <a:solidFill>
              <a:srgbClr val="2A7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8275320" y="356616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— redesign ②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logits[illegal] = −∞</a:t>
            </a:r>
            <a:br/>
            <a:r>
              <a:t>① not a successor / U-turn</a:t>
            </a:r>
            <a:br/>
            <a:r>
              <a:t>② cannot reach own dest by t₀ᵥ + Bᵥ</a:t>
            </a:r>
            <a:br/>
            <a:r>
              <a:t>③ SEP only next to own gate</a:t>
            </a:r>
          </a:p>
        </p:txBody>
      </p:sp>
      <p:cxnSp>
        <p:nvCxnSpPr>
          <p:cNvPr id="224" name="Connector 223"/>
          <p:cNvCxnSpPr>
            <a:stCxn id="223" idx="1"/>
            <a:endCxn id="214" idx="3"/>
          </p:cNvCxnSpPr>
          <p:nvPr/>
        </p:nvCxnSpPr>
        <p:spPr>
          <a:xfrm flipH="1">
            <a:off x="7498080" y="4434840"/>
            <a:ext cx="777240" cy="539496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>
            <a:stCxn id="215" idx="3"/>
            <a:endCxn id="209" idx="2"/>
          </p:cNvCxnSpPr>
          <p:nvPr/>
        </p:nvCxnSpPr>
        <p:spPr>
          <a:xfrm flipH="1" flipV="1">
            <a:off x="7397496" y="1892808"/>
            <a:ext cx="100584" cy="390448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7699248" y="2212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52514E"/>
                </a:solidFill>
              </a:defRPr>
            </a:pPr>
            <a:r>
              <a:t>append next token · advance clock t += c(l, t) · repeat until EOS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②: the budget gets a HARD channel into decoding (mask), not only a soft preference from labels — feasibility is enforced, not learned, so budgets never seen in training still decode to feasible routes. The mask has no parameters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Label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10 780 Gurobi labels · 0 errors · 0 solves hit the 60 s cap · 0.90 s mean per case (tight budgets prune the time-expanded graph → labelling ~30× faster than the full-horizon farm) · ~17 min on 15 workers, fully resumable</a:t>
            </a:r>
          </a:p>
          <a:p>
            <a:pPr>
              <a:defRPr sz="1350" b="1"/>
            </a:pPr>
            <a:r>
              <a:t>• Shards:</a:t>
            </a:r>
          </a:p>
          <a:p>
            <a:pPr>
              <a:defRPr sz="1200" b="0"/>
            </a:pPr>
            <a:r>
              <a:t>   – train 8 000 · same-distribution test 800</a:t>
            </a:r>
          </a:p>
          <a:p>
            <a:pPr>
              <a:defRPr sz="1200" b="0"/>
            </a:pPr>
            <a:r>
              <a:t>   – OD zero-shot 400 (4 gate pairs never trained) · fleet extrapolation 400 (V ∈ {5,8})</a:t>
            </a:r>
          </a:p>
          <a:p>
            <a:pPr>
              <a:defRPr sz="1200" b="0"/>
            </a:pPr>
            <a:r>
              <a:t>   – UNSEEN-budget interpolation 400 (ρ ∈ {1.25, 1.75}) · extrapolation 300 (ρ = 4.0)</a:t>
            </a:r>
          </a:p>
          <a:p>
            <a:pPr>
              <a:defRPr sz="1200" b="0"/>
            </a:pPr>
            <a:r>
              <a:t>   – response curve: 60 fixed instances × 8 ρ values, re-solved by Gurobi at every ρ</a:t>
            </a:r>
          </a:p>
          <a:p>
            <a:pPr>
              <a:defRPr sz="1350" b="0"/>
            </a:pPr>
            <a:r>
              <a:t>• Trained ρ anchors {1.0, 1.5, 2.0, 3.0}; the three held-out ρ values appear in NO training label</a:t>
            </a:r>
          </a:p>
          <a:p>
            <a:pPr>
              <a:defRPr sz="1350" b="0"/>
            </a:pPr>
            <a:r>
              <a:t>• Every label passes two checks at write time: flow-decomposed objective ≡ Gurobi ObjVal (1e-6) and every per-vehicle deadline re-validated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Design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Five layers, 2 300 cases, none seen in training:</a:t>
            </a:r>
          </a:p>
          <a:p>
            <a:pPr>
              <a:defRPr sz="1200" b="0"/>
            </a:pPr>
            <a:r>
              <a:t>   – L1 same-distribution — 800 fresh cases (trained ODs, new δ / task mixes)</a:t>
            </a:r>
          </a:p>
          <a:p>
            <a:pPr>
              <a:defRPr sz="1200" b="0"/>
            </a:pPr>
            <a:r>
              <a:t>   – L2 OD ZERO-SHOT — 400 cases on 4 OD pairs never trained (G1→G5, G6→G2, G4→G8, G7→G3)</a:t>
            </a:r>
          </a:p>
          <a:p>
            <a:pPr>
              <a:defRPr sz="1200" b="0"/>
            </a:pPr>
            <a:r>
              <a:t>   – L3 fleet extrapolation — 400 cases with V ∈ {5, 8}, trained on {2,3,4,6}</a:t>
            </a:r>
          </a:p>
          <a:p>
            <a:pPr>
              <a:defRPr sz="1200" b="0"/>
            </a:pPr>
            <a:r>
              <a:t>   – L4a UNSEEN budget, interpolation — 400 cases at ρ ∈ {1.25, 1.75}</a:t>
            </a:r>
          </a:p>
          <a:p>
            <a:pPr>
              <a:defRPr sz="1200" b="0"/>
            </a:pPr>
            <a:r>
              <a:t>   – L4b UNSEEN budget, extrapolation — 300 cases at ρ = 4.0, beyond the trained range</a:t>
            </a:r>
          </a:p>
          <a:p>
            <a:pPr>
              <a:defRPr sz="1350" b="1"/>
            </a:pPr>
            <a:r>
              <a:t>• Plus the RESPONSE CURVE: 60 fixed instances re-solved at every ρ by both Gurobi and the model — did it learn the budget as a continuous quantity or memorise four settings?</a:t>
            </a:r>
          </a:p>
          <a:p>
            <a:pPr>
              <a:defRPr sz="1350" b="0"/>
            </a:pPr>
            <a:r>
              <a:t>• Metrics: feasibility rate · objective gap vs Gurobi (absolute + relative) · fraction matching or beating Gurobi · inference time · per-case CSV. 3 seeds, mean ± std</a:t>
            </a:r>
          </a:p>
          <a:p>
            <a:pPr>
              <a:defRPr sz="1350" b="0"/>
            </a:pPr>
            <a:r>
              <a:t>• Tuning used a validation slice of the training shard only; every reported number is from held-out shards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Five-layer exam</a:t>
            </a:r>
            <a:endParaRPr lang="zh-CN" altLang="en-US" sz="2800" dirty="0"/>
          </a:p>
        </p:txBody>
      </p:sp>
      <p:pic>
        <p:nvPicPr>
          <p:cNvPr id="204" name="Picture 203" descr="figS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52617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565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3 seeds × 60 epochs · 2 300 held-out cases, 100 % feasible in every layer · 6–9 ms per case · 274/800 of L1 match or beat Gurobi</a:t>
            </a:r>
          </a:p>
          <a:p>
            <a:pPr>
              <a:defRPr sz="1250" b="1"/>
            </a:pPr>
            <a:r>
              <a:t>• Unseen budgets (L4a, orange) cost about as much accuracy as an unseen fleet size — the budget generalises like the other conditioned attributes, not worse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Budget response curve</a:t>
            </a:r>
            <a:endParaRPr lang="zh-CN" altLang="en-US" sz="2800" dirty="0"/>
          </a:p>
        </p:txBody>
      </p:sp>
      <p:pic>
        <p:nvPicPr>
          <p:cNvPr id="204" name="Picture 203" descr="figS2_respons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4053969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70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Monotone response reproduced — including at ρ = 1.25 / 1.75 / 4.0, absent from every training label. At ρ = 1 the model is EXACTLY optimal (60/60); tracking degrades as slack grows (ρ = 4: 514 vs 708 cells) — the limit of greedy decoding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Summary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Where this stands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One recipe, verified end to end: Gurobi labels offline → 1.04 M-parameter Transformer → guaranteed-feasible millisecond inference, conditioned on each vehicle's own budget</a:t>
            </a:r>
          </a:p>
          <a:p>
            <a:pPr>
              <a:defRPr sz="1350" b="0"/>
            </a:pPr>
            <a:r>
              <a:t>• The control variable is now physical (shift length / energy), continuous, and demonstrably generalises to budgets never trained on</a:t>
            </a:r>
          </a:p>
          <a:p>
            <a:pPr>
              <a:defRPr sz="1350" b="0"/>
            </a:pPr>
            <a:r>
              <a:t>• Positioning: the first learned amortised solver for this problem class — the bridge between the drive-by-sensing OR shelf (right problem, no learning) and the neural routing shelf (right method, different problem)</a:t>
            </a:r>
          </a:p>
          <a:p>
            <a:pPr>
              <a:defRPr sz="1350" b="0"/>
            </a:pPr>
            <a:r>
              <a:t>• Verification chain at every step: MILP ≡ flow decomposition ≡ simulator · budget MILP ≡ the full-horizon MILP at B ≥ H · per-case CSVs against Gurobi on every held-out layer</a:t>
            </a:r>
          </a:p>
          <a:p>
            <a:pPr>
              <a:defRPr sz="1350" b="0"/>
            </a:pPr>
            <a:r>
              <a:t>• Known and deliberately open: with uniform cell utility, overlap = 0 in ~92 % of optimal solutions, so coverage ≈ cost. The budget controls HOW MUCH to roam; making WHICH cells a real decision needs heterogeneous utility wᵢ — the next modelling step, not a fix</a:t>
            </a:r>
          </a:p>
          <a:p>
            <a:pPr>
              <a:defRPr sz="1350" b="1"/>
            </a:pPr>
            <a:r>
              <a:t>• Next levers, in order: multi-sample (non-greedy) decoding · wider ρ range for extrapolation · data-volume slope · heterogeneous wᵢ · then the 5×5 real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4053</TotalTime>
  <Words>664</Words>
  <Application>Microsoft Office PowerPoint</Application>
  <PresentationFormat>Widescreen</PresentationFormat>
  <Paragraphs>133</Paragraphs>
  <Slides>10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59</cp:revision>
  <dcterms:created xsi:type="dcterms:W3CDTF">2025-11-01T23:58:16Z</dcterms:created>
  <dcterms:modified xsi:type="dcterms:W3CDTF">2026-08-02T19:39:51Z</dcterms:modified>
</cp:coreProperties>
</file>