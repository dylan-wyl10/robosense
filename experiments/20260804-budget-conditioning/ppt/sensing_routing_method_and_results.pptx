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324" r:id="rId18"/>
    <p:sldId id="325" r:id="rId19"/>
    <p:sldId id="326" r:id="rId20"/>
    <p:sldId id="327" r:id="rId21"/>
    <p:sldId id="328" r:id="rId22"/>
    <p:sldId id="329" r:id="rId23"/>
    <p:sldId id="330" r:id="rId24"/>
    <p:sldId id="331" r:id="rId25"/>
    <p:sldId id="332" r:id="rId26"/>
    <p:sldId id="333" r:id="rId27"/>
    <p:sldId id="334" r:id="rId28"/>
    <p:sldId id="335" r:id="rId29"/>
    <p:sldId id="336" r:id="rId30"/>
    <p:sldId id="337" r:id="rId31"/>
    <p:sldId id="338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AE976B"/>
    <a:srgbClr val="CCD2D8"/>
    <a:srgbClr val="E7EAED"/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43" autoAdjust="0"/>
    <p:restoredTop sz="78715" autoAdjust="0"/>
  </p:normalViewPr>
  <p:slideViewPr>
    <p:cSldViewPr snapToGrid="0">
      <p:cViewPr varScale="1">
        <p:scale>
          <a:sx n="95" d="100"/>
          <a:sy n="95" d="100"/>
        </p:scale>
        <p:origin x="1517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ilin Wang" userId="S::wang4517@purdue.edu::06abc78b-9058-4e15-afda-57e086dc17fc" providerId="AD" clId="Web-{0D53C210-D543-EEF5-D373-561EF8F735D5}"/>
    <pc:docChg chg="addSld delSld modSld">
      <pc:chgData name="Yilin Wang" userId="S::wang4517@purdue.edu::06abc78b-9058-4e15-afda-57e086dc17fc" providerId="AD" clId="Web-{0D53C210-D543-EEF5-D373-561EF8F735D5}" dt="2026-07-28T15:13:34.751" v="25" actId="14100"/>
      <pc:docMkLst>
        <pc:docMk/>
      </pc:docMkLst>
      <pc:sldChg chg="addSp delSp modSp add replId delAnim">
        <pc:chgData name="Yilin Wang" userId="S::wang4517@purdue.edu::06abc78b-9058-4e15-afda-57e086dc17fc" providerId="AD" clId="Web-{0D53C210-D543-EEF5-D373-561EF8F735D5}" dt="2026-07-28T15:13:34.751" v="25" actId="14100"/>
        <pc:sldMkLst>
          <pc:docMk/>
          <pc:sldMk cId="2831382767" sldId="324"/>
        </pc:sldMkLst>
        <pc:spChg chg="add mod">
          <ac:chgData name="Yilin Wang" userId="S::wang4517@purdue.edu::06abc78b-9058-4e15-afda-57e086dc17fc" providerId="AD" clId="Web-{0D53C210-D543-EEF5-D373-561EF8F735D5}" dt="2026-07-28T14:51:11.727" v="9"/>
          <ac:spMkLst>
            <pc:docMk/>
            <pc:sldMk cId="2831382767" sldId="324"/>
            <ac:spMk id="4" creationId="{A1BF681D-B533-1EEC-0B34-7B5963391A20}"/>
          </ac:spMkLst>
        </pc:spChg>
        <pc:spChg chg="add mod">
          <ac:chgData name="Yilin Wang" userId="S::wang4517@purdue.edu::06abc78b-9058-4e15-afda-57e086dc17fc" providerId="AD" clId="Web-{0D53C210-D543-EEF5-D373-561EF8F735D5}" dt="2026-07-28T14:51:19.852" v="15" actId="20577"/>
          <ac:spMkLst>
            <pc:docMk/>
            <pc:sldMk cId="2831382767" sldId="324"/>
            <ac:spMk id="9" creationId="{6460684C-5514-A7FE-301A-0735D9BC5FF8}"/>
          </ac:spMkLst>
        </pc:spChg>
        <pc:picChg chg="add mod">
          <ac:chgData name="Yilin Wang" userId="S::wang4517@purdue.edu::06abc78b-9058-4e15-afda-57e086dc17fc" providerId="AD" clId="Web-{0D53C210-D543-EEF5-D373-561EF8F735D5}" dt="2026-07-28T15:13:34.751" v="25" actId="14100"/>
          <ac:picMkLst>
            <pc:docMk/>
            <pc:sldMk cId="2831382767" sldId="324"/>
            <ac:picMk id="10" creationId="{6ADF9D61-5DD0-EC04-A9E0-2B0BA3B782AC}"/>
          </ac:picMkLst>
        </pc:picChg>
      </pc:sldChg>
    </pc:docChg>
  </pc:docChgLst>
  <pc:docChgLst>
    <pc:chgData name="Yilin Wang" userId="06abc78b-9058-4e15-afda-57e086dc17fc" providerId="ADAL" clId="{82DDD170-D4B5-46ED-803B-C300EEBF3622}"/>
    <pc:docChg chg="undo custSel addSld delSld modSld">
      <pc:chgData name="Yilin Wang" userId="06abc78b-9058-4e15-afda-57e086dc17fc" providerId="ADAL" clId="{82DDD170-D4B5-46ED-803B-C300EEBF3622}" dt="2026-08-02T19:39:47.362" v="790" actId="47"/>
      <pc:docMkLst>
        <pc:docMk/>
      </pc:docMkLst>
      <pc:sldChg chg="addSp delSp modSp mod">
        <pc:chgData name="Yilin Wang" userId="06abc78b-9058-4e15-afda-57e086dc17fc" providerId="ADAL" clId="{82DDD170-D4B5-46ED-803B-C300EEBF3622}" dt="2026-07-13T22:44:02.209" v="27" actId="14100"/>
        <pc:sldMkLst>
          <pc:docMk/>
          <pc:sldMk cId="3471812488" sldId="256"/>
        </pc:sldMkLst>
        <pc:spChg chg="add mod">
          <ac:chgData name="Yilin Wang" userId="06abc78b-9058-4e15-afda-57e086dc17fc" providerId="ADAL" clId="{82DDD170-D4B5-46ED-803B-C300EEBF3622}" dt="2026-07-13T22:44:02.209" v="27" actId="14100"/>
          <ac:spMkLst>
            <pc:docMk/>
            <pc:sldMk cId="3471812488" sldId="256"/>
            <ac:spMk id="5" creationId="{EFA50483-5FBA-B800-AA30-C5212FB961E8}"/>
          </ac:spMkLst>
        </pc:spChg>
      </pc:sldChg>
      <pc:sldChg chg="addSp delSp modSp mod chgLayout">
        <pc:chgData name="Yilin Wang" userId="06abc78b-9058-4e15-afda-57e086dc17fc" providerId="ADAL" clId="{82DDD170-D4B5-46ED-803B-C300EEBF3622}" dt="2026-07-13T22:44:46.856" v="68" actId="6264"/>
        <pc:sldMkLst>
          <pc:docMk/>
          <pc:sldMk cId="2224584359" sldId="268"/>
        </pc:sldMkLst>
        <pc:spChg chg="mod or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7" creationId="{5C3159ED-D285-84F7-9178-F9410128B151}"/>
          </ac:spMkLst>
        </pc:spChg>
        <pc:spChg chg="mod or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217" creationId="{853F43F2-4E6A-FBFD-C07F-B587F8A85126}"/>
          </ac:spMkLst>
        </pc:spChg>
      </pc:sldChg>
      <pc:sldChg chg="add del">
        <pc:chgData name="Yilin Wang" userId="06abc78b-9058-4e15-afda-57e086dc17fc" providerId="ADAL" clId="{82DDD170-D4B5-46ED-803B-C300EEBF3622}" dt="2026-07-13T22:44:49.955" v="74" actId="47"/>
        <pc:sldMkLst>
          <pc:docMk/>
          <pc:sldMk cId="2645060846" sldId="269"/>
        </pc:sldMkLst>
      </pc:sldChg>
      <pc:sldChg chg="add del">
        <pc:chgData name="Yilin Wang" userId="06abc78b-9058-4e15-afda-57e086dc17fc" providerId="ADAL" clId="{82DDD170-D4B5-46ED-803B-C300EEBF3622}" dt="2026-07-13T22:44:49.632" v="73" actId="47"/>
        <pc:sldMkLst>
          <pc:docMk/>
          <pc:sldMk cId="3269813319" sldId="270"/>
        </pc:sldMkLst>
      </pc:sldChg>
      <pc:sldChg chg="add del">
        <pc:chgData name="Yilin Wang" userId="06abc78b-9058-4e15-afda-57e086dc17fc" providerId="ADAL" clId="{82DDD170-D4B5-46ED-803B-C300EEBF3622}" dt="2026-07-13T22:44:51.595" v="76" actId="47"/>
        <pc:sldMkLst>
          <pc:docMk/>
          <pc:sldMk cId="2345577701" sldId="280"/>
        </pc:sldMkLst>
      </pc:sldChg>
      <pc:sldChg chg="add del">
        <pc:chgData name="Yilin Wang" userId="06abc78b-9058-4e15-afda-57e086dc17fc" providerId="ADAL" clId="{82DDD170-D4B5-46ED-803B-C300EEBF3622}" dt="2026-07-13T22:44:50.990" v="75" actId="47"/>
        <pc:sldMkLst>
          <pc:docMk/>
          <pc:sldMk cId="2478217048" sldId="281"/>
        </pc:sldMkLst>
      </pc:sldChg>
      <pc:sldChg chg="add del">
        <pc:chgData name="Yilin Wang" userId="06abc78b-9058-4e15-afda-57e086dc17fc" providerId="ADAL" clId="{82DDD170-D4B5-46ED-803B-C300EEBF3622}" dt="2026-08-02T19:39:47.362" v="790" actId="47"/>
        <pc:sldMkLst>
          <pc:docMk/>
          <pc:sldMk cId="3966750816" sldId="290"/>
        </pc:sldMkLst>
      </pc:sldChg>
      <pc:sldChg chg="modSp mod">
        <pc:chgData name="Yilin Wang" userId="06abc78b-9058-4e15-afda-57e086dc17fc" providerId="ADAL" clId="{82DDD170-D4B5-46ED-803B-C300EEBF3622}" dt="2026-07-13T22:44:59.217" v="88" actId="20577"/>
        <pc:sldMkLst>
          <pc:docMk/>
          <pc:sldMk cId="4274439896" sldId="292"/>
        </pc:sldMkLst>
        <pc:spChg chg="mod">
          <ac:chgData name="Yilin Wang" userId="06abc78b-9058-4e15-afda-57e086dc17fc" providerId="ADAL" clId="{82DDD170-D4B5-46ED-803B-C300EEBF3622}" dt="2026-07-13T22:44:59.217" v="88" actId="20577"/>
          <ac:spMkLst>
            <pc:docMk/>
            <pc:sldMk cId="4274439896" sldId="292"/>
            <ac:spMk id="3" creationId="{F3773503-EC16-E6FE-706B-80EDCBE2D3E4}"/>
          </ac:spMkLst>
        </pc:spChg>
      </pc:sldChg>
      <pc:sldChg chg="add del">
        <pc:chgData name="Yilin Wang" userId="06abc78b-9058-4e15-afda-57e086dc17fc" providerId="ADAL" clId="{82DDD170-D4B5-46ED-803B-C300EEBF3622}" dt="2026-07-13T22:44:51.829" v="77" actId="47"/>
        <pc:sldMkLst>
          <pc:docMk/>
          <pc:sldMk cId="1669817264" sldId="294"/>
        </pc:sldMkLst>
      </pc:sldChg>
      <pc:sldChg chg="addSp delSp modSp add del mod delAnim">
        <pc:chgData name="Yilin Wang" userId="06abc78b-9058-4e15-afda-57e086dc17fc" providerId="ADAL" clId="{82DDD170-D4B5-46ED-803B-C300EEBF3622}" dt="2026-08-02T19:39:28.239" v="772" actId="47"/>
        <pc:sldMkLst>
          <pc:docMk/>
          <pc:sldMk cId="2074524224" sldId="304"/>
        </pc:sldMkLst>
      </pc:sldChg>
      <pc:sldChg chg="add del">
        <pc:chgData name="Yilin Wang" userId="06abc78b-9058-4e15-afda-57e086dc17fc" providerId="ADAL" clId="{82DDD170-D4B5-46ED-803B-C300EEBF3622}" dt="2026-08-02T19:39:36.549" v="779" actId="47"/>
        <pc:sldMkLst>
          <pc:docMk/>
          <pc:sldMk cId="4255979582" sldId="305"/>
        </pc:sldMkLst>
      </pc:sldChg>
      <pc:sldChg chg="addSp delSp modSp add del mod">
        <pc:chgData name="Yilin Wang" userId="06abc78b-9058-4e15-afda-57e086dc17fc" providerId="ADAL" clId="{82DDD170-D4B5-46ED-803B-C300EEBF3622}" dt="2026-08-02T19:39:30.322" v="775" actId="47"/>
        <pc:sldMkLst>
          <pc:docMk/>
          <pc:sldMk cId="907687665" sldId="306"/>
        </pc:sldMkLst>
      </pc:sldChg>
      <pc:sldChg chg="add del">
        <pc:chgData name="Yilin Wang" userId="06abc78b-9058-4e15-afda-57e086dc17fc" providerId="ADAL" clId="{82DDD170-D4B5-46ED-803B-C300EEBF3622}" dt="2026-08-02T19:39:31.473" v="776" actId="47"/>
        <pc:sldMkLst>
          <pc:docMk/>
          <pc:sldMk cId="0" sldId="308"/>
        </pc:sldMkLst>
      </pc:sldChg>
      <pc:sldChg chg="add del">
        <pc:chgData name="Yilin Wang" userId="06abc78b-9058-4e15-afda-57e086dc17fc" providerId="ADAL" clId="{82DDD170-D4B5-46ED-803B-C300EEBF3622}" dt="2026-08-02T19:39:32.500" v="777" actId="47"/>
        <pc:sldMkLst>
          <pc:docMk/>
          <pc:sldMk cId="0" sldId="309"/>
        </pc:sldMkLst>
      </pc:sldChg>
      <pc:sldChg chg="add del">
        <pc:chgData name="Yilin Wang" userId="06abc78b-9058-4e15-afda-57e086dc17fc" providerId="ADAL" clId="{82DDD170-D4B5-46ED-803B-C300EEBF3622}" dt="2026-08-02T19:39:41.660" v="784" actId="47"/>
        <pc:sldMkLst>
          <pc:docMk/>
          <pc:sldMk cId="0" sldId="310"/>
        </pc:sldMkLst>
      </pc:sldChg>
      <pc:sldChg chg="add del">
        <pc:chgData name="Yilin Wang" userId="06abc78b-9058-4e15-afda-57e086dc17fc" providerId="ADAL" clId="{82DDD170-D4B5-46ED-803B-C300EEBF3622}" dt="2026-08-02T19:39:40.863" v="783" actId="47"/>
        <pc:sldMkLst>
          <pc:docMk/>
          <pc:sldMk cId="0" sldId="311"/>
        </pc:sldMkLst>
      </pc:sldChg>
      <pc:sldChg chg="add del">
        <pc:chgData name="Yilin Wang" userId="06abc78b-9058-4e15-afda-57e086dc17fc" providerId="ADAL" clId="{82DDD170-D4B5-46ED-803B-C300EEBF3622}" dt="2026-08-02T19:39:42.402" v="785" actId="47"/>
        <pc:sldMkLst>
          <pc:docMk/>
          <pc:sldMk cId="0" sldId="312"/>
        </pc:sldMkLst>
      </pc:sldChg>
      <pc:sldChg chg="add del">
        <pc:chgData name="Yilin Wang" userId="06abc78b-9058-4e15-afda-57e086dc17fc" providerId="ADAL" clId="{82DDD170-D4B5-46ED-803B-C300EEBF3622}" dt="2026-08-02T19:39:40.175" v="782" actId="47"/>
        <pc:sldMkLst>
          <pc:docMk/>
          <pc:sldMk cId="0" sldId="313"/>
        </pc:sldMkLst>
      </pc:sldChg>
      <pc:sldChg chg="modSp add del mod">
        <pc:chgData name="Yilin Wang" userId="06abc78b-9058-4e15-afda-57e086dc17fc" providerId="ADAL" clId="{82DDD170-D4B5-46ED-803B-C300EEBF3622}" dt="2026-08-02T19:39:29.022" v="773" actId="47"/>
        <pc:sldMkLst>
          <pc:docMk/>
          <pc:sldMk cId="0" sldId="314"/>
        </pc:sldMkLst>
      </pc:sldChg>
      <pc:sldChg chg="add del">
        <pc:chgData name="Yilin Wang" userId="06abc78b-9058-4e15-afda-57e086dc17fc" providerId="ADAL" clId="{82DDD170-D4B5-46ED-803B-C300EEBF3622}" dt="2026-08-02T19:39:43.495" v="786" actId="47"/>
        <pc:sldMkLst>
          <pc:docMk/>
          <pc:sldMk cId="0" sldId="315"/>
        </pc:sldMkLst>
      </pc:sldChg>
      <pc:sldChg chg="add del">
        <pc:chgData name="Yilin Wang" userId="06abc78b-9058-4e15-afda-57e086dc17fc" providerId="ADAL" clId="{82DDD170-D4B5-46ED-803B-C300EEBF3622}" dt="2026-08-02T19:39:38.952" v="781" actId="47"/>
        <pc:sldMkLst>
          <pc:docMk/>
          <pc:sldMk cId="0" sldId="316"/>
        </pc:sldMkLst>
      </pc:sldChg>
      <pc:sldChg chg="add del">
        <pc:chgData name="Yilin Wang" userId="06abc78b-9058-4e15-afda-57e086dc17fc" providerId="ADAL" clId="{82DDD170-D4B5-46ED-803B-C300EEBF3622}" dt="2026-08-02T19:39:44.250" v="787" actId="47"/>
        <pc:sldMkLst>
          <pc:docMk/>
          <pc:sldMk cId="0" sldId="317"/>
        </pc:sldMkLst>
      </pc:sldChg>
      <pc:sldChg chg="add del">
        <pc:chgData name="Yilin Wang" userId="06abc78b-9058-4e15-afda-57e086dc17fc" providerId="ADAL" clId="{82DDD170-D4B5-46ED-803B-C300EEBF3622}" dt="2026-08-02T19:39:45.336" v="788" actId="47"/>
        <pc:sldMkLst>
          <pc:docMk/>
          <pc:sldMk cId="0" sldId="318"/>
        </pc:sldMkLst>
      </pc:sldChg>
      <pc:sldChg chg="add del">
        <pc:chgData name="Yilin Wang" userId="06abc78b-9058-4e15-afda-57e086dc17fc" providerId="ADAL" clId="{82DDD170-D4B5-46ED-803B-C300EEBF3622}" dt="2026-08-02T19:39:46.372" v="789" actId="47"/>
        <pc:sldMkLst>
          <pc:docMk/>
          <pc:sldMk cId="0" sldId="319"/>
        </pc:sldMkLst>
      </pc:sldChg>
      <pc:sldChg chg="add del">
        <pc:chgData name="Yilin Wang" userId="06abc78b-9058-4e15-afda-57e086dc17fc" providerId="ADAL" clId="{82DDD170-D4B5-46ED-803B-C300EEBF3622}" dt="2026-08-02T19:39:36.146" v="778" actId="47"/>
        <pc:sldMkLst>
          <pc:docMk/>
          <pc:sldMk cId="0" sldId="320"/>
        </pc:sldMkLst>
      </pc:sldChg>
      <pc:sldChg chg="del">
        <pc:chgData name="Yilin Wang" userId="06abc78b-9058-4e15-afda-57e086dc17fc" providerId="ADAL" clId="{82DDD170-D4B5-46ED-803B-C300EEBF3622}" dt="2026-08-02T19:39:29.573" v="774" actId="47"/>
        <pc:sldMkLst>
          <pc:docMk/>
          <pc:sldMk cId="2490872928" sldId="321"/>
        </pc:sldMkLst>
      </pc:sldChg>
      <pc:sldChg chg="delSp modSp add mod">
        <pc:chgData name="Yilin Wang" userId="06abc78b-9058-4e15-afda-57e086dc17fc" providerId="ADAL" clId="{82DDD170-D4B5-46ED-803B-C300EEBF3622}" dt="2026-07-16T21:33:12.906" v="771" actId="20577"/>
        <pc:sldMkLst>
          <pc:docMk/>
          <pc:sldMk cId="2361112164" sldId="322"/>
        </pc:sldMkLst>
        <pc:spChg chg="mod">
          <ac:chgData name="Yilin Wang" userId="06abc78b-9058-4e15-afda-57e086dc17fc" providerId="ADAL" clId="{82DDD170-D4B5-46ED-803B-C300EEBF3622}" dt="2026-07-16T21:33:12.906" v="771" actId="20577"/>
          <ac:spMkLst>
            <pc:docMk/>
            <pc:sldMk cId="2361112164" sldId="322"/>
            <ac:spMk id="7" creationId="{33AE8DB3-4C29-0DE3-EB73-8D2BBFBB8CBF}"/>
          </ac:spMkLst>
        </pc:spChg>
        <pc:spChg chg="mod">
          <ac:chgData name="Yilin Wang" userId="06abc78b-9058-4e15-afda-57e086dc17fc" providerId="ADAL" clId="{82DDD170-D4B5-46ED-803B-C300EEBF3622}" dt="2026-07-16T21:32:53.871" v="735" actId="20577"/>
          <ac:spMkLst>
            <pc:docMk/>
            <pc:sldMk cId="2361112164" sldId="322"/>
            <ac:spMk id="203" creationId="{A219F0BA-71F5-BA11-CCBD-9327897B98CC}"/>
          </ac:spMkLst>
        </pc:spChg>
      </pc:sldChg>
      <pc:sldChg chg="add">
        <pc:chgData name="Yilin Wang" userId="06abc78b-9058-4e15-afda-57e086dc17fc" providerId="ADAL" clId="{82DDD170-D4B5-46ED-803B-C300EEBF3622}" dt="2026-07-16T21:32:47.529" v="734"/>
        <pc:sldMkLst>
          <pc:docMk/>
          <pc:sldMk cId="35167972" sldId="323"/>
        </pc:sldMkLst>
      </pc:sldChg>
      <pc:sldChg chg="del">
        <pc:chgData name="Yilin Wang" userId="06abc78b-9058-4e15-afda-57e086dc17fc" providerId="ADAL" clId="{82DDD170-D4B5-46ED-803B-C300EEBF3622}" dt="2026-08-02T19:39:36.934" v="780" actId="47"/>
        <pc:sldMkLst>
          <pc:docMk/>
          <pc:sldMk cId="2831382767" sldId="324"/>
        </pc:sldMkLst>
      </pc:sldChg>
    </pc:docChg>
  </pc:docChgLst>
  <pc:docChgLst>
    <pc:chgData name="Yilin Wang" userId="S::wang4517@purdue.edu::06abc78b-9058-4e15-afda-57e086dc17fc" providerId="AD" clId="Web-{73E358AC-2E5E-D559-125E-0E3EF88494AA}"/>
    <pc:docChg chg="addSld modSld">
      <pc:chgData name="Yilin Wang" userId="S::wang4517@purdue.edu::06abc78b-9058-4e15-afda-57e086dc17fc" providerId="AD" clId="Web-{73E358AC-2E5E-D559-125E-0E3EF88494AA}" dt="2026-07-14T15:01:04.722" v="118" actId="20577"/>
      <pc:docMkLst>
        <pc:docMk/>
      </pc:docMkLst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6255BC-3133-4958-9FBE-2E458D6F8C96}" type="datetimeFigureOut">
              <a:rPr lang="zh-CN" altLang="en-US" smtClean="0"/>
              <a:t>2026/8/2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348518-90B6-4A67-95F9-2E42B160ECC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5947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373D-6337-3720-B4C6-42A3F89E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9D289A-57A2-D44D-9735-B77E621350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527FF0-4349-E451-CB64-8DAFFD0992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sz="1200" dirty="0">
              <a:latin typeface="Amasis MT Pro Medium" panose="02040604050005020304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2884E1A-6918-23BB-C9C5-EA66EB9BFF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348518-90B6-4A67-95F9-2E42B160ECC2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58705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119587-068B-A880-E049-4FAF876CC9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4626" y="3780553"/>
            <a:ext cx="10626305" cy="132556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Amasis MT Pro" panose="02040504050005020304" pitchFamily="18" charset="0"/>
              </a:defRPr>
            </a:lvl1pPr>
          </a:lstStyle>
          <a:p>
            <a:r>
              <a:rPr lang="en-US" altLang="zh-CN" dirty="0" err="1"/>
              <a:t>ddd</a:t>
            </a:r>
            <a:endParaRPr lang="zh-CN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3479850-6E10-FE11-AE66-48664127316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9076" y="5311078"/>
            <a:ext cx="2419927" cy="1327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625B5AD5-57F5-C14F-0641-54AF0457E38A}"/>
              </a:ext>
            </a:extLst>
          </p:cNvPr>
          <p:cNvSpPr txBox="1"/>
          <p:nvPr userDrawn="1"/>
        </p:nvSpPr>
        <p:spPr>
          <a:xfrm>
            <a:off x="4495342" y="6377370"/>
            <a:ext cx="29462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dirty="0">
                <a:latin typeface="Amasis MT Pro Medium" panose="02040604050005020304" pitchFamily="18" charset="0"/>
              </a:rPr>
              <a:t>Connected and Automated Resilience Lab</a:t>
            </a:r>
            <a:endParaRPr lang="zh-CN" altLang="en-US" sz="1100" dirty="0">
              <a:latin typeface="Amasis MT Pro Medium" panose="02040604050005020304" pitchFamily="18" charset="0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80B2B6E5-80BD-F713-9D38-37ACF4511900}"/>
              </a:ext>
            </a:extLst>
          </p:cNvPr>
          <p:cNvSpPr/>
          <p:nvPr userDrawn="1"/>
        </p:nvSpPr>
        <p:spPr>
          <a:xfrm flipV="1">
            <a:off x="0" y="3368615"/>
            <a:ext cx="12192000" cy="120769"/>
          </a:xfrm>
          <a:prstGeom prst="rect">
            <a:avLst/>
          </a:prstGeom>
          <a:gradFill flip="none" rotWithShape="1">
            <a:gsLst>
              <a:gs pos="20000">
                <a:srgbClr val="AE976B"/>
              </a:gs>
              <a:gs pos="57000">
                <a:schemeClr val="tx1"/>
              </a:gs>
              <a:gs pos="89000">
                <a:srgbClr val="AE976B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FD24C6EE-AE1C-7BFB-99DF-401DD2298A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16363" y="1630363"/>
            <a:ext cx="3175000" cy="79851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Topic</a:t>
            </a:r>
            <a:endParaRPr lang="zh-CN" altLang="en-US" dirty="0"/>
          </a:p>
        </p:txBody>
      </p:sp>
      <p:sp>
        <p:nvSpPr>
          <p:cNvPr id="19" name="文本占位符 18">
            <a:extLst>
              <a:ext uri="{FF2B5EF4-FFF2-40B4-BE49-F238E27FC236}">
                <a16:creationId xmlns:a16="http://schemas.microsoft.com/office/drawing/2014/main" id="{B95C6C1F-13D4-B7DB-20F1-2E322618909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550" y="58738"/>
            <a:ext cx="2544763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solidFill>
                  <a:schemeClr val="bg1"/>
                </a:solidFill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Event</a:t>
            </a:r>
            <a:endParaRPr lang="zh-CN" altLang="en-US" dirty="0"/>
          </a:p>
        </p:txBody>
      </p:sp>
      <p:pic>
        <p:nvPicPr>
          <p:cNvPr id="5" name="图片 4" descr="文本&#10;&#10;AI 生成的内容可能不正确。">
            <a:extLst>
              <a:ext uri="{FF2B5EF4-FFF2-40B4-BE49-F238E27FC236}">
                <a16:creationId xmlns:a16="http://schemas.microsoft.com/office/drawing/2014/main" id="{20BDD535-0769-42FB-94C0-0748AE4F456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-4789"/>
            <a:ext cx="5168195" cy="685827"/>
          </a:xfrm>
          <a:prstGeom prst="rect">
            <a:avLst/>
          </a:prstGeom>
        </p:spPr>
      </p:pic>
      <p:sp>
        <p:nvSpPr>
          <p:cNvPr id="6" name="Rectangle 9">
            <a:extLst>
              <a:ext uri="{FF2B5EF4-FFF2-40B4-BE49-F238E27FC236}">
                <a16:creationId xmlns:a16="http://schemas.microsoft.com/office/drawing/2014/main" id="{0C4C7792-7799-2FE0-554B-92BFA7281814}"/>
              </a:ext>
            </a:extLst>
          </p:cNvPr>
          <p:cNvSpPr/>
          <p:nvPr userDrawn="1"/>
        </p:nvSpPr>
        <p:spPr>
          <a:xfrm flipV="1">
            <a:off x="-9526" y="690622"/>
            <a:ext cx="12201525" cy="52227"/>
          </a:xfrm>
          <a:prstGeom prst="rect">
            <a:avLst/>
          </a:prstGeom>
          <a:gradFill>
            <a:gsLst>
              <a:gs pos="4000">
                <a:srgbClr val="101010"/>
              </a:gs>
              <a:gs pos="36000">
                <a:srgbClr val="AE976B"/>
              </a:gs>
              <a:gs pos="55000">
                <a:schemeClr val="tx1"/>
              </a:gs>
              <a:gs pos="89000">
                <a:srgbClr val="AE976B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1799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119587-068B-A880-E049-4FAF876CC9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4626" y="3780553"/>
            <a:ext cx="10626305" cy="132556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Amasis MT Pro" panose="02040504050005020304" pitchFamily="18" charset="0"/>
              </a:defRPr>
            </a:lvl1pPr>
          </a:lstStyle>
          <a:p>
            <a:r>
              <a:rPr lang="en-US" altLang="zh-CN" dirty="0" err="1"/>
              <a:t>ddd</a:t>
            </a:r>
            <a:endParaRPr lang="zh-CN" altLang="en-US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66C5CD04-7929-1C73-332C-B27202C18453}"/>
              </a:ext>
            </a:extLst>
          </p:cNvPr>
          <p:cNvGrpSpPr/>
          <p:nvPr userDrawn="1"/>
        </p:nvGrpSpPr>
        <p:grpSpPr>
          <a:xfrm>
            <a:off x="-76205" y="5966730"/>
            <a:ext cx="2047875" cy="931011"/>
            <a:chOff x="6184034" y="5252434"/>
            <a:chExt cx="3601639" cy="1656461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E3479850-6E10-FE11-AE66-48664127316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74892" y="5252434"/>
              <a:ext cx="2419927" cy="13279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25B5AD5-57F5-C14F-0641-54AF0457E38A}"/>
                </a:ext>
              </a:extLst>
            </p:cNvPr>
            <p:cNvSpPr txBox="1"/>
            <p:nvPr userDrawn="1"/>
          </p:nvSpPr>
          <p:spPr>
            <a:xfrm>
              <a:off x="6184034" y="6251777"/>
              <a:ext cx="3601639" cy="6571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900" dirty="0">
                  <a:latin typeface="Amasis MT Pro Medium" panose="02040604050005020304" pitchFamily="18" charset="0"/>
                </a:rPr>
                <a:t>Connected and Automated Resilience Lab</a:t>
              </a:r>
              <a:endParaRPr lang="zh-CN" altLang="en-US" sz="900" dirty="0">
                <a:latin typeface="Amasis MT Pro Medium" panose="02040604050005020304" pitchFamily="18" charset="0"/>
              </a:endParaRPr>
            </a:p>
          </p:txBody>
        </p:sp>
      </p:grp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1047F1BB-65F9-D277-F14E-506A3CC45A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942683"/>
            <a:ext cx="3113806" cy="638175"/>
          </a:xfrm>
          <a:prstGeom prst="rect">
            <a:avLst/>
          </a:prstGeom>
        </p:spPr>
        <p:txBody>
          <a:bodyPr/>
          <a:lstStyle>
            <a:lvl1pPr>
              <a:defRPr sz="3600">
                <a:latin typeface="Amasis MT Pro Medium" panose="02040604050005020304" pitchFamily="18" charset="0"/>
              </a:defRPr>
            </a:lvl1pPr>
            <a:lvl5pPr marL="1828800" indent="0">
              <a:buNone/>
              <a:defRPr b="1"/>
            </a:lvl5pPr>
          </a:lstStyle>
          <a:p>
            <a:pPr marL="571500" indent="-571500" algn="ctr">
              <a:buFont typeface="Wingdings" panose="05000000000000000000" pitchFamily="2" charset="2"/>
              <a:buChar char="Ø"/>
            </a:pPr>
            <a:r>
              <a:rPr lang="en-US" altLang="zh-CN" dirty="0"/>
              <a:t>Topic</a:t>
            </a:r>
            <a:endParaRPr lang="zh-CN" altLang="en-US" dirty="0"/>
          </a:p>
        </p:txBody>
      </p:sp>
      <p:sp>
        <p:nvSpPr>
          <p:cNvPr id="18" name="文本占位符 18">
            <a:extLst>
              <a:ext uri="{FF2B5EF4-FFF2-40B4-BE49-F238E27FC236}">
                <a16:creationId xmlns:a16="http://schemas.microsoft.com/office/drawing/2014/main" id="{6859A36C-B8CC-40EF-0074-708C559EA7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550" y="58738"/>
            <a:ext cx="2544763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solidFill>
                  <a:schemeClr val="bg1"/>
                </a:solidFill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Event</a:t>
            </a:r>
            <a:endParaRPr lang="zh-CN" altLang="en-US" dirty="0"/>
          </a:p>
        </p:txBody>
      </p:sp>
      <p:pic>
        <p:nvPicPr>
          <p:cNvPr id="8" name="图片 7" descr="文本&#10;&#10;AI 生成的内容可能不正确。">
            <a:extLst>
              <a:ext uri="{FF2B5EF4-FFF2-40B4-BE49-F238E27FC236}">
                <a16:creationId xmlns:a16="http://schemas.microsoft.com/office/drawing/2014/main" id="{54082DBC-1380-7E6F-1190-75EB895EA14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-4789"/>
            <a:ext cx="5168195" cy="685827"/>
          </a:xfrm>
          <a:prstGeom prst="rect">
            <a:avLst/>
          </a:prstGeom>
        </p:spPr>
      </p:pic>
      <p:sp>
        <p:nvSpPr>
          <p:cNvPr id="9" name="Rectangle 9">
            <a:extLst>
              <a:ext uri="{FF2B5EF4-FFF2-40B4-BE49-F238E27FC236}">
                <a16:creationId xmlns:a16="http://schemas.microsoft.com/office/drawing/2014/main" id="{4396B154-8133-68ED-6CD5-7B359DB25F2A}"/>
              </a:ext>
            </a:extLst>
          </p:cNvPr>
          <p:cNvSpPr/>
          <p:nvPr userDrawn="1"/>
        </p:nvSpPr>
        <p:spPr>
          <a:xfrm flipV="1">
            <a:off x="-9526" y="690622"/>
            <a:ext cx="12201525" cy="52227"/>
          </a:xfrm>
          <a:prstGeom prst="rect">
            <a:avLst/>
          </a:prstGeom>
          <a:gradFill>
            <a:gsLst>
              <a:gs pos="4000">
                <a:srgbClr val="101010"/>
              </a:gs>
              <a:gs pos="36000">
                <a:srgbClr val="AE976B"/>
              </a:gs>
              <a:gs pos="55000">
                <a:schemeClr val="tx1"/>
              </a:gs>
              <a:gs pos="89000">
                <a:srgbClr val="AE976B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76549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D0D58A8-D3F8-6292-7607-8A36AC5D73BF}"/>
              </a:ext>
            </a:extLst>
          </p:cNvPr>
          <p:cNvSpPr/>
          <p:nvPr userDrawn="1"/>
        </p:nvSpPr>
        <p:spPr>
          <a:xfrm>
            <a:off x="0" y="0"/>
            <a:ext cx="12192000" cy="690113"/>
          </a:xfrm>
          <a:prstGeom prst="rect">
            <a:avLst/>
          </a:prstGeom>
          <a:solidFill>
            <a:srgbClr val="00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流程图: 数据 2">
            <a:extLst>
              <a:ext uri="{FF2B5EF4-FFF2-40B4-BE49-F238E27FC236}">
                <a16:creationId xmlns:a16="http://schemas.microsoft.com/office/drawing/2014/main" id="{74928255-F6E6-4751-0F92-1D38882CD9D6}"/>
              </a:ext>
            </a:extLst>
          </p:cNvPr>
          <p:cNvSpPr/>
          <p:nvPr userDrawn="1"/>
        </p:nvSpPr>
        <p:spPr>
          <a:xfrm>
            <a:off x="960583" y="-1"/>
            <a:ext cx="5237018" cy="690113"/>
          </a:xfrm>
          <a:prstGeom prst="flowChartInputOutput">
            <a:avLst/>
          </a:prstGeom>
          <a:gradFill>
            <a:gsLst>
              <a:gs pos="4000">
                <a:schemeClr val="tx1"/>
              </a:gs>
              <a:gs pos="57000">
                <a:srgbClr val="AE976B"/>
              </a:gs>
              <a:gs pos="83000">
                <a:srgbClr val="AE976B"/>
              </a:gs>
              <a:gs pos="100000">
                <a:srgbClr val="AE976B"/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3712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wang4517@purdue.edu" TargetMode="External"/><Relationship Id="rId3" Type="http://schemas.openxmlformats.org/officeDocument/2006/relationships/hyperlink" Target="mailto:feng333@purdue.edu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8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0.png"/><Relationship Id="rId3" Type="http://schemas.openxmlformats.org/officeDocument/2006/relationships/image" Target="../media/image220.png"/><Relationship Id="rId4" Type="http://schemas.openxmlformats.org/officeDocument/2006/relationships/image" Target="../media/image230.png"/><Relationship Id="rId7" Type="http://schemas.openxmlformats.org/officeDocument/2006/relationships/image" Target="../media/image240.png"/><Relationship Id="rId8" Type="http://schemas.openxmlformats.org/officeDocument/2006/relationships/image" Target="../media/image250.png"/><Relationship Id="rId9" Type="http://schemas.openxmlformats.org/officeDocument/2006/relationships/image" Target="../media/image260.png"/><Relationship Id="rId10" Type="http://schemas.openxmlformats.org/officeDocument/2006/relationships/image" Target="../media/image270.png"/><Relationship Id="rId11" Type="http://schemas.openxmlformats.org/officeDocument/2006/relationships/image" Target="../media/image280.png"/><Relationship Id="rId12" Type="http://schemas.openxmlformats.org/officeDocument/2006/relationships/image" Target="../media/image290.png"/><Relationship Id="rId13" Type="http://schemas.openxmlformats.org/officeDocument/2006/relationships/image" Target="../media/image300.png"/><Relationship Id="rId14" Type="http://schemas.openxmlformats.org/officeDocument/2006/relationships/image" Target="../media/image3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0.png"/><Relationship Id="rId3" Type="http://schemas.openxmlformats.org/officeDocument/2006/relationships/image" Target="../media/image330.png"/><Relationship Id="rId4" Type="http://schemas.openxmlformats.org/officeDocument/2006/relationships/image" Target="../media/image340.png"/><Relationship Id="rId5" Type="http://schemas.openxmlformats.org/officeDocument/2006/relationships/image" Target="../media/image350.png"/><Relationship Id="rId6" Type="http://schemas.openxmlformats.org/officeDocument/2006/relationships/image" Target="../media/image360.png"/><Relationship Id="rId7" Type="http://schemas.openxmlformats.org/officeDocument/2006/relationships/image" Target="../media/image370.png"/><Relationship Id="rId8" Type="http://schemas.openxmlformats.org/officeDocument/2006/relationships/image" Target="../media/image380.png"/><Relationship Id="rId9" Type="http://schemas.openxmlformats.org/officeDocument/2006/relationships/image" Target="../media/image390.png"/><Relationship Id="rId10" Type="http://schemas.openxmlformats.org/officeDocument/2006/relationships/image" Target="../media/image400.png"/><Relationship Id="rId11" Type="http://schemas.openxmlformats.org/officeDocument/2006/relationships/image" Target="../media/image410.png"/><Relationship Id="rId12" Type="http://schemas.openxmlformats.org/officeDocument/2006/relationships/image" Target="../media/image420.png"/><Relationship Id="rId13" Type="http://schemas.openxmlformats.org/officeDocument/2006/relationships/image" Target="../media/image430.png"/><Relationship Id="rId14" Type="http://schemas.openxmlformats.org/officeDocument/2006/relationships/image" Target="../media/image440.png"/><Relationship Id="rId15" Type="http://schemas.openxmlformats.org/officeDocument/2006/relationships/image" Target="../media/image450.png"/><Relationship Id="rId16" Type="http://schemas.openxmlformats.org/officeDocument/2006/relationships/image" Target="../media/image46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70.png"/><Relationship Id="rId3" Type="http://schemas.openxmlformats.org/officeDocument/2006/relationships/image" Target="../media/image480.png"/><Relationship Id="rId4" Type="http://schemas.openxmlformats.org/officeDocument/2006/relationships/image" Target="../media/image490.png"/><Relationship Id="rId5" Type="http://schemas.openxmlformats.org/officeDocument/2006/relationships/image" Target="../media/image500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image" Target="../media/image53.png"/><Relationship Id="rId9" Type="http://schemas.openxmlformats.org/officeDocument/2006/relationships/image" Target="../media/image54.png"/><Relationship Id="rId10" Type="http://schemas.openxmlformats.org/officeDocument/2006/relationships/image" Target="../media/image55.png"/><Relationship Id="rId11" Type="http://schemas.openxmlformats.org/officeDocument/2006/relationships/image" Target="../media/image56.png"/><Relationship Id="rId12" Type="http://schemas.openxmlformats.org/officeDocument/2006/relationships/image" Target="../media/image57.png"/><Relationship Id="rId13" Type="http://schemas.openxmlformats.org/officeDocument/2006/relationships/image" Target="../media/image58.png"/><Relationship Id="rId14" Type="http://schemas.openxmlformats.org/officeDocument/2006/relationships/image" Target="../media/image59.png"/><Relationship Id="rId15" Type="http://schemas.openxmlformats.org/officeDocument/2006/relationships/image" Target="../media/image6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FD1E0-76BF-38A3-644C-49B54164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4513" y="3928334"/>
            <a:ext cx="5022974" cy="1325563"/>
          </a:xfrm>
        </p:spPr>
        <p:txBody>
          <a:bodyPr/>
          <a:lstStyle/>
          <a:p>
            <a:pPr algn="ctr"/>
            <a:r>
              <a:rPr lang="en-US" altLang="zh-CN" dirty="0"/>
              <a:t>Yilin Wang </a:t>
            </a:r>
            <a:br>
              <a:rPr lang="en-US" altLang="zh-CN" dirty="0"/>
            </a:br>
            <a:r>
              <a:rPr lang="en-US" altLang="zh-CN" dirty="0"/>
              <a:t>Dec.12</a:t>
            </a:r>
            <a:r>
              <a:rPr lang="en-US" altLang="zh-CN" baseline="30000" dirty="0"/>
              <a:t>nd</a:t>
            </a:r>
            <a:r>
              <a:rPr lang="en-US" altLang="zh-CN" dirty="0"/>
              <a:t> 2025</a:t>
            </a:r>
            <a:endParaRPr lang="zh-CN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D7F7F688-FC67-756F-90B4-C9EB1E4DC3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918360" cy="622300"/>
          </a:xfrm>
        </p:spPr>
        <p:txBody>
          <a:bodyPr/>
          <a:lstStyle/>
          <a:p>
            <a:r>
              <a:rPr lang="en-US" altLang="zh-CN" dirty="0"/>
              <a:t>Group Meeting</a:t>
            </a:r>
            <a:endParaRPr lang="zh-CN" alt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50483-5FBA-B800-AA30-C5212FB961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16363" y="1630363"/>
            <a:ext cx="4401372" cy="798512"/>
          </a:xfrm>
        </p:spPr>
        <p:txBody>
          <a:bodyPr/>
          <a:lstStyle/>
          <a:p>
            <a:r>
              <a:rPr lang="en-US" altLang="zh-CN" dirty="0"/>
              <a:t>Notes and Thoughts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71812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F5D17-E8BA-5697-21D7-76768AEB3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3773503-EC16-E6FE-706B-80EDCBE2D3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202607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E8968BF7-AB22-63D0-4E00-5C281CC45E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4439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12153-BCD3-3380-18A6-5AF9D3971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A6DB483-11E5-CA9D-E732-A6B8DDA6FD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202607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DBC9FBA9-D645-9710-11B9-89A2783E10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1679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E06BF-3122-F046-736C-41F9C4725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Neural </a:t>
            </a:r>
            <a:r>
              <a:rPr lang="en-US" altLang="zh-CN"/>
              <a:t>Orientated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LR4 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361112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959AA-F4BE-17E7-916F-FF7EA500A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FB4713-2B9D-8798-2468-95EAF4E63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0263" y="3642584"/>
            <a:ext cx="5022974" cy="1325563"/>
          </a:xfrm>
        </p:spPr>
        <p:txBody>
          <a:bodyPr/>
          <a:lstStyle/>
          <a:p>
            <a:r>
              <a:rPr lang="en-US" altLang="zh-CN" sz="2000" dirty="0"/>
              <a:t>Yilin Wang: </a:t>
            </a:r>
            <a:r>
              <a:rPr lang="en-US" altLang="zh-CN" sz="2000" dirty="0">
                <a:hlinkClick r:id="rId2"/>
              </a:rPr>
              <a:t>wang4517@purdue.edu</a:t>
            </a:r>
            <a:br>
              <a:rPr lang="en-US" altLang="zh-CN" sz="2000" dirty="0"/>
            </a:br>
            <a:r>
              <a:rPr lang="en-US" altLang="zh-CN" sz="2000" dirty="0"/>
              <a:t>Yiheng Feng*: </a:t>
            </a:r>
            <a:r>
              <a:rPr lang="en-US" altLang="zh-CN" sz="2000" dirty="0">
                <a:hlinkClick r:id="rId3"/>
              </a:rPr>
              <a:t>feng333@purdue.edu</a:t>
            </a:r>
            <a:r>
              <a:rPr lang="en-US" altLang="zh-CN" sz="2000" dirty="0"/>
              <a:t> </a:t>
            </a:r>
            <a:endParaRPr lang="zh-CN" altLang="en-US" sz="2000" dirty="0"/>
          </a:p>
        </p:txBody>
      </p:sp>
      <p:sp>
        <p:nvSpPr>
          <p:cNvPr id="6" name="文本占位符 2">
            <a:extLst>
              <a:ext uri="{FF2B5EF4-FFF2-40B4-BE49-F238E27FC236}">
                <a16:creationId xmlns:a16="http://schemas.microsoft.com/office/drawing/2014/main" id="{4FFC3D0A-0B0F-A410-920D-54A204CE09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1534933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Thanks for Listening!</a:t>
            </a:r>
            <a:endParaRPr lang="zh-CN" altLang="en-US" dirty="0"/>
          </a:p>
        </p:txBody>
      </p:sp>
      <p:sp>
        <p:nvSpPr>
          <p:cNvPr id="7" name="文本占位符 3">
            <a:extLst>
              <a:ext uri="{FF2B5EF4-FFF2-40B4-BE49-F238E27FC236}">
                <a16:creationId xmlns:a16="http://schemas.microsoft.com/office/drawing/2014/main" id="{F6DC3B43-DE62-B20E-5D5D-17F7B28D9D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Acknowledgement</a:t>
            </a:r>
            <a:endParaRPr lang="zh-CN" altLang="en-US" dirty="0"/>
          </a:p>
        </p:txBody>
      </p:sp>
      <p:pic>
        <p:nvPicPr>
          <p:cNvPr id="2050" name="Picture 2" descr="NSF Logo and symbol, meaning, history, PNG, brand">
            <a:extLst>
              <a:ext uri="{FF2B5EF4-FFF2-40B4-BE49-F238E27FC236}">
                <a16:creationId xmlns:a16="http://schemas.microsoft.com/office/drawing/2014/main" id="{A82E0FF7-95C3-E29F-C4B6-6AA28724D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730" y="5476940"/>
            <a:ext cx="2116551" cy="1190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CAT - Sustainable Transportation Systems Research Group - Purdue University">
            <a:extLst>
              <a:ext uri="{FF2B5EF4-FFF2-40B4-BE49-F238E27FC236}">
                <a16:creationId xmlns:a16="http://schemas.microsoft.com/office/drawing/2014/main" id="{430EF258-BE62-4EB7-C4B2-05187F897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2014" y="5663472"/>
            <a:ext cx="2210256" cy="1004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本占位符 2">
            <a:extLst>
              <a:ext uri="{FF2B5EF4-FFF2-40B4-BE49-F238E27FC236}">
                <a16:creationId xmlns:a16="http://schemas.microsoft.com/office/drawing/2014/main" id="{018A228D-8EDD-4C0E-84DA-90408DF4FF9B}"/>
              </a:ext>
            </a:extLst>
          </p:cNvPr>
          <p:cNvSpPr txBox="1">
            <a:spLocks/>
          </p:cNvSpPr>
          <p:nvPr/>
        </p:nvSpPr>
        <p:spPr>
          <a:xfrm>
            <a:off x="73891" y="2630488"/>
            <a:ext cx="12044218" cy="79851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600" kern="1200">
                <a:solidFill>
                  <a:schemeClr val="tx1"/>
                </a:solidFill>
                <a:latin typeface="Amasis MT Pro Medium" panose="0204060405000502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Q &amp; 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69817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0EBBA45-B714-FC3D-4BD2-52576305D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7417E43-86AE-B6DC-CF7B-7406784253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Case Study</a:t>
            </a:r>
            <a:endParaRPr lang="zh-CN" altLang="en-US" dirty="0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51D11F5C-C949-193C-A6E4-A4971C635054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solidFill>
                  <a:srgbClr val="AE976B"/>
                </a:solidFill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Toy Network</a:t>
            </a:r>
            <a:endParaRPr lang="zh-CN" altLang="en-US" dirty="0"/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86C797BE-AE66-C6B2-4D6D-8E2CC8A8AEB2}"/>
              </a:ext>
            </a:extLst>
          </p:cNvPr>
          <p:cNvSpPr txBox="1"/>
          <p:nvPr/>
        </p:nvSpPr>
        <p:spPr>
          <a:xfrm>
            <a:off x="4919785" y="742667"/>
            <a:ext cx="2120127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CTM evaluation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588D759D-2405-DF55-8905-583A93521ED5}"/>
              </a:ext>
            </a:extLst>
          </p:cNvPr>
          <p:cNvSpPr txBox="1"/>
          <p:nvPr/>
        </p:nvSpPr>
        <p:spPr>
          <a:xfrm>
            <a:off x="1905000" y="742667"/>
            <a:ext cx="301478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Network Configuration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8DE361C-DCC0-438C-F04C-2B1489D736AF}"/>
              </a:ext>
            </a:extLst>
          </p:cNvPr>
          <p:cNvSpPr txBox="1"/>
          <p:nvPr/>
        </p:nvSpPr>
        <p:spPr>
          <a:xfrm>
            <a:off x="7039912" y="742951"/>
            <a:ext cx="245651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Result &amp; Analysis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C4CE6737-DCE1-BCFF-C201-40839023FB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Toy network analysis</a:t>
            </a:r>
            <a:endParaRPr lang="zh-CN" altLang="en-US" sz="28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B62AA27-D2F3-F1C2-1EE2-824A755A004D}"/>
              </a:ext>
            </a:extLst>
          </p:cNvPr>
          <p:cNvSpPr txBox="1"/>
          <p:nvPr/>
        </p:nvSpPr>
        <p:spPr>
          <a:xfrm>
            <a:off x="9496426" y="742951"/>
            <a:ext cx="269557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B4E1EFB-A71E-20BC-E7A9-D56E3E4FDE75}"/>
              </a:ext>
            </a:extLst>
          </p:cNvPr>
          <p:cNvSpPr txBox="1"/>
          <p:nvPr/>
        </p:nvSpPr>
        <p:spPr>
          <a:xfrm>
            <a:off x="5083759" y="2188193"/>
            <a:ext cx="7108242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altLang="zh-CN" sz="1600" dirty="0">
                <a:solidFill>
                  <a:schemeClr val="accent2">
                    <a:lumMod val="75000"/>
                  </a:schemeClr>
                </a:solidFill>
                <a:latin typeface="Amasis MT Pro Medium"/>
                <a:ea typeface="等线"/>
              </a:rPr>
              <a:t>Veh_1</a:t>
            </a:r>
            <a:r>
              <a:rPr lang="en-US" altLang="zh-CN" sz="1600" dirty="0">
                <a:latin typeface="Amasis MT Pro Medium"/>
                <a:ea typeface="等线"/>
              </a:rPr>
              <a:t>: 25-26, t=0 |route: 25-1-2-3-22-23-24-26. Time: 0-4-8-9-12-13-16-19 </a:t>
            </a:r>
          </a:p>
          <a:p>
            <a:r>
              <a:rPr lang="en-US" altLang="zh-CN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Amasis MT Pro Medium"/>
                <a:ea typeface="等线"/>
              </a:rPr>
              <a:t>Veh_2</a:t>
            </a:r>
            <a:r>
              <a:rPr lang="en-US" altLang="zh-CN" sz="1600" dirty="0">
                <a:latin typeface="Amasis MT Pro Medium"/>
                <a:ea typeface="等线"/>
              </a:rPr>
              <a:t>: 25-26, t=1 |route: 25-1-2-19-20-9-24-26. Time: 1-2-4-5-8-11-14-15</a:t>
            </a:r>
          </a:p>
          <a:p>
            <a:r>
              <a:rPr lang="en-US" altLang="zh-CN" sz="1600" dirty="0">
                <a:solidFill>
                  <a:schemeClr val="accent4">
                    <a:lumMod val="75000"/>
                  </a:schemeClr>
                </a:solidFill>
                <a:latin typeface="Amasis MT Pro Medium"/>
                <a:ea typeface="等线"/>
              </a:rPr>
              <a:t>Veh_3</a:t>
            </a:r>
            <a:r>
              <a:rPr lang="en-US" altLang="zh-CN" sz="1600" dirty="0">
                <a:latin typeface="Amasis MT Pro Medium"/>
                <a:ea typeface="等线"/>
              </a:rPr>
              <a:t>: 25-26, t=2 |route: 25-1-2-3-22-23-24-26. Time: 2-4-8-9-12-13-16-19</a:t>
            </a:r>
          </a:p>
          <a:p>
            <a:r>
              <a:rPr lang="en-US" altLang="zh-CN" sz="1600" dirty="0">
                <a:solidFill>
                  <a:schemeClr val="accent5">
                    <a:lumMod val="75000"/>
                  </a:schemeClr>
                </a:solidFill>
                <a:latin typeface="Amasis MT Pro Medium"/>
                <a:ea typeface="等线"/>
              </a:rPr>
              <a:t>Veh_4</a:t>
            </a:r>
            <a:r>
              <a:rPr lang="en-US" altLang="zh-CN" sz="1600" dirty="0">
                <a:latin typeface="Amasis MT Pro Medium"/>
                <a:ea typeface="等线"/>
              </a:rPr>
              <a:t>: 25-26, t=3 |route: 25-13-4-5-20-9-24-26. Time: 3-6-8-11-14-15-18-19</a:t>
            </a:r>
          </a:p>
        </p:txBody>
      </p:sp>
      <p:grpSp>
        <p:nvGrpSpPr>
          <p:cNvPr id="243" name="组合 242">
            <a:extLst>
              <a:ext uri="{FF2B5EF4-FFF2-40B4-BE49-F238E27FC236}">
                <a16:creationId xmlns:a16="http://schemas.microsoft.com/office/drawing/2014/main" id="{2EFBD672-FBD2-819D-8634-A1CC6944F58A}"/>
              </a:ext>
            </a:extLst>
          </p:cNvPr>
          <p:cNvGrpSpPr/>
          <p:nvPr/>
        </p:nvGrpSpPr>
        <p:grpSpPr>
          <a:xfrm>
            <a:off x="441219" y="1786785"/>
            <a:ext cx="4918073" cy="3866241"/>
            <a:chOff x="441219" y="1786785"/>
            <a:chExt cx="4918073" cy="3866241"/>
          </a:xfrm>
        </p:grpSpPr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8DAF8FD4-6098-135B-5949-7F8DD8315A87}"/>
                </a:ext>
              </a:extLst>
            </p:cNvPr>
            <p:cNvGrpSpPr/>
            <p:nvPr/>
          </p:nvGrpSpPr>
          <p:grpSpPr>
            <a:xfrm>
              <a:off x="441219" y="1786785"/>
              <a:ext cx="4918073" cy="3866241"/>
              <a:chOff x="152400" y="1621971"/>
              <a:chExt cx="4918073" cy="3866241"/>
            </a:xfrm>
          </p:grpSpPr>
          <p:cxnSp>
            <p:nvCxnSpPr>
              <p:cNvPr id="10" name="直接箭头连接符 9">
                <a:extLst>
                  <a:ext uri="{FF2B5EF4-FFF2-40B4-BE49-F238E27FC236}">
                    <a16:creationId xmlns:a16="http://schemas.microsoft.com/office/drawing/2014/main" id="{03AF37BF-0842-6009-9C3D-89C56EB431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5" y="2102733"/>
                <a:ext cx="3330254" cy="7022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接箭头连接符 10">
                <a:extLst>
                  <a:ext uri="{FF2B5EF4-FFF2-40B4-BE49-F238E27FC236}">
                    <a16:creationId xmlns:a16="http://schemas.microsoft.com/office/drawing/2014/main" id="{0356A574-4504-240C-6280-B96C502213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4" y="3100590"/>
                <a:ext cx="3311274" cy="23134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直接箭头连接符 11">
                <a:extLst>
                  <a:ext uri="{FF2B5EF4-FFF2-40B4-BE49-F238E27FC236}">
                    <a16:creationId xmlns:a16="http://schemas.microsoft.com/office/drawing/2014/main" id="{3DCCA429-F104-C3CF-8D38-708F9DEE6A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0777" y="2102733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2C5CBF9-196D-B14B-5552-F788C544B4D6}"/>
                  </a:ext>
                </a:extLst>
              </p:cNvPr>
              <p:cNvSpPr txBox="1"/>
              <p:nvPr/>
            </p:nvSpPr>
            <p:spPr>
              <a:xfrm>
                <a:off x="1349828" y="177618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</a:t>
                </a:r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90AAD56-D7FE-FE0E-E00A-0A9EC5B3784F}"/>
                  </a:ext>
                </a:extLst>
              </p:cNvPr>
              <p:cNvSpPr txBox="1"/>
              <p:nvPr/>
            </p:nvSpPr>
            <p:spPr>
              <a:xfrm>
                <a:off x="2474685" y="177618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</a:t>
                </a:r>
                <a:endParaRPr lang="zh-CN" altLang="en-US" dirty="0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7C2FBF55-3AC7-C835-D00A-A146FB0C14EC}"/>
                  </a:ext>
                </a:extLst>
              </p:cNvPr>
              <p:cNvSpPr txBox="1"/>
              <p:nvPr/>
            </p:nvSpPr>
            <p:spPr>
              <a:xfrm>
                <a:off x="3672113" y="1767113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3</a:t>
                </a:r>
                <a:endParaRPr lang="zh-CN" altLang="en-US" dirty="0"/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C92D2156-0B8E-0D19-A48C-7AC0D366EEA2}"/>
                  </a:ext>
                </a:extLst>
              </p:cNvPr>
              <p:cNvSpPr txBox="1"/>
              <p:nvPr/>
            </p:nvSpPr>
            <p:spPr>
              <a:xfrm>
                <a:off x="1349826" y="2810327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4</a:t>
                </a:r>
                <a:endParaRPr lang="zh-CN" altLang="en-US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963D7EE-B7EB-6823-91D6-6345F3A23149}"/>
                  </a:ext>
                </a:extLst>
              </p:cNvPr>
              <p:cNvSpPr txBox="1"/>
              <p:nvPr/>
            </p:nvSpPr>
            <p:spPr>
              <a:xfrm>
                <a:off x="1367969" y="3835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7</a:t>
                </a:r>
                <a:endParaRPr lang="zh-CN" dirty="0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393C047-FC75-D678-8E8B-C85F3543DB42}"/>
                  </a:ext>
                </a:extLst>
              </p:cNvPr>
              <p:cNvSpPr txBox="1"/>
              <p:nvPr/>
            </p:nvSpPr>
            <p:spPr>
              <a:xfrm>
                <a:off x="2474683" y="3835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8</a:t>
                </a:r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1794B86-44CB-F5F6-1459-65DD9D4DFC73}"/>
                  </a:ext>
                </a:extLst>
              </p:cNvPr>
              <p:cNvSpPr txBox="1"/>
              <p:nvPr/>
            </p:nvSpPr>
            <p:spPr>
              <a:xfrm>
                <a:off x="605969" y="239304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13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C30AA5B-2C9F-EC47-CC98-4FB9912BC9CC}"/>
                  </a:ext>
                </a:extLst>
              </p:cNvPr>
              <p:cNvSpPr txBox="1"/>
              <p:nvPr/>
            </p:nvSpPr>
            <p:spPr>
              <a:xfrm>
                <a:off x="3626754" y="3835397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9</a:t>
                </a:r>
                <a:endParaRPr lang="zh-CN" altLang="en-US" dirty="0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6F068B8-B5CF-2C07-72DC-E4E3A3B07CBC}"/>
                  </a:ext>
                </a:extLst>
              </p:cNvPr>
              <p:cNvSpPr txBox="1"/>
              <p:nvPr/>
            </p:nvSpPr>
            <p:spPr>
              <a:xfrm>
                <a:off x="2420255" y="4715326"/>
                <a:ext cx="475342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11</a:t>
                </a: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DD5A5F6-D2B2-E414-22A7-467F13BB41D4}"/>
                  </a:ext>
                </a:extLst>
              </p:cNvPr>
              <p:cNvSpPr txBox="1"/>
              <p:nvPr/>
            </p:nvSpPr>
            <p:spPr>
              <a:xfrm>
                <a:off x="605968" y="3399969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14</a:t>
                </a:r>
                <a:endParaRPr lang="zh-CN" altLang="en-US" dirty="0"/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6F29F6E8-F2F1-731C-0AED-E36209BA3032}"/>
                  </a:ext>
                </a:extLst>
              </p:cNvPr>
              <p:cNvSpPr txBox="1"/>
              <p:nvPr/>
            </p:nvSpPr>
            <p:spPr>
              <a:xfrm>
                <a:off x="1304467" y="476975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10</a:t>
                </a:r>
                <a:endParaRPr lang="zh-CN" altLang="en-US" dirty="0"/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9FBB9E3F-1567-4921-8E4E-B6EB95229C2E}"/>
                  </a:ext>
                </a:extLst>
              </p:cNvPr>
              <p:cNvSpPr txBox="1"/>
              <p:nvPr/>
            </p:nvSpPr>
            <p:spPr>
              <a:xfrm>
                <a:off x="3581396" y="4715325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12</a:t>
                </a:r>
                <a:endParaRPr lang="zh-CN" altLang="en-US" dirty="0"/>
              </a:p>
            </p:txBody>
          </p: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D1DB576D-482B-415C-0143-9B35267358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4" y="4116589"/>
                <a:ext cx="3311274" cy="2934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直接箭头连接符 25">
                <a:extLst>
                  <a:ext uri="{FF2B5EF4-FFF2-40B4-BE49-F238E27FC236}">
                    <a16:creationId xmlns:a16="http://schemas.microsoft.com/office/drawing/2014/main" id="{BF2E6839-B7E4-99B2-A7B3-8C2666174E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0777" y="5034279"/>
                <a:ext cx="3320141" cy="1462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58015B3B-AC86-B5EE-B726-0FE49EA63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38419" y="2102732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E061393A-59E6-4719-58B3-DF74975600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190490" y="2102731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直接箭头连接符 28">
                <a:extLst>
                  <a:ext uri="{FF2B5EF4-FFF2-40B4-BE49-F238E27FC236}">
                    <a16:creationId xmlns:a16="http://schemas.microsoft.com/office/drawing/2014/main" id="{9063ED9A-2111-F06D-59C2-749A16B823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60918" y="2095499"/>
                <a:ext cx="18981" cy="2945038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B5EBFA10-60B3-1540-85E7-D13855925E4E}"/>
                  </a:ext>
                </a:extLst>
              </p:cNvPr>
              <p:cNvSpPr txBox="1"/>
              <p:nvPr/>
            </p:nvSpPr>
            <p:spPr>
              <a:xfrm>
                <a:off x="2474682" y="2819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5</a:t>
                </a:r>
                <a:endParaRPr lang="zh-CN" dirty="0"/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99E407DA-39FB-81E4-4CAE-030378B1B949}"/>
                  </a:ext>
                </a:extLst>
              </p:cNvPr>
              <p:cNvSpPr txBox="1"/>
              <p:nvPr/>
            </p:nvSpPr>
            <p:spPr>
              <a:xfrm>
                <a:off x="3626754" y="281032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6</a:t>
                </a:r>
                <a:endParaRPr lang="zh-CN" dirty="0"/>
              </a:p>
            </p:txBody>
          </p:sp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347C2349-FA7C-56DC-AFA6-471C84FB49FB}"/>
                  </a:ext>
                </a:extLst>
              </p:cNvPr>
              <p:cNvSpPr txBox="1"/>
              <p:nvPr/>
            </p:nvSpPr>
            <p:spPr>
              <a:xfrm>
                <a:off x="605967" y="443411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15</a:t>
                </a:r>
                <a:endParaRPr lang="zh-CN" altLang="en-US" dirty="0"/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B9B58870-1BFD-E55F-3524-87F4A2EF6CE1}"/>
                  </a:ext>
                </a:extLst>
              </p:cNvPr>
              <p:cNvSpPr txBox="1"/>
              <p:nvPr/>
            </p:nvSpPr>
            <p:spPr>
              <a:xfrm>
                <a:off x="1676397" y="2393040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16</a:t>
                </a: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D42BEA86-C76D-8F92-5741-FEDBEA3A98FC}"/>
                  </a:ext>
                </a:extLst>
              </p:cNvPr>
              <p:cNvSpPr txBox="1"/>
              <p:nvPr/>
            </p:nvSpPr>
            <p:spPr>
              <a:xfrm>
                <a:off x="1676396" y="3399968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17</a:t>
                </a:r>
                <a:endParaRPr lang="zh-CN" altLang="en-US" dirty="0"/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43A3211C-E8A4-720F-ECC0-1BA2D9DE72B7}"/>
                  </a:ext>
                </a:extLst>
              </p:cNvPr>
              <p:cNvSpPr txBox="1"/>
              <p:nvPr/>
            </p:nvSpPr>
            <p:spPr>
              <a:xfrm>
                <a:off x="1676395" y="4434110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18</a:t>
                </a:r>
                <a:endParaRPr lang="zh-CN" altLang="en-US" dirty="0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FAFDAFE5-1D51-21B4-E1F6-8CD4CD6733E7}"/>
                  </a:ext>
                </a:extLst>
              </p:cNvPr>
              <p:cNvSpPr txBox="1"/>
              <p:nvPr/>
            </p:nvSpPr>
            <p:spPr>
              <a:xfrm>
                <a:off x="2819397" y="241118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19</a:t>
                </a:r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D07B2AF9-9A1F-614D-2DC6-E0478637F994}"/>
                  </a:ext>
                </a:extLst>
              </p:cNvPr>
              <p:cNvSpPr txBox="1"/>
              <p:nvPr/>
            </p:nvSpPr>
            <p:spPr>
              <a:xfrm>
                <a:off x="2819396" y="341811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20</a:t>
                </a:r>
                <a:endParaRPr lang="zh-CN" altLang="en-US" dirty="0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7AFC75F-28BB-30D4-71FC-9F7F54F44C2D}"/>
                  </a:ext>
                </a:extLst>
              </p:cNvPr>
              <p:cNvSpPr txBox="1"/>
              <p:nvPr/>
            </p:nvSpPr>
            <p:spPr>
              <a:xfrm>
                <a:off x="2819395" y="445225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21</a:t>
                </a:r>
                <a:endParaRPr lang="zh-CN" altLang="en-US" dirty="0"/>
              </a:p>
            </p:txBody>
          </p: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B2F0F066-9B80-4BB8-BDEC-F7573FAADBF1}"/>
                  </a:ext>
                </a:extLst>
              </p:cNvPr>
              <p:cNvSpPr txBox="1"/>
              <p:nvPr/>
            </p:nvSpPr>
            <p:spPr>
              <a:xfrm>
                <a:off x="3898897" y="2438398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22</a:t>
                </a:r>
                <a:endParaRPr lang="zh-CN" altLang="en-US" dirty="0"/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FFEAA760-059D-1177-A1BD-07DA34C2674D}"/>
                  </a:ext>
                </a:extLst>
              </p:cNvPr>
              <p:cNvSpPr txBox="1"/>
              <p:nvPr/>
            </p:nvSpPr>
            <p:spPr>
              <a:xfrm>
                <a:off x="3898896" y="3445326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23</a:t>
                </a:r>
                <a:endParaRPr lang="zh-CN" altLang="en-US" dirty="0"/>
              </a:p>
            </p:txBody>
          </p:sp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3ED5CAD0-8D00-F681-A1C5-73B13C027282}"/>
                  </a:ext>
                </a:extLst>
              </p:cNvPr>
              <p:cNvSpPr txBox="1"/>
              <p:nvPr/>
            </p:nvSpPr>
            <p:spPr>
              <a:xfrm>
                <a:off x="3778823" y="4424052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24</a:t>
                </a:r>
                <a:endParaRPr lang="zh-CN" dirty="0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FE9805C3-63BB-F724-B963-2097C4D0B3E1}"/>
                  </a:ext>
                </a:extLst>
              </p:cNvPr>
              <p:cNvSpPr txBox="1"/>
              <p:nvPr/>
            </p:nvSpPr>
            <p:spPr>
              <a:xfrm>
                <a:off x="596898" y="1621971"/>
                <a:ext cx="457201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25</a:t>
                </a:r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AACF011D-1037-7260-E284-72DBC6C0EE7C}"/>
                  </a:ext>
                </a:extLst>
              </p:cNvPr>
              <p:cNvSpPr txBox="1"/>
              <p:nvPr/>
            </p:nvSpPr>
            <p:spPr>
              <a:xfrm>
                <a:off x="4588326" y="5005613"/>
                <a:ext cx="457201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26</a:t>
                </a:r>
                <a:endParaRPr lang="zh-CN" altLang="en-US" dirty="0"/>
              </a:p>
            </p:txBody>
          </p: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E1F2F1A9-4B13-BFB4-1C07-DA28905A1F41}"/>
                  </a:ext>
                </a:extLst>
              </p:cNvPr>
              <p:cNvCxnSpPr/>
              <p:nvPr/>
            </p:nvCxnSpPr>
            <p:spPr>
              <a:xfrm>
                <a:off x="152400" y="1647824"/>
                <a:ext cx="790574" cy="4476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5C89A0A8-1C5A-E8BC-5DAA-95A1074BA0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9899" y="5040537"/>
                <a:ext cx="790574" cy="4476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9" name="连接符: 肘形 58">
              <a:extLst>
                <a:ext uri="{FF2B5EF4-FFF2-40B4-BE49-F238E27FC236}">
                  <a16:creationId xmlns:a16="http://schemas.microsoft.com/office/drawing/2014/main" id="{3BBB516E-3D2D-68A3-F0CC-F12286414A64}"/>
                </a:ext>
              </a:extLst>
            </p:cNvPr>
            <p:cNvCxnSpPr/>
            <p:nvPr/>
          </p:nvCxnSpPr>
          <p:spPr>
            <a:xfrm>
              <a:off x="1247535" y="2274569"/>
              <a:ext cx="3302202" cy="2939153"/>
            </a:xfrm>
            <a:prstGeom prst="bentConnector3">
              <a:avLst>
                <a:gd name="adj1" fmla="val 100067"/>
              </a:avLst>
            </a:prstGeom>
            <a:ln w="762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连接符: 肘形 60">
              <a:extLst>
                <a:ext uri="{FF2B5EF4-FFF2-40B4-BE49-F238E27FC236}">
                  <a16:creationId xmlns:a16="http://schemas.microsoft.com/office/drawing/2014/main" id="{05431F53-DC4E-E0F6-600D-9A931526808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527378" y="3202477"/>
              <a:ext cx="2910113" cy="1044260"/>
            </a:xfrm>
            <a:prstGeom prst="bentConnector3">
              <a:avLst>
                <a:gd name="adj1" fmla="val 68983"/>
              </a:avLst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接连接符 207">
              <a:extLst>
                <a:ext uri="{FF2B5EF4-FFF2-40B4-BE49-F238E27FC236}">
                  <a16:creationId xmlns:a16="http://schemas.microsoft.com/office/drawing/2014/main" id="{19183989-3465-BCF7-D9A4-8D0B574EBB4F}"/>
                </a:ext>
              </a:extLst>
            </p:cNvPr>
            <p:cNvCxnSpPr/>
            <p:nvPr/>
          </p:nvCxnSpPr>
          <p:spPr>
            <a:xfrm>
              <a:off x="1247535" y="2311513"/>
              <a:ext cx="2249713" cy="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连接符: 肘形 213">
              <a:extLst>
                <a:ext uri="{FF2B5EF4-FFF2-40B4-BE49-F238E27FC236}">
                  <a16:creationId xmlns:a16="http://schemas.microsoft.com/office/drawing/2014/main" id="{D464DD1D-A72B-1103-6984-ADCCEFE26447}"/>
                </a:ext>
              </a:extLst>
            </p:cNvPr>
            <p:cNvCxnSpPr>
              <a:cxnSpLocks/>
            </p:cNvCxnSpPr>
            <p:nvPr/>
          </p:nvCxnSpPr>
          <p:spPr>
            <a:xfrm>
              <a:off x="1247535" y="2204718"/>
              <a:ext cx="3360435" cy="2989403"/>
            </a:xfrm>
            <a:prstGeom prst="bentConnector3">
              <a:avLst>
                <a:gd name="adj1" fmla="val 100299"/>
              </a:avLst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连接符: 肘形 222">
              <a:extLst>
                <a:ext uri="{FF2B5EF4-FFF2-40B4-BE49-F238E27FC236}">
                  <a16:creationId xmlns:a16="http://schemas.microsoft.com/office/drawing/2014/main" id="{E16D2F18-79B7-7390-F595-BFFD44CB8576}"/>
                </a:ext>
              </a:extLst>
            </p:cNvPr>
            <p:cNvCxnSpPr>
              <a:cxnSpLocks/>
            </p:cNvCxnSpPr>
            <p:nvPr/>
          </p:nvCxnSpPr>
          <p:spPr>
            <a:xfrm>
              <a:off x="3415132" y="4326760"/>
              <a:ext cx="1042669" cy="876362"/>
            </a:xfrm>
            <a:prstGeom prst="bentConnector3">
              <a:avLst>
                <a:gd name="adj1" fmla="val 99607"/>
              </a:avLst>
            </a:prstGeom>
            <a:ln w="5715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90A7350E-26E4-EC51-362C-6BA60EFFE6B0}"/>
                </a:ext>
              </a:extLst>
            </p:cNvPr>
            <p:cNvCxnSpPr>
              <a:cxnSpLocks/>
            </p:cNvCxnSpPr>
            <p:nvPr/>
          </p:nvCxnSpPr>
          <p:spPr>
            <a:xfrm>
              <a:off x="1263277" y="2318102"/>
              <a:ext cx="2216032" cy="967720"/>
            </a:xfrm>
            <a:prstGeom prst="bentConnector3">
              <a:avLst>
                <a:gd name="adj1" fmla="val -433"/>
              </a:avLst>
            </a:prstGeom>
            <a:ln w="5715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接连接符 237">
              <a:extLst>
                <a:ext uri="{FF2B5EF4-FFF2-40B4-BE49-F238E27FC236}">
                  <a16:creationId xmlns:a16="http://schemas.microsoft.com/office/drawing/2014/main" id="{71F79997-0905-B292-D07E-FD42691F03AA}"/>
                </a:ext>
              </a:extLst>
            </p:cNvPr>
            <p:cNvCxnSpPr/>
            <p:nvPr/>
          </p:nvCxnSpPr>
          <p:spPr>
            <a:xfrm>
              <a:off x="3433129" y="3279302"/>
              <a:ext cx="0" cy="1047758"/>
            </a:xfrm>
            <a:prstGeom prst="line">
              <a:avLst/>
            </a:prstGeom>
            <a:ln w="381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3605DB83-F126-C08C-FA03-217B4E67EC41}"/>
                  </a:ext>
                </a:extLst>
              </p:cNvPr>
              <p:cNvSpPr txBox="1"/>
              <p:nvPr/>
            </p:nvSpPr>
            <p:spPr>
              <a:xfrm>
                <a:off x="5380031" y="1658749"/>
                <a:ext cx="302262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%4+1</m:t>
                    </m:r>
                  </m:oMath>
                </a14:m>
                <a:r>
                  <a:rPr lang="zh-CN" altLang="en-US" sz="2000" dirty="0">
                    <a:latin typeface="Amasis MT Pro Medium" panose="020406040500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3605DB83-F126-C08C-FA03-217B4E67E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031" y="1658749"/>
                <a:ext cx="3022622" cy="307777"/>
              </a:xfrm>
              <a:prstGeom prst="rect">
                <a:avLst/>
              </a:prstGeom>
              <a:blipFill>
                <a:blip r:embed="rId2"/>
                <a:stretch>
                  <a:fillRect l="-2222" b="-137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文本框 244">
            <a:extLst>
              <a:ext uri="{FF2B5EF4-FFF2-40B4-BE49-F238E27FC236}">
                <a16:creationId xmlns:a16="http://schemas.microsoft.com/office/drawing/2014/main" id="{67928630-50E4-EE51-A875-10326DCAB219}"/>
              </a:ext>
            </a:extLst>
          </p:cNvPr>
          <p:cNvSpPr txBox="1"/>
          <p:nvPr/>
        </p:nvSpPr>
        <p:spPr>
          <a:xfrm>
            <a:off x="1187275" y="5481828"/>
            <a:ext cx="337195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Amasis MT Pro Medium" panose="02040604050005020304" pitchFamily="18" charset="0"/>
              </a:rPr>
              <a:t>Figure 2: A 3x3 toy network</a:t>
            </a:r>
            <a:endParaRPr lang="zh-CN" altLang="en-US" dirty="0">
              <a:latin typeface="Amasis MT Pro Medium" panose="020406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5577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7730E88-33C3-4222-7395-4DC2C55A0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6EDF027A-0CED-01CA-200B-1D9E7FE4A45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Case Study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B38736EF-DCC1-7EB6-AEC0-F5BA7A6215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CTM Calibration</a:t>
            </a:r>
            <a:endParaRPr lang="zh-CN" altLang="en-US" sz="2800" dirty="0"/>
          </a:p>
        </p:txBody>
      </p:sp>
      <p:pic>
        <p:nvPicPr>
          <p:cNvPr id="3" name="图片 2" descr="图表, 折线图&#10;&#10;AI 生成的内容可能不正确。">
            <a:extLst>
              <a:ext uri="{FF2B5EF4-FFF2-40B4-BE49-F238E27FC236}">
                <a16:creationId xmlns:a16="http://schemas.microsoft.com/office/drawing/2014/main" id="{74F6C9F2-6AC9-1336-485C-C85A07432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629" y="3528204"/>
            <a:ext cx="3450543" cy="25769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535A122-C877-F1FA-8E32-56A7EA146576}"/>
                  </a:ext>
                </a:extLst>
              </p:cNvPr>
              <p:cNvSpPr txBox="1"/>
              <p:nvPr/>
            </p:nvSpPr>
            <p:spPr>
              <a:xfrm>
                <a:off x="947737" y="1729314"/>
                <a:ext cx="3838853" cy="17988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=1890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57.6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altLang="zh-CN" dirty="0">
                    <a:latin typeface="Amasis MT Pro Medium" panose="02040604050005020304" pitchFamily="18" charset="0"/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19.85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37.79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=3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2.81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𝑗𝑎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133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535A122-C877-F1FA-8E32-56A7EA146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737" y="1729314"/>
                <a:ext cx="3838853" cy="1798890"/>
              </a:xfrm>
              <a:prstGeom prst="rect">
                <a:avLst/>
              </a:prstGeom>
              <a:blipFill>
                <a:blip r:embed="rId3"/>
                <a:stretch>
                  <a:fillRect l="-952" t="-678" b="-2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文本框 54">
            <a:extLst>
              <a:ext uri="{FF2B5EF4-FFF2-40B4-BE49-F238E27FC236}">
                <a16:creationId xmlns:a16="http://schemas.microsoft.com/office/drawing/2014/main" id="{C5D7F388-3B8B-B150-E50C-2F5D65418B37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Toy Network</a:t>
            </a:r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C0852A1-EC7A-1F9A-2B1B-EE18CF45A103}"/>
              </a:ext>
            </a:extLst>
          </p:cNvPr>
          <p:cNvSpPr txBox="1"/>
          <p:nvPr/>
        </p:nvSpPr>
        <p:spPr>
          <a:xfrm>
            <a:off x="4919785" y="742667"/>
            <a:ext cx="2120127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solidFill>
                  <a:srgbClr val="AE976B"/>
                </a:solidFill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CTM evaluation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268864AB-9EFB-3383-00E1-7A1E08E534C6}"/>
              </a:ext>
            </a:extLst>
          </p:cNvPr>
          <p:cNvSpPr txBox="1"/>
          <p:nvPr/>
        </p:nvSpPr>
        <p:spPr>
          <a:xfrm>
            <a:off x="1905000" y="742667"/>
            <a:ext cx="301478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Network Configuration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EF89E51-2B16-EAF5-ECAC-C81ED39240F3}"/>
              </a:ext>
            </a:extLst>
          </p:cNvPr>
          <p:cNvSpPr txBox="1"/>
          <p:nvPr/>
        </p:nvSpPr>
        <p:spPr>
          <a:xfrm>
            <a:off x="7039912" y="742951"/>
            <a:ext cx="245651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Result &amp; Analysis</a:t>
            </a:r>
            <a:endParaRPr lang="zh-CN" altLang="en-US" dirty="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825F6E23-D291-267C-94EA-649CD91C6F3D}"/>
              </a:ext>
            </a:extLst>
          </p:cNvPr>
          <p:cNvSpPr txBox="1"/>
          <p:nvPr/>
        </p:nvSpPr>
        <p:spPr>
          <a:xfrm>
            <a:off x="9496426" y="742951"/>
            <a:ext cx="269557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pic>
        <p:nvPicPr>
          <p:cNvPr id="16" name="图片 38" descr="图形用户界面, 图表&#10;&#10;AI 生成的内容可能不正确。">
            <a:extLst>
              <a:ext uri="{FF2B5EF4-FFF2-40B4-BE49-F238E27FC236}">
                <a16:creationId xmlns:a16="http://schemas.microsoft.com/office/drawing/2014/main" id="{2D3B8AD2-8DD1-4EE0-AB55-2D416D319C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0661" y="1814817"/>
            <a:ext cx="8102382" cy="2095691"/>
          </a:xfrm>
          <a:prstGeom prst="rect">
            <a:avLst/>
          </a:prstGeom>
        </p:spPr>
      </p:pic>
      <p:pic>
        <p:nvPicPr>
          <p:cNvPr id="17" name="图片 39" descr="图表&#10;&#10;AI 生成的内容可能不正确。">
            <a:extLst>
              <a:ext uri="{FF2B5EF4-FFF2-40B4-BE49-F238E27FC236}">
                <a16:creationId xmlns:a16="http://schemas.microsoft.com/office/drawing/2014/main" id="{1AF5E82A-B14F-454F-A5A6-FE0C7F9FAC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611" y="3946040"/>
            <a:ext cx="8102382" cy="2067426"/>
          </a:xfrm>
          <a:prstGeom prst="rect">
            <a:avLst/>
          </a:prstGeom>
        </p:spPr>
      </p:pic>
      <p:sp>
        <p:nvSpPr>
          <p:cNvPr id="18" name="文本框 41">
            <a:extLst>
              <a:ext uri="{FF2B5EF4-FFF2-40B4-BE49-F238E27FC236}">
                <a16:creationId xmlns:a16="http://schemas.microsoft.com/office/drawing/2014/main" id="{A799BCF7-78DF-4A06-8E47-BB7B10D8177A}"/>
              </a:ext>
            </a:extLst>
          </p:cNvPr>
          <p:cNvSpPr txBox="1"/>
          <p:nvPr/>
        </p:nvSpPr>
        <p:spPr>
          <a:xfrm>
            <a:off x="6096000" y="3677601"/>
            <a:ext cx="3991335" cy="461665"/>
          </a:xfrm>
          <a:prstGeom prst="rect">
            <a:avLst/>
          </a:prstGeom>
          <a:solidFill>
            <a:srgbClr val="AE976B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Amasis MT Pro Medium" panose="02040604050005020304" pitchFamily="18" charset="0"/>
              </a:rPr>
              <a:t>MAE 0.61 </a:t>
            </a:r>
            <a:r>
              <a:rPr lang="en-US" altLang="zh-CN" sz="2400" dirty="0" err="1">
                <a:latin typeface="Amasis MT Pro Medium" panose="02040604050005020304" pitchFamily="18" charset="0"/>
              </a:rPr>
              <a:t>veh</a:t>
            </a:r>
            <a:r>
              <a:rPr lang="en-US" altLang="zh-CN" sz="2400" dirty="0">
                <a:latin typeface="Amasis MT Pro Medium" panose="02040604050005020304" pitchFamily="18" charset="0"/>
              </a:rPr>
              <a:t>/cell/step</a:t>
            </a:r>
          </a:p>
        </p:txBody>
      </p:sp>
    </p:spTree>
    <p:extLst>
      <p:ext uri="{BB962C8B-B14F-4D97-AF65-F5344CB8AC3E}">
        <p14:creationId xmlns:p14="http://schemas.microsoft.com/office/powerpoint/2010/main" val="2478217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BE9AF4D-B5AB-E57E-F893-BF96B5A8A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44968968-4D22-4B95-26F6-9D4C2550F9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Methodology</a:t>
            </a:r>
            <a:endParaRPr lang="zh-CN" altLang="en-US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8EF5554C-CA1F-80D5-D9D4-9CAF2100020B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101010"/>
                </a:solidFill>
                <a:latin typeface="Amasis MT Pro Medium" panose="02040604050005020304" pitchFamily="18" charset="0"/>
              </a:rPr>
              <a:t>Overview</a:t>
            </a:r>
            <a:endParaRPr lang="zh-CN" altLang="en-US" sz="2000" dirty="0">
              <a:solidFill>
                <a:srgbClr val="101010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75A7491-D042-F6AB-E750-1DD0FA36929E}"/>
              </a:ext>
            </a:extLst>
          </p:cNvPr>
          <p:cNvSpPr txBox="1"/>
          <p:nvPr/>
        </p:nvSpPr>
        <p:spPr>
          <a:xfrm>
            <a:off x="1905001" y="742951"/>
            <a:ext cx="3181349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AE976B"/>
                </a:solidFill>
                <a:latin typeface="Amasis MT Pro Medium" panose="02040604050005020304" pitchFamily="18" charset="0"/>
              </a:rPr>
              <a:t>Cell Transmission Model</a:t>
            </a:r>
            <a:endParaRPr lang="zh-CN" altLang="en-US" sz="2000" dirty="0">
              <a:solidFill>
                <a:srgbClr val="AE976B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F87A2BF6-6861-C123-81D8-54DE92DEE8BC}"/>
              </a:ext>
            </a:extLst>
          </p:cNvPr>
          <p:cNvSpPr txBox="1"/>
          <p:nvPr/>
        </p:nvSpPr>
        <p:spPr>
          <a:xfrm>
            <a:off x="5086350" y="742951"/>
            <a:ext cx="29432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Travel Cost Prediction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9DEA2636-608A-CC85-B4DC-0592521B8C93}"/>
              </a:ext>
            </a:extLst>
          </p:cNvPr>
          <p:cNvSpPr txBox="1"/>
          <p:nvPr/>
        </p:nvSpPr>
        <p:spPr>
          <a:xfrm>
            <a:off x="8029575" y="742951"/>
            <a:ext cx="41624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D-VRP &amp; Coverage Optimization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546BA969-5D0E-BB44-012D-4EFED65F04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Normal cells</a:t>
            </a:r>
            <a:endParaRPr lang="zh-CN" alt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737E5362-EB70-6019-2210-830CC8950CA6}"/>
                  </a:ext>
                </a:extLst>
              </p:cNvPr>
              <p:cNvSpPr txBox="1"/>
              <p:nvPr/>
            </p:nvSpPr>
            <p:spPr>
              <a:xfrm>
                <a:off x="5121774" y="3370903"/>
                <a:ext cx="3777252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−1, 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737E5362-EB70-6019-2210-830CC8950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3370903"/>
                <a:ext cx="3777252" cy="289182"/>
              </a:xfrm>
              <a:prstGeom prst="rect">
                <a:avLst/>
              </a:prstGeom>
              <a:blipFill>
                <a:blip r:embed="rId2"/>
                <a:stretch>
                  <a:fillRect l="-1613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B7E03D05-318B-B792-693D-02100F43EB27}"/>
              </a:ext>
            </a:extLst>
          </p:cNvPr>
          <p:cNvSpPr txBox="1"/>
          <p:nvPr/>
        </p:nvSpPr>
        <p:spPr>
          <a:xfrm>
            <a:off x="2503746" y="3330828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 Medium" panose="02040604050005020304" pitchFamily="18" charset="0"/>
              </a:rPr>
              <a:t>For normal cell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B38160F-61B7-D0B9-1362-0BBDF87BCAB1}"/>
                  </a:ext>
                </a:extLst>
              </p:cNvPr>
              <p:cNvSpPr txBox="1"/>
              <p:nvPr/>
            </p:nvSpPr>
            <p:spPr>
              <a:xfrm>
                <a:off x="5121774" y="4139189"/>
                <a:ext cx="269548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−1, 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/>
              </a:p>
            </p:txBody>
          </p:sp>
        </mc:Choice>
        <mc:Fallback xmlns="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B38160F-61B7-D0B9-1362-0BBDF87BC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4139189"/>
                <a:ext cx="2695481" cy="289182"/>
              </a:xfrm>
              <a:prstGeom prst="rect">
                <a:avLst/>
              </a:prstGeom>
              <a:blipFill>
                <a:blip r:embed="rId3"/>
                <a:stretch>
                  <a:fillRect l="-2262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" name="文本框 193">
            <a:extLst>
              <a:ext uri="{FF2B5EF4-FFF2-40B4-BE49-F238E27FC236}">
                <a16:creationId xmlns:a16="http://schemas.microsoft.com/office/drawing/2014/main" id="{A2530775-CD1E-5F05-8ACC-2F84BE9C6A1A}"/>
              </a:ext>
            </a:extLst>
          </p:cNvPr>
          <p:cNvSpPr txBox="1"/>
          <p:nvPr/>
        </p:nvSpPr>
        <p:spPr>
          <a:xfrm>
            <a:off x="2503746" y="4099114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 Medium" panose="02040604050005020304" pitchFamily="18" charset="0"/>
              </a:rPr>
              <a:t>For sink cell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文本框 194">
                <a:extLst>
                  <a:ext uri="{FF2B5EF4-FFF2-40B4-BE49-F238E27FC236}">
                    <a16:creationId xmlns:a16="http://schemas.microsoft.com/office/drawing/2014/main" id="{DB627F92-CCEE-3C82-27D0-A2791E189E25}"/>
                  </a:ext>
                </a:extLst>
              </p:cNvPr>
              <p:cNvSpPr txBox="1"/>
              <p:nvPr/>
            </p:nvSpPr>
            <p:spPr>
              <a:xfrm>
                <a:off x="5121774" y="4971518"/>
                <a:ext cx="3467488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/>
              </a:p>
            </p:txBody>
          </p:sp>
        </mc:Choice>
        <mc:Fallback xmlns="">
          <p:sp>
            <p:nvSpPr>
              <p:cNvPr id="195" name="文本框 194">
                <a:extLst>
                  <a:ext uri="{FF2B5EF4-FFF2-40B4-BE49-F238E27FC236}">
                    <a16:creationId xmlns:a16="http://schemas.microsoft.com/office/drawing/2014/main" id="{DB627F92-CCEE-3C82-27D0-A2791E189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4971518"/>
                <a:ext cx="3467488" cy="289182"/>
              </a:xfrm>
              <a:prstGeom prst="rect">
                <a:avLst/>
              </a:prstGeom>
              <a:blipFill>
                <a:blip r:embed="rId4"/>
                <a:stretch>
                  <a:fillRect l="-1757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6" name="文本框 195">
            <a:extLst>
              <a:ext uri="{FF2B5EF4-FFF2-40B4-BE49-F238E27FC236}">
                <a16:creationId xmlns:a16="http://schemas.microsoft.com/office/drawing/2014/main" id="{391912DC-23C2-BBDC-A1B0-FCAE0829A287}"/>
              </a:ext>
            </a:extLst>
          </p:cNvPr>
          <p:cNvSpPr txBox="1"/>
          <p:nvPr/>
        </p:nvSpPr>
        <p:spPr>
          <a:xfrm>
            <a:off x="2503746" y="4931443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latin typeface="Amasis MT Pro Medium" panose="02040604050005020304" pitchFamily="18" charset="0"/>
              </a:rPr>
              <a:t>For source cell</a:t>
            </a:r>
          </a:p>
        </p:txBody>
      </p:sp>
      <p:grpSp>
        <p:nvGrpSpPr>
          <p:cNvPr id="197" name="组合 196">
            <a:extLst>
              <a:ext uri="{FF2B5EF4-FFF2-40B4-BE49-F238E27FC236}">
                <a16:creationId xmlns:a16="http://schemas.microsoft.com/office/drawing/2014/main" id="{06576454-DB5D-BBDA-0AB6-8EA7F22F4F6F}"/>
              </a:ext>
            </a:extLst>
          </p:cNvPr>
          <p:cNvGrpSpPr/>
          <p:nvPr/>
        </p:nvGrpSpPr>
        <p:grpSpPr>
          <a:xfrm>
            <a:off x="2605053" y="1813664"/>
            <a:ext cx="6341172" cy="1204150"/>
            <a:chOff x="1690653" y="2043487"/>
            <a:chExt cx="6341172" cy="120415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本框 197">
                  <a:extLst>
                    <a:ext uri="{FF2B5EF4-FFF2-40B4-BE49-F238E27FC236}">
                      <a16:creationId xmlns:a16="http://schemas.microsoft.com/office/drawing/2014/main" id="{17A4D70D-E955-9EE0-8631-EC88EEB496CC}"/>
                    </a:ext>
                  </a:extLst>
                </p:cNvPr>
                <p:cNvSpPr txBox="1"/>
                <p:nvPr/>
              </p:nvSpPr>
              <p:spPr>
                <a:xfrm>
                  <a:off x="2014104" y="2650109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871438A1-F360-0C35-67D4-05EE034310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4104" y="2650109"/>
                  <a:ext cx="1185706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1290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文本框 203">
                  <a:extLst>
                    <a:ext uri="{FF2B5EF4-FFF2-40B4-BE49-F238E27FC236}">
                      <a16:creationId xmlns:a16="http://schemas.microsoft.com/office/drawing/2014/main" id="{7D5EB115-3ADA-FBA5-671B-ECF003CDAEF1}"/>
                    </a:ext>
                  </a:extLst>
                </p:cNvPr>
                <p:cNvSpPr txBox="1"/>
                <p:nvPr/>
              </p:nvSpPr>
              <p:spPr>
                <a:xfrm>
                  <a:off x="4276658" y="2646725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CAE317AB-93E3-D591-7827-9DA69BB73D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6658" y="2646725"/>
                  <a:ext cx="1185706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111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E863F3D8-1D22-A972-D224-5F34195344AE}"/>
                    </a:ext>
                  </a:extLst>
                </p:cNvPr>
                <p:cNvSpPr txBox="1"/>
                <p:nvPr/>
              </p:nvSpPr>
              <p:spPr>
                <a:xfrm>
                  <a:off x="6539212" y="2646725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7E288905-5939-C039-1561-101EBE9E49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9212" y="2646725"/>
                  <a:ext cx="1185706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111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6" name="直接连接符 205">
              <a:extLst>
                <a:ext uri="{FF2B5EF4-FFF2-40B4-BE49-F238E27FC236}">
                  <a16:creationId xmlns:a16="http://schemas.microsoft.com/office/drawing/2014/main" id="{AEBB188E-40A0-3935-2546-C2A8CA6FDB50}"/>
                </a:ext>
              </a:extLst>
            </p:cNvPr>
            <p:cNvCxnSpPr/>
            <p:nvPr/>
          </p:nvCxnSpPr>
          <p:spPr>
            <a:xfrm>
              <a:off x="2014104" y="2455995"/>
              <a:ext cx="5743223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直接连接符 206">
              <a:extLst>
                <a:ext uri="{FF2B5EF4-FFF2-40B4-BE49-F238E27FC236}">
                  <a16:creationId xmlns:a16="http://schemas.microsoft.com/office/drawing/2014/main" id="{0EA78F2B-0AC0-5845-CFCA-3DAE732F7768}"/>
                </a:ext>
              </a:extLst>
            </p:cNvPr>
            <p:cNvCxnSpPr>
              <a:cxnSpLocks/>
            </p:cNvCxnSpPr>
            <p:nvPr/>
          </p:nvCxnSpPr>
          <p:spPr>
            <a:xfrm>
              <a:off x="2014104" y="3247637"/>
              <a:ext cx="571081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直接箭头连接符 207">
              <a:extLst>
                <a:ext uri="{FF2B5EF4-FFF2-40B4-BE49-F238E27FC236}">
                  <a16:creationId xmlns:a16="http://schemas.microsoft.com/office/drawing/2014/main" id="{EF3CC753-4733-3A23-AAC3-01D01C1199D8}"/>
                </a:ext>
              </a:extLst>
            </p:cNvPr>
            <p:cNvCxnSpPr>
              <a:stCxn id="198" idx="3"/>
              <a:endCxn id="204" idx="1"/>
            </p:cNvCxnSpPr>
            <p:nvPr/>
          </p:nvCxnSpPr>
          <p:spPr>
            <a:xfrm flipV="1">
              <a:off x="3199810" y="2831391"/>
              <a:ext cx="1076848" cy="338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9" name="直接箭头连接符 208">
              <a:extLst>
                <a:ext uri="{FF2B5EF4-FFF2-40B4-BE49-F238E27FC236}">
                  <a16:creationId xmlns:a16="http://schemas.microsoft.com/office/drawing/2014/main" id="{E1CDA8F6-3CF8-43D5-7C65-8CAD2165ADB6}"/>
                </a:ext>
              </a:extLst>
            </p:cNvPr>
            <p:cNvCxnSpPr>
              <a:stCxn id="204" idx="3"/>
              <a:endCxn id="205" idx="1"/>
            </p:cNvCxnSpPr>
            <p:nvPr/>
          </p:nvCxnSpPr>
          <p:spPr>
            <a:xfrm>
              <a:off x="5462364" y="2831391"/>
              <a:ext cx="1076848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7CB30EE2-C50D-251E-723C-BE8B88FBD886}"/>
                    </a:ext>
                  </a:extLst>
                </p:cNvPr>
                <p:cNvSpPr txBox="1"/>
                <p:nvPr/>
              </p:nvSpPr>
              <p:spPr>
                <a:xfrm>
                  <a:off x="1839071" y="2056643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B0387F7C-BE90-1539-6DB4-483453C229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9071" y="2056643"/>
                  <a:ext cx="1535772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794" r="-13095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6AE5A525-748C-2F04-AF83-C26D45889E7E}"/>
                    </a:ext>
                  </a:extLst>
                </p:cNvPr>
                <p:cNvSpPr txBox="1"/>
                <p:nvPr/>
              </p:nvSpPr>
              <p:spPr>
                <a:xfrm>
                  <a:off x="4038600" y="2043487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00120851-5795-51EF-FA57-A744117BEC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600" y="2043487"/>
                  <a:ext cx="1535772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本框 211">
                  <a:extLst>
                    <a:ext uri="{FF2B5EF4-FFF2-40B4-BE49-F238E27FC236}">
                      <a16:creationId xmlns:a16="http://schemas.microsoft.com/office/drawing/2014/main" id="{BEA85006-AB14-0F35-24A2-19155CBF9313}"/>
                    </a:ext>
                  </a:extLst>
                </p:cNvPr>
                <p:cNvSpPr txBox="1"/>
                <p:nvPr/>
              </p:nvSpPr>
              <p:spPr>
                <a:xfrm>
                  <a:off x="6238129" y="2050065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215BE034-A3F2-117F-A571-E1F641FCD5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8129" y="2050065"/>
                  <a:ext cx="1535772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794" r="-13095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本框 212">
                  <a:extLst>
                    <a:ext uri="{FF2B5EF4-FFF2-40B4-BE49-F238E27FC236}">
                      <a16:creationId xmlns:a16="http://schemas.microsoft.com/office/drawing/2014/main" id="{72777CBA-87BB-E9A1-EBD1-55A6D82ED114}"/>
                    </a:ext>
                  </a:extLst>
                </p:cNvPr>
                <p:cNvSpPr txBox="1"/>
                <p:nvPr/>
              </p:nvSpPr>
              <p:spPr>
                <a:xfrm>
                  <a:off x="3187433" y="2775801"/>
                  <a:ext cx="901815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−1, 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449000E4-FCE7-9911-60B6-81A28AC910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7433" y="2775801"/>
                  <a:ext cx="901815" cy="381515"/>
                </a:xfrm>
                <a:prstGeom prst="rect">
                  <a:avLst/>
                </a:prstGeom>
                <a:blipFill>
                  <a:blip r:embed="rId13"/>
                  <a:stretch>
                    <a:fillRect r="-11486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4" name="文本框 213">
                  <a:extLst>
                    <a:ext uri="{FF2B5EF4-FFF2-40B4-BE49-F238E27FC236}">
                      <a16:creationId xmlns:a16="http://schemas.microsoft.com/office/drawing/2014/main" id="{7C0917AE-0CFD-A9FD-AFA1-B0C5633AB9ED}"/>
                    </a:ext>
                  </a:extLst>
                </p:cNvPr>
                <p:cNvSpPr txBox="1"/>
                <p:nvPr/>
              </p:nvSpPr>
              <p:spPr>
                <a:xfrm>
                  <a:off x="5495452" y="2784781"/>
                  <a:ext cx="901815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E5CA4548-E0CF-91A6-48B5-66179C6589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5452" y="2784781"/>
                  <a:ext cx="901815" cy="381515"/>
                </a:xfrm>
                <a:prstGeom prst="rect">
                  <a:avLst/>
                </a:prstGeom>
                <a:blipFill>
                  <a:blip r:embed="rId14"/>
                  <a:stretch>
                    <a:fillRect r="-11486" b="-112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5" name="直接箭头连接符 214">
              <a:extLst>
                <a:ext uri="{FF2B5EF4-FFF2-40B4-BE49-F238E27FC236}">
                  <a16:creationId xmlns:a16="http://schemas.microsoft.com/office/drawing/2014/main" id="{49283B66-F498-51CB-46DA-7D7238D00100}"/>
                </a:ext>
              </a:extLst>
            </p:cNvPr>
            <p:cNvCxnSpPr>
              <a:cxnSpLocks/>
            </p:cNvCxnSpPr>
            <p:nvPr/>
          </p:nvCxnSpPr>
          <p:spPr>
            <a:xfrm>
              <a:off x="1690653" y="2831391"/>
              <a:ext cx="306907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6" name="直接箭头连接符 215">
              <a:extLst>
                <a:ext uri="{FF2B5EF4-FFF2-40B4-BE49-F238E27FC236}">
                  <a16:creationId xmlns:a16="http://schemas.microsoft.com/office/drawing/2014/main" id="{EA26C7CB-1CCD-F81F-9953-9EF45040A1D2}"/>
                </a:ext>
              </a:extLst>
            </p:cNvPr>
            <p:cNvCxnSpPr>
              <a:cxnSpLocks/>
            </p:cNvCxnSpPr>
            <p:nvPr/>
          </p:nvCxnSpPr>
          <p:spPr>
            <a:xfrm>
              <a:off x="7724918" y="2831391"/>
              <a:ext cx="306907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8" name="文本框 217">
            <a:extLst>
              <a:ext uri="{FF2B5EF4-FFF2-40B4-BE49-F238E27FC236}">
                <a16:creationId xmlns:a16="http://schemas.microsoft.com/office/drawing/2014/main" id="{C934B388-D1FC-366E-7DEF-645A8D35BA1D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45060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275BD1B-02D2-D12F-7BDB-2DCB1332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96D7E845-144C-1999-492D-D10C4D3E85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Methodology</a:t>
            </a:r>
            <a:endParaRPr lang="zh-CN" altLang="en-US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EDEA294-070D-64F1-5308-7566B64CE30C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101010"/>
                </a:solidFill>
                <a:latin typeface="Amasis MT Pro Medium" panose="02040604050005020304" pitchFamily="18" charset="0"/>
              </a:rPr>
              <a:t>Overview</a:t>
            </a:r>
            <a:endParaRPr lang="zh-CN" altLang="en-US" sz="2000" dirty="0">
              <a:solidFill>
                <a:srgbClr val="101010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1421556-8303-D024-DB40-8FF5AE6F75D6}"/>
              </a:ext>
            </a:extLst>
          </p:cNvPr>
          <p:cNvSpPr txBox="1"/>
          <p:nvPr/>
        </p:nvSpPr>
        <p:spPr>
          <a:xfrm>
            <a:off x="1905001" y="742951"/>
            <a:ext cx="3181349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AE976B"/>
                </a:solidFill>
                <a:latin typeface="Amasis MT Pro Medium" panose="02040604050005020304" pitchFamily="18" charset="0"/>
              </a:rPr>
              <a:t>Cell Transmission Model</a:t>
            </a:r>
            <a:endParaRPr lang="zh-CN" altLang="en-US" sz="2000" dirty="0">
              <a:solidFill>
                <a:srgbClr val="AE976B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32442F1F-4860-C621-B70B-163279B1D227}"/>
              </a:ext>
            </a:extLst>
          </p:cNvPr>
          <p:cNvSpPr txBox="1"/>
          <p:nvPr/>
        </p:nvSpPr>
        <p:spPr>
          <a:xfrm>
            <a:off x="5086350" y="742951"/>
            <a:ext cx="29432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Travel Cost Prediction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308AE7EB-DE7D-B633-0E65-066A8F3646DC}"/>
              </a:ext>
            </a:extLst>
          </p:cNvPr>
          <p:cNvSpPr txBox="1"/>
          <p:nvPr/>
        </p:nvSpPr>
        <p:spPr>
          <a:xfrm>
            <a:off x="8029575" y="742951"/>
            <a:ext cx="41624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D-VRP &amp; Coverage Optimization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8F66DEDC-0D92-9963-552F-DF7DF63847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Merging cells</a:t>
            </a:r>
            <a:endParaRPr lang="zh-CN" altLang="en-US" sz="2800" dirty="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1BE682CE-E231-2BE7-7D8A-F5433B82CC91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70E3781-23DC-62F6-8A99-48898242B528}"/>
                  </a:ext>
                </a:extLst>
              </p:cNvPr>
              <p:cNvSpPr txBox="1"/>
              <p:nvPr/>
            </p:nvSpPr>
            <p:spPr>
              <a:xfrm>
                <a:off x="2023629" y="2206251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𝐵𝑘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70E3781-23DC-62F6-8A99-48898242B5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3629" y="2206251"/>
                <a:ext cx="11857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E4ACD64-8A45-4E07-5595-3D395963315B}"/>
                  </a:ext>
                </a:extLst>
              </p:cNvPr>
              <p:cNvSpPr txBox="1"/>
              <p:nvPr/>
            </p:nvSpPr>
            <p:spPr>
              <a:xfrm>
                <a:off x="2011252" y="2652039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𝐶𝑘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E4ACD64-8A45-4E07-5595-3D39596331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1252" y="2652039"/>
                <a:ext cx="11857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8BB9418-35D6-AD71-000B-4144AADE7049}"/>
                  </a:ext>
                </a:extLst>
              </p:cNvPr>
              <p:cNvSpPr txBox="1"/>
              <p:nvPr/>
            </p:nvSpPr>
            <p:spPr>
              <a:xfrm>
                <a:off x="3988761" y="2466936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𝐸𝑘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8BB9418-35D6-AD71-000B-4144AADE7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8761" y="2466936"/>
                <a:ext cx="11857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4A3419F-07C6-F42F-865F-B8A58659B71B}"/>
              </a:ext>
            </a:extLst>
          </p:cNvPr>
          <p:cNvCxnSpPr>
            <a:cxnSpLocks/>
          </p:cNvCxnSpPr>
          <p:nvPr/>
        </p:nvCxnSpPr>
        <p:spPr>
          <a:xfrm>
            <a:off x="1727603" y="2104229"/>
            <a:ext cx="3921802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0F09577E-80C4-7EC2-603E-FC85104FF282}"/>
              </a:ext>
            </a:extLst>
          </p:cNvPr>
          <p:cNvCxnSpPr>
            <a:cxnSpLocks/>
          </p:cNvCxnSpPr>
          <p:nvPr/>
        </p:nvCxnSpPr>
        <p:spPr>
          <a:xfrm>
            <a:off x="1679657" y="3121789"/>
            <a:ext cx="3950012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4C579582-E2B7-2170-0EDD-E29A655CD163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209335" y="2390917"/>
            <a:ext cx="779426" cy="26068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F896A8F-ABE0-DD98-AAAD-8A0F1BA36C2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196958" y="2651602"/>
            <a:ext cx="791803" cy="18510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31AB113-70A7-ED02-1C75-CAC9E8E10F6E}"/>
                  </a:ext>
                </a:extLst>
              </p:cNvPr>
              <p:cNvSpPr txBox="1"/>
              <p:nvPr/>
            </p:nvSpPr>
            <p:spPr>
              <a:xfrm>
                <a:off x="3440367" y="2164099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31AB113-70A7-ED02-1C75-CAC9E8E10F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0367" y="2164099"/>
                <a:ext cx="538424" cy="381515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955AB97-DAB5-610E-5158-ED95A68CB5F7}"/>
                  </a:ext>
                </a:extLst>
              </p:cNvPr>
              <p:cNvSpPr txBox="1"/>
              <p:nvPr/>
            </p:nvSpPr>
            <p:spPr>
              <a:xfrm>
                <a:off x="3437960" y="2676582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955AB97-DAB5-610E-5158-ED95A68CB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960" y="2676582"/>
                <a:ext cx="538424" cy="381515"/>
              </a:xfrm>
              <a:prstGeom prst="rect">
                <a:avLst/>
              </a:prstGeom>
              <a:blipFill>
                <a:blip r:embed="rId6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AE69C13-1E9F-EAB2-74CA-CECB2D174ED9}"/>
                  </a:ext>
                </a:extLst>
              </p:cNvPr>
              <p:cNvSpPr txBox="1"/>
              <p:nvPr/>
            </p:nvSpPr>
            <p:spPr>
              <a:xfrm>
                <a:off x="7512926" y="1902234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AE69C13-1E9F-EAB2-74CA-CECB2D174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926" y="1902234"/>
                <a:ext cx="4126451" cy="63196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6F2206E-3AA7-F3D5-6877-E1C8745C4030}"/>
                  </a:ext>
                </a:extLst>
              </p:cNvPr>
              <p:cNvSpPr txBox="1"/>
              <p:nvPr/>
            </p:nvSpPr>
            <p:spPr>
              <a:xfrm>
                <a:off x="7500549" y="2550428"/>
                <a:ext cx="2626296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𝐵𝑘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6F2206E-3AA7-F3D5-6877-E1C8745C4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549" y="2550428"/>
                <a:ext cx="2626296" cy="6319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0517A4A-4122-4BB3-26CF-A10A3003D9E7}"/>
                  </a:ext>
                </a:extLst>
              </p:cNvPr>
              <p:cNvSpPr txBox="1"/>
              <p:nvPr/>
            </p:nvSpPr>
            <p:spPr>
              <a:xfrm>
                <a:off x="1380442" y="3710557"/>
                <a:ext cx="66677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i="1">
                    <a:latin typeface="Amasis MT Pro Medium" panose="02040604050005020304" pitchFamily="18" charset="0"/>
                  </a:rPr>
                  <a:t>I: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𝐸𝑘</m:t>
                        </m:r>
                      </m:sub>
                    </m:sSub>
                    <m:r>
                      <a:rPr lang="en-US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𝐵𝑘</m:t>
                        </m:r>
                      </m:sub>
                    </m:sSub>
                  </m:oMath>
                </a14:m>
                <a:r>
                  <a:rPr lang="en-US" altLang="zh-CN" i="1">
                    <a:latin typeface="Amasis MT Pro Medium" panose="02040604050005020304" pitchFamily="18" charset="0"/>
                  </a:rPr>
                  <a:t>+</a:t>
                </a:r>
                <a:r>
                  <a:rPr lang="en-US" altLang="zh-CN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i="1">
                    <a:latin typeface="Amasis MT Pro Medium" panose="02040604050005020304" pitchFamily="18" charset="0"/>
                  </a:rPr>
                  <a:t> </a:t>
                </a:r>
                <a:r>
                  <a:rPr lang="en-US" altLang="zh-CN">
                    <a:latin typeface="Amasis MT Pro Medium" panose="02040604050005020304" pitchFamily="18" charset="0"/>
                  </a:rPr>
                  <a:t>(no oversaturation) </a:t>
                </a:r>
                <a:endParaRPr lang="zh-CN" altLang="en-US" i="1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0517A4A-4122-4BB3-26CF-A10A3003D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42" y="3710557"/>
                <a:ext cx="6667763" cy="369332"/>
              </a:xfrm>
              <a:prstGeom prst="rect">
                <a:avLst/>
              </a:prstGeom>
              <a:blipFill>
                <a:blip r:embed="rId9"/>
                <a:stretch>
                  <a:fillRect l="-731" t="-11667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2077119-AFA0-F795-220C-75219302497F}"/>
                  </a:ext>
                </a:extLst>
              </p:cNvPr>
              <p:cNvSpPr txBox="1"/>
              <p:nvPr/>
            </p:nvSpPr>
            <p:spPr>
              <a:xfrm>
                <a:off x="1380441" y="4494883"/>
                <a:ext cx="66677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i="1">
                    <a:latin typeface="Amasis MT Pro Medium" panose="02040604050005020304" pitchFamily="18" charset="0"/>
                  </a:rPr>
                  <a:t>II: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𝐸𝑘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𝐵𝑘</m:t>
                        </m:r>
                      </m:sub>
                    </m:sSub>
                  </m:oMath>
                </a14:m>
                <a:r>
                  <a:rPr lang="en-US" altLang="zh-CN" i="1">
                    <a:latin typeface="Amasis MT Pro Medium" panose="02040604050005020304" pitchFamily="18" charset="0"/>
                  </a:rPr>
                  <a:t>+</a:t>
                </a:r>
                <a:r>
                  <a:rPr lang="en-US" altLang="zh-CN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i="1">
                    <a:latin typeface="Amasis MT Pro Medium" panose="02040604050005020304" pitchFamily="18" charset="0"/>
                  </a:rPr>
                  <a:t> </a:t>
                </a:r>
                <a:r>
                  <a:rPr lang="en-US" altLang="zh-CN">
                    <a:latin typeface="Amasis MT Pro Medium" panose="02040604050005020304" pitchFamily="18" charset="0"/>
                  </a:rPr>
                  <a:t>(downstream oversaturation) </a:t>
                </a:r>
                <a:endParaRPr lang="zh-CN" altLang="en-US" i="1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2077119-AFA0-F795-220C-752193024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41" y="4494883"/>
                <a:ext cx="6667763" cy="369332"/>
              </a:xfrm>
              <a:prstGeom prst="rect">
                <a:avLst/>
              </a:prstGeom>
              <a:blipFill>
                <a:blip r:embed="rId10"/>
                <a:stretch>
                  <a:fillRect l="-731" t="-9836" b="-22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85DE83A-87DA-4E30-BE9B-2058F11F4ED4}"/>
                  </a:ext>
                </a:extLst>
              </p:cNvPr>
              <p:cNvSpPr txBox="1"/>
              <p:nvPr/>
            </p:nvSpPr>
            <p:spPr>
              <a:xfrm>
                <a:off x="1880623" y="4072298"/>
                <a:ext cx="144696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85DE83A-87DA-4E30-BE9B-2058F11F4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623" y="4072298"/>
                <a:ext cx="1446963" cy="369332"/>
              </a:xfrm>
              <a:prstGeom prst="rect">
                <a:avLst/>
              </a:prstGeom>
              <a:blipFill>
                <a:blip r:embed="rId11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76F2B8C-E9C3-5098-A531-F3AEA267FB2C}"/>
                  </a:ext>
                </a:extLst>
              </p:cNvPr>
              <p:cNvSpPr txBox="1"/>
              <p:nvPr/>
            </p:nvSpPr>
            <p:spPr>
              <a:xfrm>
                <a:off x="3327586" y="4065109"/>
                <a:ext cx="144696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76F2B8C-E9C3-5098-A531-F3AEA267FB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7586" y="4065109"/>
                <a:ext cx="1446963" cy="369332"/>
              </a:xfrm>
              <a:prstGeom prst="rect">
                <a:avLst/>
              </a:prstGeom>
              <a:blipFill>
                <a:blip r:embed="rId1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14DE1B-15F3-5514-C076-B931E8ACD869}"/>
                  </a:ext>
                </a:extLst>
              </p:cNvPr>
              <p:cNvSpPr txBox="1"/>
              <p:nvPr/>
            </p:nvSpPr>
            <p:spPr>
              <a:xfrm>
                <a:off x="1898569" y="4937841"/>
                <a:ext cx="3939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𝑏𝑘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14DE1B-15F3-5514-C076-B931E8ACD8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569" y="4937841"/>
                <a:ext cx="3939000" cy="369332"/>
              </a:xfrm>
              <a:prstGeom prst="rect">
                <a:avLst/>
              </a:prstGeom>
              <a:blipFill>
                <a:blip r:embed="rId13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2E9E63-AEED-F13B-F46F-405DB03DA868}"/>
                  </a:ext>
                </a:extLst>
              </p:cNvPr>
              <p:cNvSpPr txBox="1"/>
              <p:nvPr/>
            </p:nvSpPr>
            <p:spPr>
              <a:xfrm>
                <a:off x="1910723" y="5393466"/>
                <a:ext cx="3939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𝑐𝑘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2E9E63-AEED-F13B-F46F-405DB03DA8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0723" y="5393466"/>
                <a:ext cx="3939000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870F151-D4C5-8C64-7F98-03157EC1F436}"/>
                  </a:ext>
                </a:extLst>
              </p:cNvPr>
              <p:cNvSpPr txBox="1"/>
              <p:nvPr/>
            </p:nvSpPr>
            <p:spPr>
              <a:xfrm>
                <a:off x="6450518" y="5155437"/>
                <a:ext cx="17886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𝑏𝑘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/>
                  <a:t> </a:t>
                </a: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870F151-D4C5-8C64-7F98-03157EC1F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0518" y="5155437"/>
                <a:ext cx="1788607" cy="369332"/>
              </a:xfrm>
              <a:prstGeom prst="rect">
                <a:avLst/>
              </a:prstGeom>
              <a:blipFill>
                <a:blip r:embed="rId1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FFACA939-6A6D-0135-C8C3-E2DD66E1B40F}"/>
                  </a:ext>
                </a:extLst>
              </p:cNvPr>
              <p:cNvSpPr txBox="1"/>
              <p:nvPr/>
            </p:nvSpPr>
            <p:spPr>
              <a:xfrm>
                <a:off x="7500549" y="3242856"/>
                <a:ext cx="2597121" cy="6324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FFACA939-6A6D-0135-C8C3-E2DD66E1B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549" y="3242856"/>
                <a:ext cx="2597121" cy="63248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185A0B25-5B5C-19E0-4F4D-FA435B9A8311}"/>
              </a:ext>
            </a:extLst>
          </p:cNvPr>
          <p:cNvCxnSpPr>
            <a:cxnSpLocks/>
          </p:cNvCxnSpPr>
          <p:nvPr/>
        </p:nvCxnSpPr>
        <p:spPr>
          <a:xfrm>
            <a:off x="1700178" y="2394111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1C1CEE69-2BFC-05F3-0BE6-9CC08B35296D}"/>
              </a:ext>
            </a:extLst>
          </p:cNvPr>
          <p:cNvCxnSpPr>
            <a:cxnSpLocks/>
          </p:cNvCxnSpPr>
          <p:nvPr/>
        </p:nvCxnSpPr>
        <p:spPr>
          <a:xfrm>
            <a:off x="1688512" y="2830125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5164AA78-A1C0-B407-3093-B51144C8D2B9}"/>
              </a:ext>
            </a:extLst>
          </p:cNvPr>
          <p:cNvCxnSpPr>
            <a:cxnSpLocks/>
          </p:cNvCxnSpPr>
          <p:nvPr/>
        </p:nvCxnSpPr>
        <p:spPr>
          <a:xfrm>
            <a:off x="5174467" y="2651602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9813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FA59F9-A18D-1D16-72A2-81300BB83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5C3159ED-D285-84F7-9178-F9410128B1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/>
              <a:t>Methodology</a:t>
            </a:r>
            <a:endParaRPr lang="zh-CN" altLang="en-US" dirty="0"/>
          </a:p>
        </p:txBody>
      </p:sp>
      <p:grpSp>
        <p:nvGrpSpPr>
          <p:cNvPr id="224" name="组合 223">
            <a:extLst>
              <a:ext uri="{FF2B5EF4-FFF2-40B4-BE49-F238E27FC236}">
                <a16:creationId xmlns:a16="http://schemas.microsoft.com/office/drawing/2014/main" id="{13018DB9-1D63-E8E4-BCC3-A0BAC99D6B91}"/>
              </a:ext>
            </a:extLst>
          </p:cNvPr>
          <p:cNvGrpSpPr/>
          <p:nvPr/>
        </p:nvGrpSpPr>
        <p:grpSpPr>
          <a:xfrm>
            <a:off x="-9525" y="742951"/>
            <a:ext cx="12201525" cy="400110"/>
            <a:chOff x="-9525" y="742951"/>
            <a:chExt cx="12201525" cy="400110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CF72D875-1061-4425-EA52-36BB6041927B}"/>
                </a:ext>
              </a:extLst>
            </p:cNvPr>
            <p:cNvSpPr txBox="1"/>
            <p:nvPr/>
          </p:nvSpPr>
          <p:spPr>
            <a:xfrm>
              <a:off x="-9525" y="742951"/>
              <a:ext cx="19145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Overview</a:t>
              </a:r>
              <a:endParaRPr lang="zh-CN" altLang="en-US" dirty="0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9A1C816E-3EFA-4B7C-E61C-1B3EB44360B9}"/>
                </a:ext>
              </a:extLst>
            </p:cNvPr>
            <p:cNvSpPr txBox="1"/>
            <p:nvPr/>
          </p:nvSpPr>
          <p:spPr>
            <a:xfrm>
              <a:off x="1905001" y="742951"/>
              <a:ext cx="3181349" cy="400110"/>
            </a:xfrm>
            <a:prstGeom prst="rect">
              <a:avLst/>
            </a:prstGeom>
            <a:solidFill>
              <a:srgbClr val="101010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solidFill>
                    <a:srgbClr val="AE976B"/>
                  </a:solidFill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Cell Transmission Model</a:t>
              </a:r>
              <a:endParaRPr lang="zh-CN" altLang="en-US" dirty="0"/>
            </a:p>
          </p:txBody>
        </p:sp>
        <p:sp>
          <p:nvSpPr>
            <p:cNvPr id="197" name="文本框 196">
              <a:extLst>
                <a:ext uri="{FF2B5EF4-FFF2-40B4-BE49-F238E27FC236}">
                  <a16:creationId xmlns:a16="http://schemas.microsoft.com/office/drawing/2014/main" id="{658E358B-AD29-FEA4-2F53-4358B75E14D8}"/>
                </a:ext>
              </a:extLst>
            </p:cNvPr>
            <p:cNvSpPr txBox="1"/>
            <p:nvPr/>
          </p:nvSpPr>
          <p:spPr>
            <a:xfrm>
              <a:off x="5086350" y="742951"/>
              <a:ext cx="29432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Travel Cost Prediction</a:t>
              </a:r>
              <a:endParaRPr lang="zh-CN" altLang="en-US" dirty="0"/>
            </a:p>
          </p:txBody>
        </p:sp>
        <p:sp>
          <p:nvSpPr>
            <p:cNvPr id="198" name="文本框 197">
              <a:extLst>
                <a:ext uri="{FF2B5EF4-FFF2-40B4-BE49-F238E27FC236}">
                  <a16:creationId xmlns:a16="http://schemas.microsoft.com/office/drawing/2014/main" id="{8CFA5E9E-F689-8A54-DD90-54EEF231BF61}"/>
                </a:ext>
              </a:extLst>
            </p:cNvPr>
            <p:cNvSpPr txBox="1"/>
            <p:nvPr/>
          </p:nvSpPr>
          <p:spPr>
            <a:xfrm>
              <a:off x="8029575" y="742951"/>
              <a:ext cx="41624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dirty="0">
                  <a:latin typeface="Amasis MT Pro Medium" panose="02040604050005020304" pitchFamily="18" charset="0"/>
                </a:rPr>
                <a:t>D-VRP &amp; Coverage Optimization</a:t>
              </a:r>
              <a:endParaRPr lang="zh-CN" altLang="en-US" sz="2000" dirty="0">
                <a:latin typeface="Amasis MT Pro Medium" panose="020406040500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50A2ED0-C43E-0592-D2DA-D6AD744542EC}"/>
                  </a:ext>
                </a:extLst>
              </p:cNvPr>
              <p:cNvSpPr txBox="1"/>
              <p:nvPr/>
            </p:nvSpPr>
            <p:spPr>
              <a:xfrm>
                <a:off x="2031873" y="2199089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smtClean="0">
                          <a:latin typeface="Cambria Math" panose="02040503050406030204" pitchFamily="18" charset="0"/>
                        </a:rPr>
                        <m:t>𝐵𝑘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50A2ED0-C43E-0592-D2DA-D6AD74454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873" y="2199089"/>
                <a:ext cx="11857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文本框 199">
                <a:extLst>
                  <a:ext uri="{FF2B5EF4-FFF2-40B4-BE49-F238E27FC236}">
                    <a16:creationId xmlns:a16="http://schemas.microsoft.com/office/drawing/2014/main" id="{70BDF298-49D7-00AF-78D8-6D6086FDEFA5}"/>
                  </a:ext>
                </a:extLst>
              </p:cNvPr>
              <p:cNvSpPr txBox="1"/>
              <p:nvPr/>
            </p:nvSpPr>
            <p:spPr>
              <a:xfrm>
                <a:off x="4158660" y="2459834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𝐸𝑘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0" name="文本框 199">
                <a:extLst>
                  <a:ext uri="{FF2B5EF4-FFF2-40B4-BE49-F238E27FC236}">
                    <a16:creationId xmlns:a16="http://schemas.microsoft.com/office/drawing/2014/main" id="{70BDF298-49D7-00AF-78D8-6D6086FDE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660" y="2459834"/>
                <a:ext cx="11857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F3FF0857-1A02-8D04-1290-0AA462634268}"/>
                  </a:ext>
                </a:extLst>
              </p:cNvPr>
              <p:cNvSpPr txBox="1"/>
              <p:nvPr/>
            </p:nvSpPr>
            <p:spPr>
              <a:xfrm>
                <a:off x="4165240" y="2026462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𝐶𝑘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F3FF0857-1A02-8D04-1290-0AA462634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5240" y="2026462"/>
                <a:ext cx="11857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3BFE1FBD-A78A-B45A-09EC-95EBB8D7A368}"/>
              </a:ext>
            </a:extLst>
          </p:cNvPr>
          <p:cNvCxnSpPr>
            <a:cxnSpLocks/>
          </p:cNvCxnSpPr>
          <p:nvPr/>
        </p:nvCxnSpPr>
        <p:spPr>
          <a:xfrm>
            <a:off x="1736914" y="1933033"/>
            <a:ext cx="3912671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6F46429B-07D4-D3DD-6E3E-C2F82D1C953F}"/>
              </a:ext>
            </a:extLst>
          </p:cNvPr>
          <p:cNvCxnSpPr>
            <a:cxnSpLocks/>
          </p:cNvCxnSpPr>
          <p:nvPr/>
        </p:nvCxnSpPr>
        <p:spPr>
          <a:xfrm>
            <a:off x="1736914" y="2897969"/>
            <a:ext cx="3919248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4" name="直接箭头连接符 203">
            <a:extLst>
              <a:ext uri="{FF2B5EF4-FFF2-40B4-BE49-F238E27FC236}">
                <a16:creationId xmlns:a16="http://schemas.microsoft.com/office/drawing/2014/main" id="{2B4B9090-2FDC-E2D6-1F64-87F1DA28C9CC}"/>
              </a:ext>
            </a:extLst>
          </p:cNvPr>
          <p:cNvCxnSpPr>
            <a:cxnSpLocks/>
            <a:stCxn id="199" idx="3"/>
            <a:endCxn id="201" idx="1"/>
          </p:cNvCxnSpPr>
          <p:nvPr/>
        </p:nvCxnSpPr>
        <p:spPr>
          <a:xfrm flipV="1">
            <a:off x="3217579" y="2211128"/>
            <a:ext cx="947661" cy="1726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直接箭头连接符 204">
            <a:extLst>
              <a:ext uri="{FF2B5EF4-FFF2-40B4-BE49-F238E27FC236}">
                <a16:creationId xmlns:a16="http://schemas.microsoft.com/office/drawing/2014/main" id="{75A14E33-2194-5BE8-2D82-79C718024F3C}"/>
              </a:ext>
            </a:extLst>
          </p:cNvPr>
          <p:cNvCxnSpPr>
            <a:cxnSpLocks/>
            <a:stCxn id="199" idx="3"/>
            <a:endCxn id="200" idx="1"/>
          </p:cNvCxnSpPr>
          <p:nvPr/>
        </p:nvCxnSpPr>
        <p:spPr>
          <a:xfrm>
            <a:off x="3217579" y="2383755"/>
            <a:ext cx="941081" cy="26074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311C3AAC-A7F1-CCA7-60B8-64D028DB964B}"/>
                  </a:ext>
                </a:extLst>
              </p:cNvPr>
              <p:cNvSpPr txBox="1"/>
              <p:nvPr/>
            </p:nvSpPr>
            <p:spPr>
              <a:xfrm>
                <a:off x="3383512" y="1933700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311C3AAC-A7F1-CCA7-60B8-64D028DB9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3512" y="1933700"/>
                <a:ext cx="538424" cy="381515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D4545D1A-31F1-5B0F-F37B-2AC262A9BD1A}"/>
                  </a:ext>
                </a:extLst>
              </p:cNvPr>
              <p:cNvSpPr txBox="1"/>
              <p:nvPr/>
            </p:nvSpPr>
            <p:spPr>
              <a:xfrm>
                <a:off x="3354792" y="2426447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D4545D1A-31F1-5B0F-F37B-2AC262A9B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4792" y="2426447"/>
                <a:ext cx="538424" cy="381515"/>
              </a:xfrm>
              <a:prstGeom prst="rect">
                <a:avLst/>
              </a:prstGeom>
              <a:blipFill>
                <a:blip r:embed="rId6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文本框 207">
                <a:extLst>
                  <a:ext uri="{FF2B5EF4-FFF2-40B4-BE49-F238E27FC236}">
                    <a16:creationId xmlns:a16="http://schemas.microsoft.com/office/drawing/2014/main" id="{46A5CE98-BD67-6416-D132-C9AF2F14DD2D}"/>
                  </a:ext>
                </a:extLst>
              </p:cNvPr>
              <p:cNvSpPr txBox="1"/>
              <p:nvPr/>
            </p:nvSpPr>
            <p:spPr>
              <a:xfrm>
                <a:off x="7108250" y="3020965"/>
                <a:ext cx="43431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08" name="文本框 207">
                <a:extLst>
                  <a:ext uri="{FF2B5EF4-FFF2-40B4-BE49-F238E27FC236}">
                    <a16:creationId xmlns:a16="http://schemas.microsoft.com/office/drawing/2014/main" id="{46A5CE98-BD67-6416-D132-C9AF2F14D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250" y="3020965"/>
                <a:ext cx="4343176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C3572BBD-DEE1-406E-6891-14D8669D9283}"/>
                  </a:ext>
                </a:extLst>
              </p:cNvPr>
              <p:cNvSpPr txBox="1"/>
              <p:nvPr/>
            </p:nvSpPr>
            <p:spPr>
              <a:xfrm>
                <a:off x="7481488" y="2542338"/>
                <a:ext cx="17886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𝑐𝑘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/>
                  <a:t> </a:t>
                </a:r>
              </a:p>
            </p:txBody>
          </p:sp>
        </mc:Choice>
        <mc:Fallback xmlns="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C3572BBD-DEE1-406E-6891-14D8669D9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488" y="2542338"/>
                <a:ext cx="1788607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文本框 209">
                <a:extLst>
                  <a:ext uri="{FF2B5EF4-FFF2-40B4-BE49-F238E27FC236}">
                    <a16:creationId xmlns:a16="http://schemas.microsoft.com/office/drawing/2014/main" id="{147AF0A1-C990-7E6E-F8AF-C41581080351}"/>
                  </a:ext>
                </a:extLst>
              </p:cNvPr>
              <p:cNvSpPr txBox="1"/>
              <p:nvPr/>
            </p:nvSpPr>
            <p:spPr>
              <a:xfrm>
                <a:off x="1648500" y="3212765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0" name="文本框 209">
                <a:extLst>
                  <a:ext uri="{FF2B5EF4-FFF2-40B4-BE49-F238E27FC236}">
                    <a16:creationId xmlns:a16="http://schemas.microsoft.com/office/drawing/2014/main" id="{147AF0A1-C990-7E6E-F8AF-C415810803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8500" y="3212765"/>
                <a:ext cx="4126451" cy="6319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95B5093A-F032-C817-C794-6017146DED2D}"/>
                  </a:ext>
                </a:extLst>
              </p:cNvPr>
              <p:cNvSpPr txBox="1"/>
              <p:nvPr/>
            </p:nvSpPr>
            <p:spPr>
              <a:xfrm>
                <a:off x="1635774" y="3878024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95B5093A-F032-C817-C794-6017146DE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4" y="3878024"/>
                <a:ext cx="4126451" cy="63196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文本框 211">
                <a:extLst>
                  <a:ext uri="{FF2B5EF4-FFF2-40B4-BE49-F238E27FC236}">
                    <a16:creationId xmlns:a16="http://schemas.microsoft.com/office/drawing/2014/main" id="{C8484D61-31BD-E2E8-E989-BB023C5A82E6}"/>
                  </a:ext>
                </a:extLst>
              </p:cNvPr>
              <p:cNvSpPr txBox="1"/>
              <p:nvPr/>
            </p:nvSpPr>
            <p:spPr>
              <a:xfrm>
                <a:off x="1646093" y="4559546"/>
                <a:ext cx="2626296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𝐵𝑘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2" name="文本框 211">
                <a:extLst>
                  <a:ext uri="{FF2B5EF4-FFF2-40B4-BE49-F238E27FC236}">
                    <a16:creationId xmlns:a16="http://schemas.microsoft.com/office/drawing/2014/main" id="{C8484D61-31BD-E2E8-E989-BB023C5A8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6093" y="4559546"/>
                <a:ext cx="2626296" cy="6319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DA253C73-0EDD-AA0C-C929-73A88EF1B9D7}"/>
                  </a:ext>
                </a:extLst>
              </p:cNvPr>
              <p:cNvSpPr txBox="1"/>
              <p:nvPr/>
            </p:nvSpPr>
            <p:spPr>
              <a:xfrm>
                <a:off x="6603823" y="1961108"/>
                <a:ext cx="4343176" cy="6833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𝐶𝑘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𝑐𝑘</m:t>
                              </m:r>
                            </m:sub>
                          </m:sSub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 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𝑒𝑘</m:t>
                              </m:r>
                            </m:sub>
                          </m:sSub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DA253C73-0EDD-AA0C-C929-73A88EF1B9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3823" y="1961108"/>
                <a:ext cx="4343176" cy="68339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652893BB-D9FC-D9A1-8FED-E6BCE9DBA306}"/>
              </a:ext>
            </a:extLst>
          </p:cNvPr>
          <p:cNvCxnSpPr>
            <a:cxnSpLocks/>
          </p:cNvCxnSpPr>
          <p:nvPr/>
        </p:nvCxnSpPr>
        <p:spPr>
          <a:xfrm>
            <a:off x="1736914" y="2383755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箭头连接符 214">
            <a:extLst>
              <a:ext uri="{FF2B5EF4-FFF2-40B4-BE49-F238E27FC236}">
                <a16:creationId xmlns:a16="http://schemas.microsoft.com/office/drawing/2014/main" id="{89E996DD-10E0-8E30-344F-079A9728F826}"/>
              </a:ext>
            </a:extLst>
          </p:cNvPr>
          <p:cNvCxnSpPr>
            <a:cxnSpLocks/>
            <a:stCxn id="201" idx="3"/>
          </p:cNvCxnSpPr>
          <p:nvPr/>
        </p:nvCxnSpPr>
        <p:spPr>
          <a:xfrm>
            <a:off x="5350946" y="2211128"/>
            <a:ext cx="30521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A41F2637-D2F2-2183-CD08-93540F5FA532}"/>
              </a:ext>
            </a:extLst>
          </p:cNvPr>
          <p:cNvCxnSpPr>
            <a:cxnSpLocks/>
            <a:stCxn id="200" idx="3"/>
          </p:cNvCxnSpPr>
          <p:nvPr/>
        </p:nvCxnSpPr>
        <p:spPr>
          <a:xfrm>
            <a:off x="5344366" y="2644500"/>
            <a:ext cx="30521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文本占位符 5">
            <a:extLst>
              <a:ext uri="{FF2B5EF4-FFF2-40B4-BE49-F238E27FC236}">
                <a16:creationId xmlns:a16="http://schemas.microsoft.com/office/drawing/2014/main" id="{853F43F2-4E6A-FBFD-C07F-B587F8A851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/>
              <a:t>Diverging cells</a:t>
            </a:r>
            <a:endParaRPr lang="zh-CN" altLang="en-US" sz="2800" dirty="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3AAD752F-F4AB-2C56-9F4F-9EA416F03FAF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617192B2-111B-7C2F-7918-360ADB3AA9FC}"/>
              </a:ext>
            </a:extLst>
          </p:cNvPr>
          <p:cNvSpPr txBox="1"/>
          <p:nvPr/>
        </p:nvSpPr>
        <p:spPr>
          <a:xfrm>
            <a:off x="7043161" y="1519526"/>
            <a:ext cx="3464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masis MT Pro Medium" panose="02040604050005020304" pitchFamily="18" charset="0"/>
              </a:rPr>
              <a:t>if Cell </a:t>
            </a:r>
            <a:r>
              <a:rPr lang="en-US" altLang="zh-CN" sz="1600" i="1" dirty="0">
                <a:latin typeface="Amasis MT Pro Medium" panose="02040604050005020304" pitchFamily="18" charset="0"/>
              </a:rPr>
              <a:t>Bk</a:t>
            </a:r>
            <a:r>
              <a:rPr lang="en-US" altLang="zh-CN" sz="1600" dirty="0">
                <a:latin typeface="Amasis MT Pro Medium" panose="02040604050005020304" pitchFamily="18" charset="0"/>
              </a:rPr>
              <a:t> is intersection cells</a:t>
            </a:r>
            <a:endParaRPr lang="zh-CN" altLang="en-US" sz="1600" dirty="0">
              <a:latin typeface="Amasis MT Pro Medium" panose="02040604050005020304" pitchFamily="18" charset="0"/>
            </a:endParaRPr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041463A6-C1AD-A67F-5449-4BD690FD561C}"/>
              </a:ext>
            </a:extLst>
          </p:cNvPr>
          <p:cNvSpPr txBox="1"/>
          <p:nvPr/>
        </p:nvSpPr>
        <p:spPr>
          <a:xfrm>
            <a:off x="7043161" y="3566707"/>
            <a:ext cx="3464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masis MT Pro Medium" panose="02040604050005020304" pitchFamily="18" charset="0"/>
              </a:rPr>
              <a:t>if Cell </a:t>
            </a:r>
            <a:r>
              <a:rPr lang="en-US" altLang="zh-CN" sz="1600" i="1" dirty="0">
                <a:latin typeface="Amasis MT Pro Medium" panose="02040604050005020304" pitchFamily="18" charset="0"/>
              </a:rPr>
              <a:t>Bk</a:t>
            </a:r>
            <a:r>
              <a:rPr lang="en-US" altLang="zh-CN" sz="1600" dirty="0">
                <a:latin typeface="Amasis MT Pro Medium" panose="02040604050005020304" pitchFamily="18" charset="0"/>
              </a:rPr>
              <a:t> is link-diverge cells</a:t>
            </a:r>
            <a:endParaRPr lang="zh-CN" altLang="en-US" sz="1600" dirty="0">
              <a:latin typeface="Amasis MT Pro Medium" panose="020406040500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A10C41E3-0503-B9CA-1919-4C6EFD973FEC}"/>
                  </a:ext>
                </a:extLst>
              </p:cNvPr>
              <p:cNvSpPr txBox="1"/>
              <p:nvPr/>
            </p:nvSpPr>
            <p:spPr>
              <a:xfrm>
                <a:off x="7481488" y="3961581"/>
                <a:ext cx="17528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A10C41E3-0503-B9CA-1919-4C6EFD973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488" y="3961581"/>
                <a:ext cx="1752818" cy="369332"/>
              </a:xfrm>
              <a:prstGeom prst="rect">
                <a:avLst/>
              </a:prstGeom>
              <a:blipFill>
                <a:blip r:embed="rId1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64987375-476F-C9D0-421A-A4B3AAAF9C9F}"/>
                  </a:ext>
                </a:extLst>
              </p:cNvPr>
              <p:cNvSpPr txBox="1"/>
              <p:nvPr/>
            </p:nvSpPr>
            <p:spPr>
              <a:xfrm>
                <a:off x="7452913" y="4343555"/>
                <a:ext cx="252112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64987375-476F-C9D0-421A-A4B3AAAF9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913" y="4343555"/>
                <a:ext cx="2521127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C600E031-8077-28BC-E78B-E033444A777C}"/>
                  </a:ext>
                </a:extLst>
              </p:cNvPr>
              <p:cNvSpPr txBox="1"/>
              <p:nvPr/>
            </p:nvSpPr>
            <p:spPr>
              <a:xfrm>
                <a:off x="7452913" y="4725529"/>
                <a:ext cx="252112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C600E031-8077-28BC-E78B-E033444A77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913" y="4725529"/>
                <a:ext cx="2521127" cy="369332"/>
              </a:xfrm>
              <a:prstGeom prst="rect">
                <a:avLst/>
              </a:prstGeom>
              <a:blipFill>
                <a:blip r:embed="rId15"/>
                <a:stretch>
                  <a:fillRect r="-242"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584359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>
            <a:extLst>
              <a:ext uri="{FF2B5EF4-FFF2-40B4-BE49-F238E27FC236}">
                <a16:creationId xmlns:a16="http://schemas.microsoft.com/office/drawing/2014/main" id="{699FD1E0-76BF-38A3-644C-49B54164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4513" y="3928334"/>
            <a:ext cx="5022974" cy="1325563"/>
          </a:xfrm>
        </p:spPr>
        <p:txBody>
          <a:bodyPr/>
          <a:lstStyle/>
          <a:p>
            <a:pPr algn="ctr"/>
            <a:r>
              <a:rPr lang="en-US" altLang="zh-CN" dirty="0"/>
              <a:t>Yilin Wang    August 2026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D7F7F688-FC67-756F-90B4-C9EB1E4DC3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918360" cy="622300"/>
          </a:xfrm>
        </p:spPr>
        <p:txBody>
          <a:bodyPr/>
          <a:lstStyle/>
          <a:p>
            <a:r>
              <a:rPr lang="en-US" altLang="zh-CN" dirty="0"/>
              <a:t>Learning to Route for Sensing Coverage</a:t>
            </a:r>
            <a:endParaRPr lang="zh-CN" alt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50483-5FBA-B800-AA30-C5212FB961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16363" y="1630363"/>
            <a:ext cx="4401372" cy="798512"/>
          </a:xfrm>
        </p:spPr>
        <p:txBody>
          <a:bodyPr/>
          <a:lstStyle/>
          <a:p>
            <a:r>
              <a:rPr lang="en-US" altLang="zh-CN" dirty="0"/>
              <a:t>A neural amortised solver for budget-constrained fleet routing — method and results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3773503-EC16-E6FE-706B-80EDCBE2D3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202608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E8968BF7-AB22-63D0-4E00-5C281CC45E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/>
            </a:pPr>
            <a:r>
              <a:t>• The problem and the network</a:t>
            </a:r>
          </a:p>
          <a:p>
            <a:pPr>
              <a:defRPr sz="1700" b="1"/>
            </a:pPr>
            <a:r>
              <a:t>• Change (a) — the Gurobi objective: what it is now, and why it changed</a:t>
            </a:r>
          </a:p>
          <a:p>
            <a:pPr>
              <a:defRPr sz="1700" b="1"/>
            </a:pPr>
            <a:r>
              <a:t>• Change (b) — the neural network: what was redesigned, and why</a:t>
            </a:r>
          </a:p>
          <a:p>
            <a:pPr>
              <a:defRPr sz="1700" b="0"/>
            </a:pPr>
            <a:r>
              <a:t>• Pipeline: offline label farm  →  supervised training  →  millisecond inference</a:t>
            </a:r>
          </a:p>
          <a:p>
            <a:pPr>
              <a:defRPr sz="1700" b="0"/>
            </a:pPr>
            <a:r>
              <a:t>• Evaluation design and results (3 seeds, 2 300 held-out cases)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Definition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463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• One case (an 'operating day'): congestion δ ∈ {0,1}⁸⁰ per directed link · V vehicles · per-vehicle task (origin gate o, destination gate d, departure t₀, budget B)</a:t>
            </a:r>
          </a:p>
          <a:p>
            <a:pPr>
              <a:defRPr sz="1400" b="0"/>
            </a:pPr>
            <a:r>
              <a:t>• Vehicles run SIMULTANEOUSLY on one timeline. Entering link i at time t occupies space–time cells (i, t … t+c−1), with travel time c(i,t) = (base(i)+t)//4 + 1 + δᵢ</a:t>
            </a:r>
          </a:p>
          <a:p>
            <a:pPr>
              <a:defRPr sz="1400" b="1"/>
            </a:pPr>
            <a:r>
              <a:t>• Objective — maximise sensing coverage, pay for travel, respect each vehicle's budget:</a:t>
            </a:r>
          </a:p>
          <a:p>
            <a:pPr>
              <a:defRPr sz="1400" b="1"/>
            </a:pPr>
            <a:r>
              <a:t>        min  [ α₁·Σ cost  −  α₂·Σ y(i,τ) ] / Σᵥ Bᵥ        s.t.  vehicle v reaches dᵥ by t₀ᵥ + Bᵥ</a:t>
            </a:r>
          </a:p>
          <a:p>
            <a:pPr>
              <a:defRPr sz="1250" b="0"/>
            </a:pPr>
            <a:r>
              <a:t>   – coverage = |union of occupied (link, time) cells| — overlap counts once</a:t>
            </a:r>
          </a:p>
          <a:p>
            <a:pPr>
              <a:defRPr sz="1250" b="0"/>
            </a:pPr>
            <a:r>
              <a:t>   – Bᵥ = the vehicle's shift length / remaining energy;  α = 0.3 / 0.7</a:t>
            </a:r>
          </a:p>
          <a:p>
            <a:pPr>
              <a:defRPr sz="1400" b="1"/>
            </a:pPr>
            <a:r>
              <a:t>• Taxonomy: budget-constrained, selective, max-utility fleet routing = TEAM-ORIENTEERING type — not a visit-all min-cost CVRP</a:t>
            </a:r>
          </a:p>
          <a:p>
            <a:pPr>
              <a:defRPr sz="1400" b="0"/>
            </a:pPr>
            <a:r>
              <a:t>• Gurobi solves it exactly (multi-commodity time-expanded flow) and is the source of training labels AND the benchmark; the learned model replaces per-case solving at deployment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Network &amp; instances</a:t>
            </a:r>
            <a:endParaRPr lang="zh-CN" altLang="en-US" sz="2800" dirty="0"/>
          </a:p>
        </p:txBody>
      </p:sp>
      <p:pic>
        <p:nvPicPr>
          <p:cNvPr id="204" name="Picture 203" descr="fig0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371600"/>
            <a:ext cx="8595360" cy="4072892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35931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Fixed bidirectional 4×4: 80 directed links, no U-turns · 8 gates (4 corners + 4 edge midpoints) · all 56 ordered OD pairs feasible (heatmap) · horizon H = 338</a:t>
            </a:r>
          </a:p>
          <a:p>
            <a:pPr>
              <a:defRPr sz="1250" b="1"/>
            </a:pPr>
            <a:r>
              <a:t>• The network and the OD set are FIXED; what varies per case is δ, V, and each vehicle's (o, d, t₀, B)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Why the weight had to go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• The previous objective controlled the cost/coverage trade-off with the weight α₂ and capped every vehicle at the global horizon H:   min [ α₁·Σcost − α₂·Σy ] / (V·H)</a:t>
            </a:r>
          </a:p>
          <a:p>
            <a:pPr>
              <a:defRPr sz="1400" b="0"/>
            </a:pPr>
            <a:r>
              <a:t>• Both terms were correctly normalised — verified in (0,1] before α, max exactly 1.000 across the whole label set. Scaling was NOT the problem</a:t>
            </a:r>
          </a:p>
          <a:p>
            <a:pPr>
              <a:defRPr sz="1400" b="1"/>
            </a:pPr>
            <a:r>
              <a:t>• The problem is structural. One extra step through a fresh cell costs ΔC = 1 and buys ΔK ≤ 1, so the two terms are marginally 1:1 coupled:</a:t>
            </a:r>
          </a:p>
          <a:p>
            <a:pPr>
              <a:defRPr sz="1400" b="1"/>
            </a:pPr>
            <a:r>
              <a:t>        Δobj = (α₁ − α₂) / (V·H)        →  the sign flips at α₂/α₁ = 1, independent of any normaliser</a:t>
            </a:r>
          </a:p>
          <a:p>
            <a:pPr>
              <a:defRPr sz="1400" b="0"/>
            </a:pPr>
            <a:r>
              <a:t>• α₂ &gt; α₁ ⇒ EVERY detour is profitable ⇒ the optimum roams until the horizon stops it. α₂ &lt; α₁ ⇒ no detour is ever bought (coverage survives only as a tie-break)</a:t>
            </a:r>
          </a:p>
          <a:p>
            <a:pPr>
              <a:defRPr sz="1400" b="1"/>
            </a:pPr>
            <a:r>
              <a:t>• So the quantity that actually limited coverage was the HORIZON, not α. α selected one of two regimes; it could not set a position between them</a:t>
            </a:r>
          </a:p>
          <a:p>
            <a:pPr>
              <a:defRPr sz="1400" b="0"/>
            </a:pPr>
            <a:r>
              <a:t>• That matters for learning: conditioning a neural solver on α would teach it a switch, not a continuous semantics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Switch vs dial — measured</a:t>
            </a:r>
            <a:endParaRPr lang="zh-CN" altLang="en-US" sz="2800" dirty="0"/>
          </a:p>
        </p:txBody>
      </p:sp>
      <p:pic>
        <p:nvPicPr>
          <p:cNvPr id="204" name="Picture 203" descr="figS1_knob_vs_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4060090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23129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One fixed instance, one MILP, one solver, MIPGap 0.5 %. LEFT: 13 values of α₂ with the budget fixed at H → 2 distinct solutions (α₂ = 0.10–0.48 identical link-for-link). RIGHT: α frozen at 0.3/0.7, per-vehicle budget swept → 10 distinct, monotone solutions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The per-vehicle budget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463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The control moves from a preference weight to a PHYSICAL constraint: each vehicle carries its own budget Bᵥ (shift length / remaining energy) and a hard deadline t₀ᵥ + Bᵥ</a:t>
            </a:r>
          </a:p>
          <a:p>
            <a:pPr>
              <a:defRPr sz="1350" b="0"/>
            </a:pPr>
            <a:r>
              <a:t>• Parameterised as a SLACK RATIO:  Bᵥ = ⌈ρᵥ · τᵐⁱⁿ(oᵥ, dᵥ, t₀ᵥ)⌉, where τᵐⁱⁿ is the earliest possible arrival. An absolute budget is not comparable across ODs — vacuous for near pairs, infeasible for far ones; ρ is comparable, and ρ is what the model is conditioned on</a:t>
            </a:r>
          </a:p>
          <a:p>
            <a:pPr>
              <a:defRPr sz="1350" b="0"/>
            </a:pPr>
            <a:r>
              <a:t>• Normaliser V·H → Σᵥ Bᵥ, the fleet's actually available driving time. The chain cov ≤ cost ≤ Σᵥ Bᵥ still holds, so both terms remain in (0,1] before α</a:t>
            </a:r>
          </a:p>
          <a:p>
            <a:pPr>
              <a:defRPr sz="1350" b="0"/>
            </a:pPr>
            <a:r>
              <a:t>• MILP changes: commodity key (o,d,t₀) → (o,d,t₀,B); the time-expanded DAG is pruned at min(H, t₀+B); the coverage grid stays on [0,H). Every solve asserts flow-decomposed objective ≡ Gurobi ObjVal and re-validates each deadline</a:t>
            </a:r>
          </a:p>
          <a:p>
            <a:pPr>
              <a:defRPr sz="1350" b="1"/>
            </a:pPr>
            <a:r>
              <a:t>• Verified: at Bᵥ ≥ H the budget MILP returns the full-horizon solution link-for-link — a strict generalisation, not a different problem</a:t>
            </a:r>
          </a:p>
          <a:p>
            <a:pPr>
              <a:defRPr sz="1350" b="0"/>
            </a:pPr>
            <a:r>
              <a:t>• Side effect worth having: tight budgets prune the DAG, so labelling runs ~30× faster (0.90 s mean per case) — which is what makes the label set below affordable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Method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Pipeline</a:t>
            </a:r>
            <a:endParaRPr lang="zh-CN" altLang="en-US" sz="2800" dirty="0"/>
          </a:p>
        </p:txBody>
      </p:sp>
      <p:pic>
        <p:nvPicPr>
          <p:cNvPr id="204" name="Picture 203" descr="figM1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417320"/>
            <a:ext cx="9601200" cy="4047995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5675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Gurobi is the only source of solutions and the only benchmark; it runs OFFLINE. At deployment the model emits a full fleet plan in 6–9 ms with no solver call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Architecture</a:t>
            </a:r>
            <a:endParaRPr lang="zh-CN" altLang="en-US" sz="2800" dirty="0"/>
          </a:p>
        </p:txBody>
      </p:sp>
      <p:pic>
        <p:nvPicPr>
          <p:cNvPr id="204" name="Picture 203" descr="figM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887" y="1353312"/>
            <a:ext cx="8503920" cy="4050742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49549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Encoder runs once per case; the decoder writes the WHOLE fleet as one token sequence, so later vehicles attend to the routes already committed by earlier ones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What changed, and why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/>
            </a:pPr>
            <a:r>
              <a:t>• Starting point: the network and the OD set are fixed, so the original model could bake the instance into its weights — one configuration, one trained model</a:t>
            </a:r>
          </a:p>
          <a:p>
            <a:pPr>
              <a:defRPr sz="1300" b="1"/>
            </a:pPr>
            <a:r>
              <a:t>• ① Instance attributes moved OUT of the weights and INTO the input.</a:t>
            </a:r>
          </a:p>
          <a:p>
            <a:pPr>
              <a:defRPr sz="1150" b="0"/>
            </a:pPr>
            <a:r>
              <a:t>   – task token = Emb_o(o) + Emb_d(d) + Proj(t₀) + Proj([ρᵥ, Bᵥ/H]) — one token per vehicle, V tokens appended to the 80 link tokens</a:t>
            </a:r>
          </a:p>
          <a:p>
            <a:pPr>
              <a:defRPr sz="1150" b="0"/>
            </a:pPr>
            <a:r>
              <a:t>   – Why: a single model then serves every OD pair, fleet size, departure time and budget, and the encoder can reason about the fleet jointly. This is the attribute-conditioning recipe the routing foundation models use (RouteFinder / MTPOMO); our budget plays the role their capacity plays</a:t>
            </a:r>
          </a:p>
          <a:p>
            <a:pPr>
              <a:defRPr sz="1300" b="1"/>
            </a:pPr>
            <a:r>
              <a:t>• ② The feasibility mask threshold became the vehicle's OWN deadline.</a:t>
            </a:r>
          </a:p>
          <a:p>
            <a:pPr>
              <a:defRPr sz="1150" b="0"/>
            </a:pPr>
            <a:r>
              <a:t>   – logits[illegal] = −∞ before softmax, with illegal = {not a successor / U-turn, cannot reach own destination within t₀+B (time-dependent Dijkstra query), SEP not adjacent to own gate}</a:t>
            </a:r>
          </a:p>
          <a:p>
            <a:pPr>
              <a:defRPr sz="1150" b="0"/>
            </a:pPr>
            <a:r>
              <a:t>   – Why this is the important one: the budget gets a HARD mechanical channel into decoding instead of only a soft preference implied by the labels. Feasibility is therefore enforced, not learned — and a budget value never seen in training still produces a feasible route</a:t>
            </a:r>
          </a:p>
          <a:p>
            <a:pPr>
              <a:defRPr sz="1300" b="0"/>
            </a:pPr>
            <a:r>
              <a:t>• The mask has no parameters: rules guarantee feasibility, the network only ranks legal moves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Method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Label farm &amp; training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463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0"/>
            </a:pPr>
            <a:r>
              <a:t>• Label farm (parallel, resumable):  δ ~ iid{0,1}⁸⁰ · V ∈ {2,3,4,6} · ODs stratified by difficulty tercile with 4 pairs held out · t₀ ∈ {0..5} · per-vehicle ρ</a:t>
            </a:r>
          </a:p>
          <a:p>
            <a:pPr>
              <a:defRPr sz="1200" b="0"/>
            </a:pPr>
            <a:r>
              <a:t>   – ρ anchors seen in training: {1.0, 1.5, 2.0, 3.0}. HELD OUT: {1.25, 1.75} and {4.0}</a:t>
            </a:r>
          </a:p>
          <a:p>
            <a:pPr>
              <a:defRPr sz="1200" b="0"/>
            </a:pPr>
            <a:r>
              <a:t>   – 65 % of fleets heterogeneous (each vehicle its own ρ), 35 % homogeneous</a:t>
            </a:r>
          </a:p>
          <a:p>
            <a:pPr>
              <a:defRPr sz="1350" b="1"/>
            </a:pPr>
            <a:r>
              <a:t>• 10 780 labels · 0 errors · 0 solves hit the 60 s cap · 0.90 s mean · ~17 min on 15 workers</a:t>
            </a:r>
          </a:p>
          <a:p>
            <a:pPr>
              <a:defRPr sz="1200" b="0"/>
            </a:pPr>
            <a:r>
              <a:t>   – 8 000 train · 800 same-distribution test · 400 OD zero-shot · 400 fleet extrapolation · 400 + 300 unseen-budget · 60 instances × 8 ρ for the response curve</a:t>
            </a:r>
          </a:p>
          <a:p>
            <a:pPr>
              <a:defRPr sz="1350" b="1"/>
            </a:pPr>
            <a:r>
              <a:t>• Training: teacher forcing, next-link cross-entropy (PAD ignored), AdamW, batch 32, 60 epochs. No solver and no generation inside the training loop</a:t>
            </a:r>
          </a:p>
          <a:p>
            <a:pPr>
              <a:defRPr sz="1350" b="1"/>
            </a:pPr>
            <a:r>
              <a:t>• Model selection is NOT on cross-entropy: every epoch runs masked-greedy decoding on a validation slice and keeps the checkpoint with the best true objective gap</a:t>
            </a:r>
          </a:p>
          <a:p>
            <a:pPr>
              <a:defRPr sz="1350" b="0"/>
            </a:pPr>
            <a:r>
              <a:t>• 1.04 M parameters · ~4 min per seed on one RTX 3090 · 3 seeds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Evaluation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Design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087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Five layers, 2 300 cases, none of them seen in training:</a:t>
            </a:r>
          </a:p>
          <a:p>
            <a:pPr>
              <a:defRPr sz="1200" b="0"/>
            </a:pPr>
            <a:r>
              <a:t>   – L1 same-distribution — 800 fresh cases (trained ODs, new δ / task mixes)</a:t>
            </a:r>
          </a:p>
          <a:p>
            <a:pPr>
              <a:defRPr sz="1200" b="0"/>
            </a:pPr>
            <a:r>
              <a:t>   – L2 OD ZERO-SHOT — 400 cases on 4 OD pairs never trained (G1→G5, G6→G2, G4→G8, G7→G3)</a:t>
            </a:r>
          </a:p>
          <a:p>
            <a:pPr>
              <a:defRPr sz="1200" b="0"/>
            </a:pPr>
            <a:r>
              <a:t>   – L3 fleet extrapolation — 400 cases with V ∈ {5, 8}, trained on {2,3,4,6}</a:t>
            </a:r>
          </a:p>
          <a:p>
            <a:pPr>
              <a:defRPr sz="1200" b="0"/>
            </a:pPr>
            <a:r>
              <a:t>   – L4a UNSEEN budget, interpolation — 400 cases at ρ ∈ {1.25, 1.75}</a:t>
            </a:r>
          </a:p>
          <a:p>
            <a:pPr>
              <a:defRPr sz="1200" b="0"/>
            </a:pPr>
            <a:r>
              <a:t>   – L4b UNSEEN budget, extrapolation — 300 cases at ρ = 4.0, beyond the trained range</a:t>
            </a:r>
          </a:p>
          <a:p>
            <a:pPr>
              <a:defRPr sz="1350" b="1"/>
            </a:pPr>
            <a:r>
              <a:t>• Plus a RESPONSE CURVE: 60 fixed instances re-solved at every ρ by both Gurobi and the model — the test of whether the budget was learned as a continuous quantity or as a handful of memorised settings</a:t>
            </a:r>
          </a:p>
          <a:p>
            <a:pPr>
              <a:defRPr sz="1350" b="0"/>
            </a:pPr>
            <a:r>
              <a:t>• Metrics: feasibility rate · objective gap vs Gurobi (absolute and relative) · fraction matching or beating Gurobi · inference time · per-case CSV. 3 seeds, mean ± std</a:t>
            </a:r>
          </a:p>
          <a:p>
            <a:pPr>
              <a:defRPr sz="1350" b="0"/>
            </a:pPr>
            <a:r>
              <a:t>• Tuning used a validation slice of the training shard only; every number below comes from held-out shards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Results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Five-layer exam</a:t>
            </a:r>
            <a:endParaRPr lang="zh-CN" altLang="en-US" sz="2800" dirty="0"/>
          </a:p>
        </p:txBody>
      </p:sp>
      <p:pic>
        <p:nvPicPr>
          <p:cNvPr id="204" name="Picture 203" descr="figS3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371600"/>
            <a:ext cx="8595360" cy="4052617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15656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3 seeds × 60 epochs · 2 300 held-out cases, 100 % feasible in every layer · 6–9 ms per case · 274/800 of L1 match or beat Gurobi</a:t>
            </a:r>
          </a:p>
          <a:p>
            <a:pPr>
              <a:defRPr sz="1250" b="1"/>
            </a:pPr>
            <a:r>
              <a:t>• Unseen budgets (L4a, orange) cost about as much accuracy as an unseen fleet size — the budget generalises like the other conditioned attributes, not worse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Results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Budget response curve</a:t>
            </a:r>
            <a:endParaRPr lang="zh-CN" altLang="en-US" sz="2800" dirty="0"/>
          </a:p>
        </p:txBody>
      </p:sp>
      <p:pic>
        <p:nvPicPr>
          <p:cNvPr id="204" name="Picture 203" descr="figS2_respons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1371600"/>
            <a:ext cx="8229600" cy="4053969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1700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/>
            </a:pPr>
            <a:r>
              <a:t>• The monotone budget response is reproduced across the whole range, including at ρ = 1.25 / 1.75 / 4.0 — values absent from every training label. At ρ = 1 the budget forces the min-time route and the model is EXACTLY optimal (60/60); the undershoot grows with slack (ρ = 4: 514 vs 708 cells), which is the limit of greedy decoding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Summary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Where this stands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54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• One recipe, verified end to end: Gurobi labels offline → 1.04 M-parameter Transformer → guaranteed-feasible millisecond inference, conditioned on each vehicle's own budget</a:t>
            </a:r>
          </a:p>
          <a:p>
            <a:pPr>
              <a:defRPr sz="1400" b="0"/>
            </a:pPr>
            <a:r>
              <a:t>• The control variable is now physical (shift length / energy), continuous, and demonstrably generalises to budgets never trained on</a:t>
            </a:r>
          </a:p>
          <a:p>
            <a:pPr>
              <a:defRPr sz="1400" b="0"/>
            </a:pPr>
            <a:r>
              <a:t>• Verification chain at every step: MILP ≡ flow decomposition ≡ simulator · budget MILP ≡ the full-horizon MILP at B ≥ H · per-case CSVs against Gurobi on every held-out layer</a:t>
            </a:r>
          </a:p>
          <a:p>
            <a:pPr>
              <a:defRPr sz="1400" b="0"/>
            </a:pPr>
            <a:r>
              <a:t>• Known and deliberately open: with uniform cell utility, overlap = 0 in ~92 % of optimal solutions, so coverage ≈ cost. The budget controls HOW MUCH to roam; making WHICH cells a real decision needs heterogeneous utility wᵢ — the next modelling step, not a fix</a:t>
            </a:r>
          </a:p>
          <a:p>
            <a:pPr>
              <a:defRPr sz="1400" b="1"/>
            </a:pPr>
            <a:r>
              <a:t>• Next levers, in order: multi-sample (non-greedy) decoding · wider ρ range for extrapolation · data-volume slope · heterogeneous wᵢ · then the 5×5 real 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4053</TotalTime>
  <Words>664</Words>
  <Application>Microsoft Office PowerPoint</Application>
  <PresentationFormat>Widescreen</PresentationFormat>
  <Paragraphs>133</Paragraphs>
  <Slides>10</Slides>
  <Notes>1</Notes>
  <HiddenSlides>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等线</vt:lpstr>
      <vt:lpstr>Amasis MT Pro</vt:lpstr>
      <vt:lpstr>Amasis MT Pro Medium</vt:lpstr>
      <vt:lpstr>Arial</vt:lpstr>
      <vt:lpstr>Cambria Math</vt:lpstr>
      <vt:lpstr>Times New Roman</vt:lpstr>
      <vt:lpstr>Wingdings</vt:lpstr>
      <vt:lpstr>PU</vt:lpstr>
      <vt:lpstr>Yilin Wang  Dec.12nd 2025</vt:lpstr>
      <vt:lpstr>PowerPoint Presentation</vt:lpstr>
      <vt:lpstr>PowerPoint Presentation</vt:lpstr>
      <vt:lpstr>PowerPoint Presentation</vt:lpstr>
      <vt:lpstr>Yilin Wang: wang4517@purdue.edu Yiheng Feng*: feng333@purdue.edu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Yilin Wang  Nov.4th 2025</dc:title>
  <dc:creator>Yilin Wang</dc:creator>
  <cp:lastModifiedBy>Yilin Wang</cp:lastModifiedBy>
  <cp:revision>59</cp:revision>
  <dcterms:created xsi:type="dcterms:W3CDTF">2025-11-01T23:58:16Z</dcterms:created>
  <dcterms:modified xsi:type="dcterms:W3CDTF">2026-08-02T19:39:51Z</dcterms:modified>
</cp:coreProperties>
</file>