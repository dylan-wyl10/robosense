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6" r:id="rId30"/>
    <p:sldId id="337" r:id="rId31"/>
    <p:sldId id="338" r:id="rId32"/>
    <p:sldId id="339" r:id="rId33"/>
    <p:sldId id="340" r:id="rId34"/>
    <p:sldId id="341" r:id="rId35"/>
    <p:sldId id="342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E976B"/>
    <a:srgbClr val="CCD2D8"/>
    <a:srgbClr val="E7EAED"/>
    <a:srgbClr val="101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78715" autoAdjust="0"/>
  </p:normalViewPr>
  <p:slideViewPr>
    <p:cSldViewPr snapToGrid="0">
      <p:cViewPr varScale="1">
        <p:scale>
          <a:sx n="95" d="100"/>
          <a:sy n="95" d="100"/>
        </p:scale>
        <p:origin x="1517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lin Wang" userId="S::wang4517@purdue.edu::06abc78b-9058-4e15-afda-57e086dc17fc" providerId="AD" clId="Web-{0D53C210-D543-EEF5-D373-561EF8F735D5}"/>
    <pc:docChg chg="addSld delSld modSld">
      <pc:chgData name="Yilin Wang" userId="S::wang4517@purdue.edu::06abc78b-9058-4e15-afda-57e086dc17fc" providerId="AD" clId="Web-{0D53C210-D543-EEF5-D373-561EF8F735D5}" dt="2026-07-28T15:13:34.751" v="25" actId="14100"/>
      <pc:docMkLst>
        <pc:docMk/>
      </pc:docMkLst>
      <pc:sldChg chg="addSp delSp modSp add replId delAnim">
        <pc:chgData name="Yilin Wang" userId="S::wang4517@purdue.edu::06abc78b-9058-4e15-afda-57e086dc17fc" providerId="AD" clId="Web-{0D53C210-D543-EEF5-D373-561EF8F735D5}" dt="2026-07-28T15:13:34.751" v="25" actId="14100"/>
        <pc:sldMkLst>
          <pc:docMk/>
          <pc:sldMk cId="2831382767" sldId="324"/>
        </pc:sldMkLst>
        <pc:spChg chg="add mod">
          <ac:chgData name="Yilin Wang" userId="S::wang4517@purdue.edu::06abc78b-9058-4e15-afda-57e086dc17fc" providerId="AD" clId="Web-{0D53C210-D543-EEF5-D373-561EF8F735D5}" dt="2026-07-28T14:51:11.727" v="9"/>
          <ac:spMkLst>
            <pc:docMk/>
            <pc:sldMk cId="2831382767" sldId="324"/>
            <ac:spMk id="4" creationId="{A1BF681D-B533-1EEC-0B34-7B5963391A20}"/>
          </ac:spMkLst>
        </pc:spChg>
        <pc:spChg chg="add mod">
          <ac:chgData name="Yilin Wang" userId="S::wang4517@purdue.edu::06abc78b-9058-4e15-afda-57e086dc17fc" providerId="AD" clId="Web-{0D53C210-D543-EEF5-D373-561EF8F735D5}" dt="2026-07-28T14:51:19.852" v="15" actId="20577"/>
          <ac:spMkLst>
            <pc:docMk/>
            <pc:sldMk cId="2831382767" sldId="324"/>
            <ac:spMk id="9" creationId="{6460684C-5514-A7FE-301A-0735D9BC5FF8}"/>
          </ac:spMkLst>
        </pc:spChg>
        <pc:picChg chg="add mod">
          <ac:chgData name="Yilin Wang" userId="S::wang4517@purdue.edu::06abc78b-9058-4e15-afda-57e086dc17fc" providerId="AD" clId="Web-{0D53C210-D543-EEF5-D373-561EF8F735D5}" dt="2026-07-28T15:13:34.751" v="25" actId="14100"/>
          <ac:picMkLst>
            <pc:docMk/>
            <pc:sldMk cId="2831382767" sldId="324"/>
            <ac:picMk id="10" creationId="{6ADF9D61-5DD0-EC04-A9E0-2B0BA3B782AC}"/>
          </ac:picMkLst>
        </pc:picChg>
      </pc:sldChg>
    </pc:docChg>
  </pc:docChgLst>
  <pc:docChgLst>
    <pc:chgData name="Yilin Wang" userId="06abc78b-9058-4e15-afda-57e086dc17fc" providerId="ADAL" clId="{82DDD170-D4B5-46ED-803B-C300EEBF3622}"/>
    <pc:docChg chg="undo custSel addSld delSld modSld">
      <pc:chgData name="Yilin Wang" userId="06abc78b-9058-4e15-afda-57e086dc17fc" providerId="ADAL" clId="{82DDD170-D4B5-46ED-803B-C300EEBF3622}" dt="2026-08-02T19:39:47.362" v="790" actId="47"/>
      <pc:docMkLst>
        <pc:docMk/>
      </pc:docMkLst>
      <pc:sldChg chg="addSp delSp modSp mod">
        <pc:chgData name="Yilin Wang" userId="06abc78b-9058-4e15-afda-57e086dc17fc" providerId="ADAL" clId="{82DDD170-D4B5-46ED-803B-C300EEBF3622}" dt="2026-07-13T22:44:02.209" v="27" actId="14100"/>
        <pc:sldMkLst>
          <pc:docMk/>
          <pc:sldMk cId="3471812488" sldId="256"/>
        </pc:sldMkLst>
        <pc:spChg chg="add mod">
          <ac:chgData name="Yilin Wang" userId="06abc78b-9058-4e15-afda-57e086dc17fc" providerId="ADAL" clId="{82DDD170-D4B5-46ED-803B-C300EEBF3622}" dt="2026-07-13T22:44:02.209" v="27" actId="14100"/>
          <ac:spMkLst>
            <pc:docMk/>
            <pc:sldMk cId="3471812488" sldId="256"/>
            <ac:spMk id="5" creationId="{EFA50483-5FBA-B800-AA30-C5212FB961E8}"/>
          </ac:spMkLst>
        </pc:spChg>
      </pc:sldChg>
      <pc:sldChg chg="addSp delSp modSp mod chgLayout">
        <pc:chgData name="Yilin Wang" userId="06abc78b-9058-4e15-afda-57e086dc17fc" providerId="ADAL" clId="{82DDD170-D4B5-46ED-803B-C300EEBF3622}" dt="2026-07-13T22:44:46.856" v="68" actId="6264"/>
        <pc:sldMkLst>
          <pc:docMk/>
          <pc:sldMk cId="2224584359" sldId="268"/>
        </pc:sldMkLst>
        <pc:spChg chg="mod ord">
          <ac:chgData name="Yilin Wang" userId="06abc78b-9058-4e15-afda-57e086dc17fc" providerId="ADAL" clId="{82DDD170-D4B5-46ED-803B-C300EEBF3622}" dt="2026-07-13T22:44:46.856" v="68" actId="6264"/>
          <ac:spMkLst>
            <pc:docMk/>
            <pc:sldMk cId="2224584359" sldId="268"/>
            <ac:spMk id="7" creationId="{5C3159ED-D285-84F7-9178-F9410128B151}"/>
          </ac:spMkLst>
        </pc:spChg>
        <pc:spChg chg="mod ord">
          <ac:chgData name="Yilin Wang" userId="06abc78b-9058-4e15-afda-57e086dc17fc" providerId="ADAL" clId="{82DDD170-D4B5-46ED-803B-C300EEBF3622}" dt="2026-07-13T22:44:46.856" v="68" actId="6264"/>
          <ac:spMkLst>
            <pc:docMk/>
            <pc:sldMk cId="2224584359" sldId="268"/>
            <ac:spMk id="217" creationId="{853F43F2-4E6A-FBFD-C07F-B587F8A85126}"/>
          </ac:spMkLst>
        </pc:spChg>
      </pc:sldChg>
      <pc:sldChg chg="add del">
        <pc:chgData name="Yilin Wang" userId="06abc78b-9058-4e15-afda-57e086dc17fc" providerId="ADAL" clId="{82DDD170-D4B5-46ED-803B-C300EEBF3622}" dt="2026-07-13T22:44:49.955" v="74" actId="47"/>
        <pc:sldMkLst>
          <pc:docMk/>
          <pc:sldMk cId="2645060846" sldId="269"/>
        </pc:sldMkLst>
      </pc:sldChg>
      <pc:sldChg chg="add del">
        <pc:chgData name="Yilin Wang" userId="06abc78b-9058-4e15-afda-57e086dc17fc" providerId="ADAL" clId="{82DDD170-D4B5-46ED-803B-C300EEBF3622}" dt="2026-07-13T22:44:49.632" v="73" actId="47"/>
        <pc:sldMkLst>
          <pc:docMk/>
          <pc:sldMk cId="3269813319" sldId="270"/>
        </pc:sldMkLst>
      </pc:sldChg>
      <pc:sldChg chg="add del">
        <pc:chgData name="Yilin Wang" userId="06abc78b-9058-4e15-afda-57e086dc17fc" providerId="ADAL" clId="{82DDD170-D4B5-46ED-803B-C300EEBF3622}" dt="2026-07-13T22:44:51.595" v="76" actId="47"/>
        <pc:sldMkLst>
          <pc:docMk/>
          <pc:sldMk cId="2345577701" sldId="280"/>
        </pc:sldMkLst>
      </pc:sldChg>
      <pc:sldChg chg="add del">
        <pc:chgData name="Yilin Wang" userId="06abc78b-9058-4e15-afda-57e086dc17fc" providerId="ADAL" clId="{82DDD170-D4B5-46ED-803B-C300EEBF3622}" dt="2026-07-13T22:44:50.990" v="75" actId="47"/>
        <pc:sldMkLst>
          <pc:docMk/>
          <pc:sldMk cId="2478217048" sldId="281"/>
        </pc:sldMkLst>
      </pc:sldChg>
      <pc:sldChg chg="add del">
        <pc:chgData name="Yilin Wang" userId="06abc78b-9058-4e15-afda-57e086dc17fc" providerId="ADAL" clId="{82DDD170-D4B5-46ED-803B-C300EEBF3622}" dt="2026-08-02T19:39:47.362" v="790" actId="47"/>
        <pc:sldMkLst>
          <pc:docMk/>
          <pc:sldMk cId="3966750816" sldId="290"/>
        </pc:sldMkLst>
      </pc:sldChg>
      <pc:sldChg chg="modSp mod">
        <pc:chgData name="Yilin Wang" userId="06abc78b-9058-4e15-afda-57e086dc17fc" providerId="ADAL" clId="{82DDD170-D4B5-46ED-803B-C300EEBF3622}" dt="2026-07-13T22:44:59.217" v="88" actId="20577"/>
        <pc:sldMkLst>
          <pc:docMk/>
          <pc:sldMk cId="4274439896" sldId="292"/>
        </pc:sldMkLst>
        <pc:spChg chg="mod">
          <ac:chgData name="Yilin Wang" userId="06abc78b-9058-4e15-afda-57e086dc17fc" providerId="ADAL" clId="{82DDD170-D4B5-46ED-803B-C300EEBF3622}" dt="2026-07-13T22:44:59.217" v="88" actId="20577"/>
          <ac:spMkLst>
            <pc:docMk/>
            <pc:sldMk cId="4274439896" sldId="292"/>
            <ac:spMk id="3" creationId="{F3773503-EC16-E6FE-706B-80EDCBE2D3E4}"/>
          </ac:spMkLst>
        </pc:spChg>
      </pc:sldChg>
      <pc:sldChg chg="add del">
        <pc:chgData name="Yilin Wang" userId="06abc78b-9058-4e15-afda-57e086dc17fc" providerId="ADAL" clId="{82DDD170-D4B5-46ED-803B-C300EEBF3622}" dt="2026-07-13T22:44:51.829" v="77" actId="47"/>
        <pc:sldMkLst>
          <pc:docMk/>
          <pc:sldMk cId="1669817264" sldId="294"/>
        </pc:sldMkLst>
      </pc:sldChg>
      <pc:sldChg chg="addSp delSp modSp add del mod delAnim">
        <pc:chgData name="Yilin Wang" userId="06abc78b-9058-4e15-afda-57e086dc17fc" providerId="ADAL" clId="{82DDD170-D4B5-46ED-803B-C300EEBF3622}" dt="2026-08-02T19:39:28.239" v="772" actId="47"/>
        <pc:sldMkLst>
          <pc:docMk/>
          <pc:sldMk cId="2074524224" sldId="304"/>
        </pc:sldMkLst>
      </pc:sldChg>
      <pc:sldChg chg="add del">
        <pc:chgData name="Yilin Wang" userId="06abc78b-9058-4e15-afda-57e086dc17fc" providerId="ADAL" clId="{82DDD170-D4B5-46ED-803B-C300EEBF3622}" dt="2026-08-02T19:39:36.549" v="779" actId="47"/>
        <pc:sldMkLst>
          <pc:docMk/>
          <pc:sldMk cId="4255979582" sldId="305"/>
        </pc:sldMkLst>
      </pc:sldChg>
      <pc:sldChg chg="addSp delSp modSp add del mod">
        <pc:chgData name="Yilin Wang" userId="06abc78b-9058-4e15-afda-57e086dc17fc" providerId="ADAL" clId="{82DDD170-D4B5-46ED-803B-C300EEBF3622}" dt="2026-08-02T19:39:30.322" v="775" actId="47"/>
        <pc:sldMkLst>
          <pc:docMk/>
          <pc:sldMk cId="907687665" sldId="306"/>
        </pc:sldMkLst>
      </pc:sldChg>
      <pc:sldChg chg="add del">
        <pc:chgData name="Yilin Wang" userId="06abc78b-9058-4e15-afda-57e086dc17fc" providerId="ADAL" clId="{82DDD170-D4B5-46ED-803B-C300EEBF3622}" dt="2026-08-02T19:39:31.473" v="776" actId="47"/>
        <pc:sldMkLst>
          <pc:docMk/>
          <pc:sldMk cId="0" sldId="308"/>
        </pc:sldMkLst>
      </pc:sldChg>
      <pc:sldChg chg="add del">
        <pc:chgData name="Yilin Wang" userId="06abc78b-9058-4e15-afda-57e086dc17fc" providerId="ADAL" clId="{82DDD170-D4B5-46ED-803B-C300EEBF3622}" dt="2026-08-02T19:39:32.500" v="777" actId="47"/>
        <pc:sldMkLst>
          <pc:docMk/>
          <pc:sldMk cId="0" sldId="309"/>
        </pc:sldMkLst>
      </pc:sldChg>
      <pc:sldChg chg="add del">
        <pc:chgData name="Yilin Wang" userId="06abc78b-9058-4e15-afda-57e086dc17fc" providerId="ADAL" clId="{82DDD170-D4B5-46ED-803B-C300EEBF3622}" dt="2026-08-02T19:39:41.660" v="784" actId="47"/>
        <pc:sldMkLst>
          <pc:docMk/>
          <pc:sldMk cId="0" sldId="310"/>
        </pc:sldMkLst>
      </pc:sldChg>
      <pc:sldChg chg="add del">
        <pc:chgData name="Yilin Wang" userId="06abc78b-9058-4e15-afda-57e086dc17fc" providerId="ADAL" clId="{82DDD170-D4B5-46ED-803B-C300EEBF3622}" dt="2026-08-02T19:39:40.863" v="783" actId="47"/>
        <pc:sldMkLst>
          <pc:docMk/>
          <pc:sldMk cId="0" sldId="311"/>
        </pc:sldMkLst>
      </pc:sldChg>
      <pc:sldChg chg="add del">
        <pc:chgData name="Yilin Wang" userId="06abc78b-9058-4e15-afda-57e086dc17fc" providerId="ADAL" clId="{82DDD170-D4B5-46ED-803B-C300EEBF3622}" dt="2026-08-02T19:39:42.402" v="785" actId="47"/>
        <pc:sldMkLst>
          <pc:docMk/>
          <pc:sldMk cId="0" sldId="312"/>
        </pc:sldMkLst>
      </pc:sldChg>
      <pc:sldChg chg="add del">
        <pc:chgData name="Yilin Wang" userId="06abc78b-9058-4e15-afda-57e086dc17fc" providerId="ADAL" clId="{82DDD170-D4B5-46ED-803B-C300EEBF3622}" dt="2026-08-02T19:39:40.175" v="782" actId="47"/>
        <pc:sldMkLst>
          <pc:docMk/>
          <pc:sldMk cId="0" sldId="313"/>
        </pc:sldMkLst>
      </pc:sldChg>
      <pc:sldChg chg="modSp add del mod">
        <pc:chgData name="Yilin Wang" userId="06abc78b-9058-4e15-afda-57e086dc17fc" providerId="ADAL" clId="{82DDD170-D4B5-46ED-803B-C300EEBF3622}" dt="2026-08-02T19:39:29.022" v="773" actId="47"/>
        <pc:sldMkLst>
          <pc:docMk/>
          <pc:sldMk cId="0" sldId="314"/>
        </pc:sldMkLst>
      </pc:sldChg>
      <pc:sldChg chg="add del">
        <pc:chgData name="Yilin Wang" userId="06abc78b-9058-4e15-afda-57e086dc17fc" providerId="ADAL" clId="{82DDD170-D4B5-46ED-803B-C300EEBF3622}" dt="2026-08-02T19:39:43.495" v="786" actId="47"/>
        <pc:sldMkLst>
          <pc:docMk/>
          <pc:sldMk cId="0" sldId="315"/>
        </pc:sldMkLst>
      </pc:sldChg>
      <pc:sldChg chg="add del">
        <pc:chgData name="Yilin Wang" userId="06abc78b-9058-4e15-afda-57e086dc17fc" providerId="ADAL" clId="{82DDD170-D4B5-46ED-803B-C300EEBF3622}" dt="2026-08-02T19:39:38.952" v="781" actId="47"/>
        <pc:sldMkLst>
          <pc:docMk/>
          <pc:sldMk cId="0" sldId="316"/>
        </pc:sldMkLst>
      </pc:sldChg>
      <pc:sldChg chg="add del">
        <pc:chgData name="Yilin Wang" userId="06abc78b-9058-4e15-afda-57e086dc17fc" providerId="ADAL" clId="{82DDD170-D4B5-46ED-803B-C300EEBF3622}" dt="2026-08-02T19:39:44.250" v="787" actId="47"/>
        <pc:sldMkLst>
          <pc:docMk/>
          <pc:sldMk cId="0" sldId="317"/>
        </pc:sldMkLst>
      </pc:sldChg>
      <pc:sldChg chg="add del">
        <pc:chgData name="Yilin Wang" userId="06abc78b-9058-4e15-afda-57e086dc17fc" providerId="ADAL" clId="{82DDD170-D4B5-46ED-803B-C300EEBF3622}" dt="2026-08-02T19:39:45.336" v="788" actId="47"/>
        <pc:sldMkLst>
          <pc:docMk/>
          <pc:sldMk cId="0" sldId="318"/>
        </pc:sldMkLst>
      </pc:sldChg>
      <pc:sldChg chg="add del">
        <pc:chgData name="Yilin Wang" userId="06abc78b-9058-4e15-afda-57e086dc17fc" providerId="ADAL" clId="{82DDD170-D4B5-46ED-803B-C300EEBF3622}" dt="2026-08-02T19:39:46.372" v="789" actId="47"/>
        <pc:sldMkLst>
          <pc:docMk/>
          <pc:sldMk cId="0" sldId="319"/>
        </pc:sldMkLst>
      </pc:sldChg>
      <pc:sldChg chg="add del">
        <pc:chgData name="Yilin Wang" userId="06abc78b-9058-4e15-afda-57e086dc17fc" providerId="ADAL" clId="{82DDD170-D4B5-46ED-803B-C300EEBF3622}" dt="2026-08-02T19:39:36.146" v="778" actId="47"/>
        <pc:sldMkLst>
          <pc:docMk/>
          <pc:sldMk cId="0" sldId="320"/>
        </pc:sldMkLst>
      </pc:sldChg>
      <pc:sldChg chg="del">
        <pc:chgData name="Yilin Wang" userId="06abc78b-9058-4e15-afda-57e086dc17fc" providerId="ADAL" clId="{82DDD170-D4B5-46ED-803B-C300EEBF3622}" dt="2026-08-02T19:39:29.573" v="774" actId="47"/>
        <pc:sldMkLst>
          <pc:docMk/>
          <pc:sldMk cId="2490872928" sldId="321"/>
        </pc:sldMkLst>
      </pc:sldChg>
      <pc:sldChg chg="delSp modSp add mod">
        <pc:chgData name="Yilin Wang" userId="06abc78b-9058-4e15-afda-57e086dc17fc" providerId="ADAL" clId="{82DDD170-D4B5-46ED-803B-C300EEBF3622}" dt="2026-07-16T21:33:12.906" v="771" actId="20577"/>
        <pc:sldMkLst>
          <pc:docMk/>
          <pc:sldMk cId="2361112164" sldId="322"/>
        </pc:sldMkLst>
        <pc:spChg chg="mod">
          <ac:chgData name="Yilin Wang" userId="06abc78b-9058-4e15-afda-57e086dc17fc" providerId="ADAL" clId="{82DDD170-D4B5-46ED-803B-C300EEBF3622}" dt="2026-07-16T21:33:12.906" v="771" actId="20577"/>
          <ac:spMkLst>
            <pc:docMk/>
            <pc:sldMk cId="2361112164" sldId="322"/>
            <ac:spMk id="7" creationId="{33AE8DB3-4C29-0DE3-EB73-8D2BBFBB8CBF}"/>
          </ac:spMkLst>
        </pc:spChg>
        <pc:spChg chg="mod">
          <ac:chgData name="Yilin Wang" userId="06abc78b-9058-4e15-afda-57e086dc17fc" providerId="ADAL" clId="{82DDD170-D4B5-46ED-803B-C300EEBF3622}" dt="2026-07-16T21:32:53.871" v="735" actId="20577"/>
          <ac:spMkLst>
            <pc:docMk/>
            <pc:sldMk cId="2361112164" sldId="322"/>
            <ac:spMk id="203" creationId="{A219F0BA-71F5-BA11-CCBD-9327897B98CC}"/>
          </ac:spMkLst>
        </pc:spChg>
      </pc:sldChg>
      <pc:sldChg chg="add">
        <pc:chgData name="Yilin Wang" userId="06abc78b-9058-4e15-afda-57e086dc17fc" providerId="ADAL" clId="{82DDD170-D4B5-46ED-803B-C300EEBF3622}" dt="2026-07-16T21:32:47.529" v="734"/>
        <pc:sldMkLst>
          <pc:docMk/>
          <pc:sldMk cId="35167972" sldId="323"/>
        </pc:sldMkLst>
      </pc:sldChg>
      <pc:sldChg chg="del">
        <pc:chgData name="Yilin Wang" userId="06abc78b-9058-4e15-afda-57e086dc17fc" providerId="ADAL" clId="{82DDD170-D4B5-46ED-803B-C300EEBF3622}" dt="2026-08-02T19:39:36.934" v="780" actId="47"/>
        <pc:sldMkLst>
          <pc:docMk/>
          <pc:sldMk cId="2831382767" sldId="324"/>
        </pc:sldMkLst>
      </pc:sldChg>
    </pc:docChg>
  </pc:docChgLst>
  <pc:docChgLst>
    <pc:chgData name="Yilin Wang" userId="S::wang4517@purdue.edu::06abc78b-9058-4e15-afda-57e086dc17fc" providerId="AD" clId="Web-{73E358AC-2E5E-D559-125E-0E3EF88494AA}"/>
    <pc:docChg chg="addSld modSld">
      <pc:chgData name="Yilin Wang" userId="S::wang4517@purdue.edu::06abc78b-9058-4e15-afda-57e086dc17fc" providerId="AD" clId="Web-{73E358AC-2E5E-D559-125E-0E3EF88494AA}" dt="2026-07-14T15:01:04.722" v="118" actId="20577"/>
      <pc:docMkLst>
        <pc:docMk/>
      </pc:docMkLst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255BC-3133-4958-9FBE-2E458D6F8C96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48518-90B6-4A67-95F9-2E42B160E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947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373D-6337-3720-B4C6-42A3F89E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9D289A-57A2-D44D-9735-B77E62135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527FF0-4349-E451-CB64-8DAFFD099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latin typeface="Amasis MT Pro Medium" panose="020406040500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884E1A-6918-23BB-C9C5-EA66EB9BF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348518-90B6-4A67-95F9-2E42B160EC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8705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19587-068B-A880-E049-4FAF876CC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4626" y="3780553"/>
            <a:ext cx="10626305" cy="13255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masis MT Pro" panose="02040504050005020304" pitchFamily="18" charset="0"/>
              </a:defRPr>
            </a:lvl1pPr>
          </a:lstStyle>
          <a:p>
            <a:r>
              <a:rPr lang="en-US" altLang="zh-CN" dirty="0" err="1"/>
              <a:t>ddd</a:t>
            </a:r>
            <a:endParaRPr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3479850-6E10-FE11-AE66-4866412731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76" y="5311078"/>
            <a:ext cx="2419927" cy="1327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25B5AD5-57F5-C14F-0641-54AF0457E38A}"/>
              </a:ext>
            </a:extLst>
          </p:cNvPr>
          <p:cNvSpPr txBox="1"/>
          <p:nvPr userDrawn="1"/>
        </p:nvSpPr>
        <p:spPr>
          <a:xfrm>
            <a:off x="4495342" y="6377370"/>
            <a:ext cx="2946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Amasis MT Pro Medium" panose="02040604050005020304" pitchFamily="18" charset="0"/>
              </a:rPr>
              <a:t>Connected and Automated Resilience Lab</a:t>
            </a:r>
            <a:endParaRPr lang="zh-CN" altLang="en-US" sz="1100" dirty="0">
              <a:latin typeface="Amasis MT Pro Medium" panose="020406040500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80B2B6E5-80BD-F713-9D38-37ACF4511900}"/>
              </a:ext>
            </a:extLst>
          </p:cNvPr>
          <p:cNvSpPr/>
          <p:nvPr userDrawn="1"/>
        </p:nvSpPr>
        <p:spPr>
          <a:xfrm flipV="1">
            <a:off x="0" y="3368615"/>
            <a:ext cx="12192000" cy="120769"/>
          </a:xfrm>
          <a:prstGeom prst="rect">
            <a:avLst/>
          </a:prstGeom>
          <a:gradFill flip="none" rotWithShape="1">
            <a:gsLst>
              <a:gs pos="20000">
                <a:srgbClr val="AE976B"/>
              </a:gs>
              <a:gs pos="57000">
                <a:schemeClr val="tx1"/>
              </a:gs>
              <a:gs pos="89000">
                <a:srgbClr val="AE976B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D24C6EE-AE1C-7BFB-99DF-401DD2298A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16363" y="1630363"/>
            <a:ext cx="3175000" cy="7985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Topic</a:t>
            </a:r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B95C6C1F-13D4-B7DB-20F1-2E32261890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58738"/>
            <a:ext cx="2544763" cy="62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Event</a:t>
            </a:r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20BDD535-0769-42FB-94C0-0748AE4F45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-4789"/>
            <a:ext cx="5168195" cy="685827"/>
          </a:xfrm>
          <a:prstGeom prst="rect">
            <a:avLst/>
          </a:prstGeom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0C4C7792-7799-2FE0-554B-92BFA7281814}"/>
              </a:ext>
            </a:extLst>
          </p:cNvPr>
          <p:cNvSpPr/>
          <p:nvPr userDrawn="1"/>
        </p:nvSpPr>
        <p:spPr>
          <a:xfrm flipV="1">
            <a:off x="-9526" y="690622"/>
            <a:ext cx="12201525" cy="52227"/>
          </a:xfrm>
          <a:prstGeom prst="rect">
            <a:avLst/>
          </a:prstGeom>
          <a:gradFill>
            <a:gsLst>
              <a:gs pos="4000">
                <a:srgbClr val="101010"/>
              </a:gs>
              <a:gs pos="36000">
                <a:srgbClr val="AE976B"/>
              </a:gs>
              <a:gs pos="55000">
                <a:schemeClr val="tx1"/>
              </a:gs>
              <a:gs pos="89000">
                <a:srgbClr val="AE976B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7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19587-068B-A880-E049-4FAF876CC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4626" y="3780553"/>
            <a:ext cx="10626305" cy="13255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masis MT Pro" panose="02040504050005020304" pitchFamily="18" charset="0"/>
              </a:defRPr>
            </a:lvl1pPr>
          </a:lstStyle>
          <a:p>
            <a:r>
              <a:rPr lang="en-US" altLang="zh-CN" dirty="0" err="1"/>
              <a:t>ddd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6C5CD04-7929-1C73-332C-B27202C18453}"/>
              </a:ext>
            </a:extLst>
          </p:cNvPr>
          <p:cNvGrpSpPr/>
          <p:nvPr userDrawn="1"/>
        </p:nvGrpSpPr>
        <p:grpSpPr>
          <a:xfrm>
            <a:off x="-76205" y="5966730"/>
            <a:ext cx="2047875" cy="931011"/>
            <a:chOff x="6184034" y="5252434"/>
            <a:chExt cx="3601639" cy="1656461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E3479850-6E10-FE11-AE66-48664127316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4892" y="5252434"/>
              <a:ext cx="2419927" cy="13279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25B5AD5-57F5-C14F-0641-54AF0457E38A}"/>
                </a:ext>
              </a:extLst>
            </p:cNvPr>
            <p:cNvSpPr txBox="1"/>
            <p:nvPr userDrawn="1"/>
          </p:nvSpPr>
          <p:spPr>
            <a:xfrm>
              <a:off x="6184034" y="6251777"/>
              <a:ext cx="3601639" cy="657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latin typeface="Amasis MT Pro Medium" panose="02040604050005020304" pitchFamily="18" charset="0"/>
                </a:rPr>
                <a:t>Connected and Automated Resilience Lab</a:t>
              </a:r>
              <a:endParaRPr lang="zh-CN" altLang="en-US" sz="900" dirty="0">
                <a:latin typeface="Amasis MT Pro Medium" panose="02040604050005020304" pitchFamily="18" charset="0"/>
              </a:endParaRPr>
            </a:p>
          </p:txBody>
        </p:sp>
      </p:grp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1047F1BB-65F9-D277-F14E-506A3CC45A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942683"/>
            <a:ext cx="3113806" cy="638175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Amasis MT Pro Medium" panose="02040604050005020304" pitchFamily="18" charset="0"/>
              </a:defRPr>
            </a:lvl1pPr>
            <a:lvl5pPr marL="1828800" indent="0">
              <a:buNone/>
              <a:defRPr b="1"/>
            </a:lvl5pPr>
          </a:lstStyle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altLang="zh-CN" dirty="0"/>
              <a:t>Topic</a:t>
            </a:r>
            <a:endParaRPr lang="zh-CN" altLang="en-US" dirty="0"/>
          </a:p>
        </p:txBody>
      </p:sp>
      <p:sp>
        <p:nvSpPr>
          <p:cNvPr id="18" name="文本占位符 18">
            <a:extLst>
              <a:ext uri="{FF2B5EF4-FFF2-40B4-BE49-F238E27FC236}">
                <a16:creationId xmlns:a16="http://schemas.microsoft.com/office/drawing/2014/main" id="{6859A36C-B8CC-40EF-0074-708C559EA7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58738"/>
            <a:ext cx="2544763" cy="62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Event</a:t>
            </a:r>
            <a:endParaRPr lang="zh-CN" altLang="en-US" dirty="0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54082DBC-1380-7E6F-1190-75EB895EA1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-4789"/>
            <a:ext cx="5168195" cy="685827"/>
          </a:xfrm>
          <a:prstGeom prst="rect">
            <a:avLst/>
          </a:prstGeom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4396B154-8133-68ED-6CD5-7B359DB25F2A}"/>
              </a:ext>
            </a:extLst>
          </p:cNvPr>
          <p:cNvSpPr/>
          <p:nvPr userDrawn="1"/>
        </p:nvSpPr>
        <p:spPr>
          <a:xfrm flipV="1">
            <a:off x="-9526" y="690622"/>
            <a:ext cx="12201525" cy="52227"/>
          </a:xfrm>
          <a:prstGeom prst="rect">
            <a:avLst/>
          </a:prstGeom>
          <a:gradFill>
            <a:gsLst>
              <a:gs pos="4000">
                <a:srgbClr val="101010"/>
              </a:gs>
              <a:gs pos="36000">
                <a:srgbClr val="AE976B"/>
              </a:gs>
              <a:gs pos="55000">
                <a:schemeClr val="tx1"/>
              </a:gs>
              <a:gs pos="89000">
                <a:srgbClr val="AE976B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6549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0D58A8-D3F8-6292-7607-8A36AC5D73BF}"/>
              </a:ext>
            </a:extLst>
          </p:cNvPr>
          <p:cNvSpPr/>
          <p:nvPr userDrawn="1"/>
        </p:nvSpPr>
        <p:spPr>
          <a:xfrm>
            <a:off x="0" y="0"/>
            <a:ext cx="12192000" cy="690113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流程图: 数据 2">
            <a:extLst>
              <a:ext uri="{FF2B5EF4-FFF2-40B4-BE49-F238E27FC236}">
                <a16:creationId xmlns:a16="http://schemas.microsoft.com/office/drawing/2014/main" id="{74928255-F6E6-4751-0F92-1D38882CD9D6}"/>
              </a:ext>
            </a:extLst>
          </p:cNvPr>
          <p:cNvSpPr/>
          <p:nvPr userDrawn="1"/>
        </p:nvSpPr>
        <p:spPr>
          <a:xfrm>
            <a:off x="960583" y="-1"/>
            <a:ext cx="5237018" cy="690113"/>
          </a:xfrm>
          <a:prstGeom prst="flowChartInputOutput">
            <a:avLst/>
          </a:prstGeom>
          <a:gradFill>
            <a:gsLst>
              <a:gs pos="4000">
                <a:schemeClr val="tx1"/>
              </a:gs>
              <a:gs pos="57000">
                <a:srgbClr val="AE976B"/>
              </a:gs>
              <a:gs pos="83000">
                <a:srgbClr val="AE976B"/>
              </a:gs>
              <a:gs pos="100000">
                <a:srgbClr val="AE976B"/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712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>
            <a:extLst>
              <a:ext uri="{FF2B5EF4-FFF2-40B4-BE49-F238E27FC236}">
                <a16:creationId xmlns:a16="http://schemas.microsoft.com/office/drawing/2014/main" id="{699FD1E0-76BF-38A3-644C-49B54164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513" y="3928334"/>
            <a:ext cx="5022974" cy="1325563"/>
          </a:xfrm>
        </p:spPr>
        <p:txBody>
          <a:bodyPr/>
          <a:lstStyle/>
          <a:p>
            <a:pPr algn="ctr"/>
            <a:r>
              <a:rPr lang="en-US" altLang="zh-CN" dirty="0"/>
              <a:t>Yilin Wang    Aug 2026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7F7F688-FC67-756F-90B4-C9EB1E4DC3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918360" cy="622300"/>
          </a:xfrm>
        </p:spPr>
        <p:txBody>
          <a:bodyPr/>
          <a:lstStyle/>
          <a:p>
            <a:r>
              <a:rPr lang="en-US" altLang="zh-CN" dirty="0"/>
              <a:t>Learning to Route for Sensing Coverage</a:t>
            </a:r>
            <a:endParaRPr lang="zh-CN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50483-5FBA-B800-AA30-C5212FB961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6363" y="1630363"/>
            <a:ext cx="4401372" cy="798512"/>
          </a:xfrm>
        </p:spPr>
        <p:txBody>
          <a:bodyPr/>
          <a:lstStyle/>
          <a:p>
            <a:r>
              <a:rPr lang="en-US" altLang="zh-CN" dirty="0"/>
              <a:t>A neural amortized solver trained on Gurobi labels — methodology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>
            <a:extLst>
              <a:ext uri="{FF2B5EF4-FFF2-40B4-BE49-F238E27FC236}">
                <a16:creationId xmlns:a16="http://schemas.microsoft.com/office/drawing/2014/main" id="{699FD1E0-76BF-38A3-644C-49B54164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513" y="3928334"/>
            <a:ext cx="5022974" cy="1325563"/>
          </a:xfrm>
        </p:spPr>
        <p:txBody>
          <a:bodyPr/>
          <a:lstStyle/>
          <a:p>
            <a:pPr algn="ctr"/>
            <a:r>
              <a:rPr lang="en-US" altLang="zh-CN" dirty="0"/>
              <a:t>Yilin Wang    Aug 2026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7F7F688-FC67-756F-90B4-C9EB1E4DC3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918360" cy="622300"/>
          </a:xfrm>
        </p:spPr>
        <p:txBody>
          <a:bodyPr/>
          <a:lstStyle/>
          <a:p>
            <a:r>
              <a:rPr lang="en-US" altLang="zh-CN" dirty="0"/>
              <a:t>Learning to Route for Sensing Coverage</a:t>
            </a:r>
            <a:endParaRPr lang="zh-CN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50483-5FBA-B800-AA30-C5212FB961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6363" y="1630363"/>
            <a:ext cx="4401372" cy="798512"/>
          </a:xfrm>
        </p:spPr>
        <p:txBody>
          <a:bodyPr/>
          <a:lstStyle/>
          <a:p>
            <a:r>
              <a:rPr lang="en-US" altLang="zh-CN" dirty="0"/>
              <a:t>A neural amortized solver trained on Gurobi labels — methodology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773503-EC16-E6FE-706B-80EDCBE2D3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2630488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202608</a:t>
            </a:r>
            <a:endParaRPr lang="zh-CN" altLang="en-US" dirty="0"/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E8968BF7-AB22-63D0-4E00-5C281CC45E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Agenda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/>
            </a:pPr>
            <a:r>
              <a:t>• Problem: fleet sensing-coverage routing on a fixed network</a:t>
            </a:r>
          </a:p>
          <a:p>
            <a:pPr>
              <a:defRPr sz="1700" b="0"/>
            </a:pPr>
            <a:r>
              <a:t>• Pipeline: offline label farm  →  supervised training  →  millisecond inference</a:t>
            </a:r>
          </a:p>
          <a:p>
            <a:pPr>
              <a:defRPr sz="1700" b="0"/>
            </a:pPr>
            <a:r>
              <a:t>• Network &amp; instance definition (bidirectional 4×4, 8 gates, 56 ODs)</a:t>
            </a:r>
          </a:p>
          <a:p>
            <a:pPr>
              <a:defRPr sz="1700" b="0"/>
            </a:pPr>
            <a:r>
              <a:t>• Model architecture &amp; the feasibility mask</a:t>
            </a:r>
          </a:p>
          <a:p>
            <a:pPr>
              <a:defRPr sz="1700" b="0"/>
            </a:pPr>
            <a:r>
              <a:t>• Training recipe: data generation + teacher forcing</a:t>
            </a:r>
          </a:p>
          <a:p>
            <a:pPr>
              <a:defRPr sz="1700" b="0"/>
            </a:pPr>
            <a:r>
              <a:t>• Evidence so far (3×3 / 4×4)  ·  extension-1 evaluation design [results pending]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773503-EC16-E6FE-706B-80EDCBE2D3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2630488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202608</a:t>
            </a:r>
            <a:endParaRPr lang="zh-CN" altLang="en-US" dirty="0"/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E8968BF7-AB22-63D0-4E00-5C281CC45E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Agenda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/>
            </a:pPr>
            <a:r>
              <a:t>• Problem: fleet sensing-coverage routing on a fixed network</a:t>
            </a:r>
          </a:p>
          <a:p>
            <a:pPr>
              <a:defRPr sz="1700" b="0"/>
            </a:pPr>
            <a:r>
              <a:t>• Pipeline: offline label farm  →  supervised training  →  millisecond inference</a:t>
            </a:r>
          </a:p>
          <a:p>
            <a:pPr>
              <a:defRPr sz="1700" b="0"/>
            </a:pPr>
            <a:r>
              <a:t>• Network &amp; instance definition (bidirectional 4×4, 8 gates, 56 ODs)</a:t>
            </a:r>
          </a:p>
          <a:p>
            <a:pPr>
              <a:defRPr sz="1700" b="0"/>
            </a:pPr>
            <a:r>
              <a:t>• Model architecture &amp; the feasibility mask</a:t>
            </a:r>
          </a:p>
          <a:p>
            <a:pPr>
              <a:defRPr sz="1700" b="0"/>
            </a:pPr>
            <a:r>
              <a:t>• Training recipe: data generation + teacher forcing</a:t>
            </a:r>
          </a:p>
          <a:p>
            <a:pPr>
              <a:defRPr sz="1700" b="0"/>
            </a:pPr>
            <a:r>
              <a:t>• Evidence so far (3×3 / 4×4)  ·  extension-1 evaluation design [results pending]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Problem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508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• One case (an 'operating day'): congestion δ ∈ {0,1}^80 per directed link · V vehicles · per-vehicle task (origin gate, destination gate, departure t0)</a:t>
            </a:r>
          </a:p>
          <a:p>
            <a:pPr>
              <a:defRPr sz="1400" b="0"/>
            </a:pPr>
            <a:r>
              <a:t>• Vehicles run SIMULTANEOUSLY on one timeline; entering link i at time t occupies cells (i, t … t+c−1), travel time c(i,t) = (base(i)+t)//4 + 1 + δᵢ (street-symmetric base)</a:t>
            </a:r>
          </a:p>
          <a:p>
            <a:pPr>
              <a:defRPr sz="1400" b="1"/>
            </a:pPr>
            <a:r>
              <a:t>• Objective (identical to the Gurobi MILP):   min  [ α₁·total_cost  −  α₂·fleet_coverage ] / (V·H),   α = 0.3 / 0.7</a:t>
            </a:r>
          </a:p>
          <a:p>
            <a:pPr>
              <a:defRPr sz="1400" b="0"/>
            </a:pPr>
            <a:r>
              <a:t>• coverage = |union of occupied (link, time) cells| — overlap counts once; horizon H = 338 is the per-vehicle budget</a:t>
            </a:r>
          </a:p>
          <a:p>
            <a:pPr>
              <a:defRPr sz="1400" b="0"/>
            </a:pPr>
            <a:r>
              <a:t>• Taxonomy: team-orienteering-type (selective, max-utility, budget) — NOT visit-all min-cost CVRP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Problem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508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• One case (an 'operating day'): congestion δ ∈ {0,1}^80 per directed link · V vehicles · per-vehicle task (origin gate, destination gate, departure t0)</a:t>
            </a:r>
          </a:p>
          <a:p>
            <a:pPr>
              <a:defRPr sz="1400" b="0"/>
            </a:pPr>
            <a:r>
              <a:t>• Vehicles run SIMULTANEOUSLY on one timeline; entering link i at time t occupies cells (i, t … t+c−1), travel time c(i,t) = (base(i)+t)//4 + 1 + δᵢ (street-symmetric base)</a:t>
            </a:r>
          </a:p>
          <a:p>
            <a:pPr>
              <a:defRPr sz="1400" b="1"/>
            </a:pPr>
            <a:r>
              <a:t>• Objective (identical to the Gurobi MILP):   min  [ α₁·total_cost  −  α₂·fleet_coverage ] / (V·H),   α = 0.3 / 0.7</a:t>
            </a:r>
          </a:p>
          <a:p>
            <a:pPr>
              <a:defRPr sz="1400" b="0"/>
            </a:pPr>
            <a:r>
              <a:t>• coverage = |union of occupied (link, time) cells| — overlap counts once; horizon H = 338 is the per-vehicle budget</a:t>
            </a:r>
          </a:p>
          <a:p>
            <a:pPr>
              <a:defRPr sz="1400" b="0"/>
            </a:pPr>
            <a:r>
              <a:t>• Taxonomy: team-orienteering-type (selective, max-utility, budget) — NOT visit-all min-cost CVRP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Pipeline</a:t>
            </a:r>
            <a:endParaRPr lang="zh-CN" altLang="en-US" sz="2800" dirty="0"/>
          </a:p>
        </p:txBody>
      </p:sp>
      <p:pic>
        <p:nvPicPr>
          <p:cNvPr id="204" name="Picture 203" descr="fig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10424160" cy="4756941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40080" y="6172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• Gurobi = the only solution source (offline labels); the trained model replaces per-case solving at deployment — 2–4 ms, no solver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Pipeline</a:t>
            </a:r>
            <a:endParaRPr lang="zh-CN" altLang="en-US" sz="2800" dirty="0"/>
          </a:p>
        </p:txBody>
      </p:sp>
      <p:pic>
        <p:nvPicPr>
          <p:cNvPr id="204" name="Picture 203" descr="fig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10424160" cy="4756941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40080" y="6172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• Gurobi = the only solution source (offline labels); the trained model replaces per-case solving at deployment — 2–4 ms, no solver calls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Network</a:t>
            </a:r>
            <a:endParaRPr lang="zh-CN" altLang="en-US" sz="2800" dirty="0"/>
          </a:p>
        </p:txBody>
      </p:sp>
      <p:pic>
        <p:nvPicPr>
          <p:cNvPr id="204" name="Picture 203" descr="fig8b_bigrid_optio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17320"/>
            <a:ext cx="9692640" cy="4592836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40080" y="6080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• Bidirectional 4×4: 80 directed links, no U-turns · 8 gates (4 corners + 4 midpoints) · all 56 ordered ODs feasible (heatmap) · horizon 338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Network</a:t>
            </a:r>
            <a:endParaRPr lang="zh-CN" altLang="en-US" sz="2800" dirty="0"/>
          </a:p>
        </p:txBody>
      </p:sp>
      <p:pic>
        <p:nvPicPr>
          <p:cNvPr id="204" name="Picture 203" descr="fig8b_bigrid_optio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17320"/>
            <a:ext cx="9692640" cy="4592836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40080" y="6080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• Bidirectional 4×4: 80 directed links, no U-turns · 8 gates (4 corners + 4 midpoints) · all 56 ordered ODs feasible (heatmap) · horizon 338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Model</a:t>
            </a:r>
            <a:endParaRPr lang="zh-CN" altLang="en-US" sz="2800" dirty="0"/>
          </a:p>
        </p:txBody>
      </p:sp>
      <p:pic>
        <p:nvPicPr>
          <p:cNvPr id="204" name="Picture 203" descr="figB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3610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Model</a:t>
            </a:r>
            <a:endParaRPr lang="zh-CN" altLang="en-US" sz="2800" dirty="0"/>
          </a:p>
        </p:txBody>
      </p:sp>
      <p:pic>
        <p:nvPicPr>
          <p:cNvPr id="204" name="Picture 203" descr="figB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3610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Feasibility mask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508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• Three lines between logits and softmax:  logits[illegal] = −∞  →  illegal probability is EXACTLY zero (grammar-constrained decoding)</a:t>
            </a:r>
          </a:p>
          <a:p>
            <a:pPr>
              <a:defRPr sz="1250" b="0"/>
            </a:pPr>
            <a:r>
              <a:t>   – not a successor of the current link / U-turn  (road topology)</a:t>
            </a:r>
          </a:p>
          <a:p>
            <a:pPr>
              <a:defRPr sz="1250" b="0"/>
            </a:pPr>
            <a:r>
              <a:t>   – cannot reach THIS vehicle's destination gate within the horizon (time-dependent Dijkstra query)</a:t>
            </a:r>
          </a:p>
          <a:p>
            <a:pPr>
              <a:defRPr sz="1250" b="0"/>
            </a:pPr>
            <a:r>
              <a:t>   – SEP only when adjacent to own destination; EOS only after V SEPs</a:t>
            </a:r>
          </a:p>
          <a:p>
            <a:pPr>
              <a:defRPr sz="1400" b="0"/>
            </a:pPr>
            <a:r>
              <a:t>• No parameters — rules guarantee feasibility; the network only ranks legal moves (learned from Gurobi)</a:t>
            </a:r>
          </a:p>
          <a:p>
            <a:pPr>
              <a:defRPr sz="1400" b="0"/>
            </a:pPr>
            <a:r>
              <a:t>• Standard in the literature: Kool AM §3 (u=−∞; OP budget rule) · MTPOMO Eq.10 · FM-MCVRP §4.2 (softmax(G·Wo+M)) · TOP-Former Eq.18</a:t>
            </a:r>
          </a:p>
          <a:p>
            <a:pPr>
              <a:defRPr sz="1400" b="0"/>
            </a:pPr>
            <a:r>
              <a:t>• Measured necessity: adjacency-only mask → 10/200 horizon-infeasible decodes; + budget mask → 200/200 feasible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Feasibility mask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508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• Three lines between logits and softmax:  logits[illegal] = −∞  →  illegal probability is EXACTLY zero (grammar-constrained decoding)</a:t>
            </a:r>
          </a:p>
          <a:p>
            <a:pPr>
              <a:defRPr sz="1250" b="0"/>
            </a:pPr>
            <a:r>
              <a:t>   – not a successor of the current link / U-turn  (road topology)</a:t>
            </a:r>
          </a:p>
          <a:p>
            <a:pPr>
              <a:defRPr sz="1250" b="0"/>
            </a:pPr>
            <a:r>
              <a:t>   – cannot reach THIS vehicle's destination gate within the horizon (time-dependent Dijkstra query)</a:t>
            </a:r>
          </a:p>
          <a:p>
            <a:pPr>
              <a:defRPr sz="1250" b="0"/>
            </a:pPr>
            <a:r>
              <a:t>   – SEP only when adjacent to own destination; EOS only after V SEPs</a:t>
            </a:r>
          </a:p>
          <a:p>
            <a:pPr>
              <a:defRPr sz="1400" b="0"/>
            </a:pPr>
            <a:r>
              <a:t>• No parameters — rules guarantee feasibility; the network only ranks legal moves (learned from Gurobi)</a:t>
            </a:r>
          </a:p>
          <a:p>
            <a:pPr>
              <a:defRPr sz="1400" b="0"/>
            </a:pPr>
            <a:r>
              <a:t>• Standard in the literature: Kool AM §3 (u=−∞; OP budget rule) · MTPOMO Eq.10 · FM-MCVRP §4.2 (softmax(G·Wo+M)) · TOP-Former Eq.18</a:t>
            </a:r>
          </a:p>
          <a:p>
            <a:pPr>
              <a:defRPr sz="1400" b="0"/>
            </a:pPr>
            <a:r>
              <a:t>• Measured necessity: adjacency-only mask → 10/200 horizon-infeasible decodes; + budget mask → 200/200 feasible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Training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463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• Data (offline label farm, resumable + watchdog-supervised):</a:t>
            </a:r>
          </a:p>
          <a:p>
            <a:pPr>
              <a:defRPr sz="1250" b="0"/>
            </a:pPr>
            <a:r>
              <a:t>   – δ ~ iid{0,1}^80 · V ∈ {2,3,4,6} · OD stratified by difficulty terciles (earliest-arrival matrix) · t0 ∈ {0..5}</a:t>
            </a:r>
          </a:p>
          <a:p>
            <a:pPr>
              <a:defRPr sz="1250" b="0"/>
            </a:pPr>
            <a:r>
              <a:t>   – labels: multi-commodity time-expanded flow MILP (Gurobi, MIPGap 2%, 60 s cap) — validated vs min-time bound, decomposition-consistent</a:t>
            </a:r>
          </a:p>
          <a:p>
            <a:pPr>
              <a:defRPr sz="1250" b="0"/>
            </a:pPr>
            <a:r>
              <a:t>   – 5000 train + 500 test + 300 OD-zero-shot (4 held-out ODs) + 300 fleet-extrapolation (V ∈ {5,8})</a:t>
            </a:r>
          </a:p>
          <a:p>
            <a:pPr>
              <a:defRPr sz="1400" b="0"/>
            </a:pPr>
            <a:r>
              <a:t>• Objective design note: coverage normalized by V·H with α 0.3/0.7 — otherwise optima collapse to min-time routes (no sensing behavior to learn)</a:t>
            </a:r>
          </a:p>
          <a:p>
            <a:pPr>
              <a:defRPr sz="1400" b="1"/>
            </a:pPr>
            <a:r>
              <a:t>• Training: teacher forcing, next-link cross-entropy (PAD ignored); no solver and no generation inside the training loop; AdamW, batch 64</a:t>
            </a:r>
          </a:p>
          <a:p>
            <a:pPr>
              <a:defRPr sz="1400" b="0"/>
            </a:pPr>
            <a:r>
              <a:t>• Model selection: per-epoch MASKED GREEDY generation on validation cases — select on true objective gap, not on CE loss</a:t>
            </a:r>
          </a:p>
          <a:p>
            <a:pPr>
              <a:defRPr sz="1400" b="0"/>
            </a:pPr>
            <a:r>
              <a:t>• Data-volume policy: nested 1k/2k/5k slope experiment; extend the resumable farm only if the curve is still steep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Training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463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• Data (offline label farm, resumable + watchdog-supervised):</a:t>
            </a:r>
          </a:p>
          <a:p>
            <a:pPr>
              <a:defRPr sz="1250" b="0"/>
            </a:pPr>
            <a:r>
              <a:t>   – δ ~ iid{0,1}^80 · V ∈ {2,3,4,6} · OD stratified by difficulty terciles (earliest-arrival matrix) · t0 ∈ {0..5}</a:t>
            </a:r>
          </a:p>
          <a:p>
            <a:pPr>
              <a:defRPr sz="1250" b="0"/>
            </a:pPr>
            <a:r>
              <a:t>   – labels: multi-commodity time-expanded flow MILP (Gurobi, MIPGap 2%, 60 s cap) — validated vs min-time bound, decomposition-consistent</a:t>
            </a:r>
          </a:p>
          <a:p>
            <a:pPr>
              <a:defRPr sz="1250" b="0"/>
            </a:pPr>
            <a:r>
              <a:t>   – 5000 train + 500 test + 300 OD-zero-shot (4 held-out ODs) + 300 fleet-extrapolation (V ∈ {5,8})</a:t>
            </a:r>
          </a:p>
          <a:p>
            <a:pPr>
              <a:defRPr sz="1400" b="0"/>
            </a:pPr>
            <a:r>
              <a:t>• Objective design note: coverage normalized by V·H with α 0.3/0.7 — otherwise optima collapse to min-time routes (no sensing behavior to learn)</a:t>
            </a:r>
          </a:p>
          <a:p>
            <a:pPr>
              <a:defRPr sz="1400" b="1"/>
            </a:pPr>
            <a:r>
              <a:t>• Training: teacher forcing, next-link cross-entropy (PAD ignored); no solver and no generation inside the training loop; AdamW, batch 64</a:t>
            </a:r>
          </a:p>
          <a:p>
            <a:pPr>
              <a:defRPr sz="1400" b="0"/>
            </a:pPr>
            <a:r>
              <a:t>• Model selection: per-epoch MASKED GREEDY generation on validation cases — select on true objective gap, not on CE loss</a:t>
            </a:r>
          </a:p>
          <a:p>
            <a:pPr>
              <a:defRPr sz="1400" b="0"/>
            </a:pPr>
            <a:r>
              <a:t>• Data-volume policy: nested 1k/2k/5k slope experiment; extend the resumable farm only if the curve is still steep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Evidence (toy)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Learned coordination</a:t>
            </a:r>
            <a:endParaRPr lang="zh-CN" altLang="en-US" sz="2800" dirty="0"/>
          </a:p>
        </p:txBody>
      </p:sp>
      <p:pic>
        <p:nvPicPr>
          <p:cNvPr id="204" name="Picture 203" descr="fig2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6309360" cy="4703341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858000" y="1828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• Decoder writes the fleet as ONE token sequence — later vehicles attend to earlier routes</a:t>
            </a:r>
          </a:p>
          <a:p>
            <a:pPr>
              <a:defRPr sz="1400" b="1"/>
            </a:pPr>
            <a:r>
              <a:t>• Same prefix, different context: veh-2 flips 3:1.00 → 19:0.85 after seeing veh-1 occupy the 3-22-23-24 corridor (real trace)</a:t>
            </a:r>
          </a:p>
          <a:p>
            <a:pPr>
              <a:defRPr sz="1400" b="0"/>
            </a:pPr>
            <a:r>
              <a:t>• 'Don't duplicate coverage' is learned from joint-optimal labels, not hard-coded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Evidence (toy)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Learned coordination</a:t>
            </a:r>
            <a:endParaRPr lang="zh-CN" altLang="en-US" sz="2800" dirty="0"/>
          </a:p>
        </p:txBody>
      </p:sp>
      <p:pic>
        <p:nvPicPr>
          <p:cNvPr id="204" name="Picture 203" descr="fig2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6309360" cy="4703341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858000" y="1828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• Decoder writes the fleet as ONE token sequence — later vehicles attend to earlier routes</a:t>
            </a:r>
          </a:p>
          <a:p>
            <a:pPr>
              <a:defRPr sz="1400" b="1"/>
            </a:pPr>
            <a:r>
              <a:t>• Same prefix, different context: veh-2 flips 3:1.00 → 19:0.85 after seeing veh-1 occupy the 3-22-23-24 corridor (real trace)</a:t>
            </a:r>
          </a:p>
          <a:p>
            <a:pPr>
              <a:defRPr sz="1400" b="0"/>
            </a:pPr>
            <a:r>
              <a:t>• 'Don't duplicate coverage' is learned from joint-optimal labels, not hard-coded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Evidence (toy)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vs Gurobi</a:t>
            </a:r>
            <a:endParaRPr lang="zh-CN" altLang="en-US" sz="2800" dirty="0"/>
          </a:p>
        </p:txBody>
      </p:sp>
      <p:pic>
        <p:nvPicPr>
          <p:cNvPr id="204" name="Picture 203" descr="fig6_pct_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0972800" cy="3483987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40080" y="5623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• 3×3: 55.5% exact-match, mean 0.26% · 4×4: 68.5%, mean 0.09% · 200/200 feasible · 2–4 ms/case (Gurobi: seconds) · 0.5 M params, &lt;150 MB VRAM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Evidence (toy)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vs Gurobi</a:t>
            </a:r>
            <a:endParaRPr lang="zh-CN" altLang="en-US" sz="2800" dirty="0"/>
          </a:p>
        </p:txBody>
      </p:sp>
      <p:pic>
        <p:nvPicPr>
          <p:cNvPr id="204" name="Picture 203" descr="fig6_pct_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0972800" cy="3483987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40080" y="5623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• 3×3: 55.5% exact-match, mean 0.26% · 4×4: 68.5%, mean 0.09% · 200/200 feasible · 2–4 ms/case (Gurobi: seconds) · 0.5 M params, &lt;150 MB VRAM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Extension 1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Evaluation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508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• Three-layer exam for the multi-OD / multi-fleet / staggered-departure model:</a:t>
            </a:r>
          </a:p>
          <a:p>
            <a:pPr>
              <a:defRPr sz="1250" b="0"/>
            </a:pPr>
            <a:r>
              <a:t>   – L1 same-distribution: 500 unseen cases (trained ODs, new δ / task mixes)</a:t>
            </a:r>
          </a:p>
          <a:p>
            <a:pPr>
              <a:defRPr sz="1250" b="0"/>
            </a:pPr>
            <a:r>
              <a:t>   – L2 OD ZERO-SHOT: 4 OD pairs never seen in training (G1→G5, G6→G2, G4→G8, G7→G3)</a:t>
            </a:r>
          </a:p>
          <a:p>
            <a:pPr>
              <a:defRPr sz="1250" b="0"/>
            </a:pPr>
            <a:r>
              <a:t>   – L3 fleet extrapolation: V ∈ {5, 8} (trained on {2,3,4,6})</a:t>
            </a:r>
          </a:p>
          <a:p>
            <a:pPr>
              <a:defRPr sz="1400" b="0"/>
            </a:pPr>
            <a:r>
              <a:t>• Metrics: feasibility rate · % matching Gurobi · absolute + percentage objective gap · per-case CSV + route visualisations</a:t>
            </a:r>
          </a:p>
          <a:p>
            <a:pPr>
              <a:defRPr sz="1400" b="1"/>
            </a:pPr>
            <a:r>
              <a:t>• [ RESULTS PENDING — label farm running (5000 train, ~3 h ETA at deck build time); slides to be filled after training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Next steps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554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• One recipe, verified twice and now scaling: Gurobi labels offline → small Transformer → guaranteed-feasible millisecond inference</a:t>
            </a:r>
          </a:p>
          <a:p>
            <a:pPr>
              <a:defRPr sz="1400" b="0"/>
            </a:pPr>
            <a:r>
              <a:t>• Verification chain at every step: MILP ≡ brute force (small grids) · decomposition ≡ simulator · per-case CSVs vs Gurobi</a:t>
            </a:r>
          </a:p>
          <a:p>
            <a:pPr>
              <a:defRPr sz="1400" b="0"/>
            </a:pPr>
            <a:r>
              <a:t>• Next: extension-1 results (3-seed) → data-scaling curve → 5×5 real network (760 CTM cells; topology extraction path verified, signals exactly replicable offline)</a:t>
            </a:r>
          </a:p>
          <a:p>
            <a:pPr>
              <a:defRPr sz="1400" b="0"/>
            </a:pPr>
            <a:r>
              <a:t>• Foundation-model gap list: OD conditioning (done in ext-1) → wider instance distributions → coordinate-based encoding for cross-network transfer (paused by decision)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Extension 2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The weight α is not a dial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/>
            </a:pPr>
            <a:r>
              <a:t>• Objective:   min [ α₁·Σcost − α₂·Σ y(i,τ) ] / (V·H),   both terms verified in (0,1] before α (max exactly 1.000 across all 6 100 labels — normalization is NOT the issue)</a:t>
            </a:r>
          </a:p>
          <a:p>
            <a:pPr>
              <a:defRPr sz="1450" b="1"/>
            </a:pPr>
            <a:r>
              <a:t>• Marginal argument: one extra step through a fresh cell costs ΔC = 1 and buys ΔK ≤ 1, so</a:t>
            </a:r>
          </a:p>
          <a:p>
            <a:pPr>
              <a:defRPr sz="1450" b="1"/>
            </a:pPr>
            <a:r>
              <a:t>        Δobj = (α₁ − α₂) / (V·H)      →  sign flips at α₂/α₁ = 1, independent of any normalizer</a:t>
            </a:r>
          </a:p>
          <a:p>
            <a:pPr>
              <a:defRPr sz="1450" b="0"/>
            </a:pPr>
            <a:r>
              <a:t>• α₂ &gt; α₁ ⇒ EVERY detour is profitable ⇒ the optimum roams until the horizon stops it; α₂ &lt; α₁ ⇒ no detour is ever bought (coverage survives only as a tie-break)</a:t>
            </a:r>
          </a:p>
          <a:p>
            <a:pPr>
              <a:defRPr sz="1450" b="1"/>
            </a:pPr>
            <a:r>
              <a:t>• So the real limit on coverage is the HORIZON H, not α. α selects one of two regimes; it cannot set a position between them</a:t>
            </a:r>
          </a:p>
          <a:p>
            <a:pPr>
              <a:defRPr sz="1450" b="0"/>
            </a:pPr>
            <a:r>
              <a:t>• Consequence for learning: conditioning a neural solver on α would teach it a switch, not a continuous semantics — not worth new labels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Extension 2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Switch vs dial — measured</a:t>
            </a:r>
            <a:endParaRPr lang="zh-CN" altLang="en-US" sz="2800" dirty="0"/>
          </a:p>
        </p:txBody>
      </p:sp>
      <p:pic>
        <p:nvPicPr>
          <p:cNvPr id="204" name="Picture 203" descr="figS1_knob_vs_sw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71600"/>
            <a:ext cx="10789920" cy="4130091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40080" y="55778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/>
            </a:pPr>
            <a:r>
              <a:t>• One fixed instance, one MILP, one solver, MIPGap 0.5%. LEFT: 13 values of α₂, budget fixed at H → 2 distinct solutions (α₂ = 0.10–0.48 identical link-for-link). RIGHT: α frozen at 0.3/0.7, budget swept → 10 distinct monotone solutions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Extension 2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The fix: a per-vehicle budget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48132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/>
            </a:pPr>
            <a:r>
              <a:t>• Every vehicle carries its own budget Bᵥ (= shift length / remaining energy — a PHYSICAL parameter, not a tuning weight); hard deadline  t0ᵥ + Bᵥ.  The objective is unchanged:</a:t>
            </a:r>
          </a:p>
          <a:p>
            <a:pPr>
              <a:defRPr sz="1350" b="1"/>
            </a:pPr>
            <a:r>
              <a:t>        min [ α₁·Σcost − α₂·Σ y(i,τ) ] / Σᵥ Bᵥ        s.t.  vehicle v reaches dᵥ by t0ᵥ + Bᵥ</a:t>
            </a:r>
          </a:p>
          <a:p>
            <a:pPr>
              <a:defRPr sz="1350" b="0"/>
            </a:pPr>
            <a:r>
              <a:t>• Parameterised as a SLACK RATIO:  Bᵥ = ⌈ρᵥ · τᵐⁱⁿ(oᵥ,dᵥ,t0ᵥ)⌉ — an absolute budget is not comparable across ODs (vacuous for near pairs, infeasible for far ones). ρ is the scalar the model is conditioned on, and the x-axis of every plot that follows</a:t>
            </a:r>
          </a:p>
          <a:p>
            <a:pPr>
              <a:defRPr sz="1350" b="0"/>
            </a:pPr>
            <a:r>
              <a:t>• Bounds preserved: cov ≤ cost ≤ Σᵥ Bᵥ, so both terms stay in (0,1] before α</a:t>
            </a:r>
          </a:p>
          <a:p>
            <a:pPr>
              <a:defRPr sz="1350" b="0"/>
            </a:pPr>
            <a:r>
              <a:t>• MILP deltas: commodity key (o,d,t0) → (o,d,t0,B); time-expanded DAG pruned at min(H, t0+B); coverage grid still on [0,H)</a:t>
            </a:r>
          </a:p>
          <a:p>
            <a:pPr>
              <a:defRPr sz="1350" b="1"/>
            </a:pPr>
            <a:r>
              <a:t>• Verified reduction: at Bᵥ ≥ H the budget MILP returns the previous full-horizon solution link-for-link — a strict generalisation, not a different problem</a:t>
            </a:r>
          </a:p>
          <a:p>
            <a:pPr>
              <a:defRPr sz="1350" b="0"/>
            </a:pPr>
            <a:r>
              <a:t>• Bonus: tight budgets prune the DAG, so labelling is ~30× FASTER (0.9 s vs 26 s mean per case)</a:t>
            </a:r>
          </a:p>
          <a:p>
            <a:pPr>
              <a:defRPr sz="1350" b="0"/>
            </a:pPr>
            <a:r>
              <a:t>• Taxonomy: budget is the defining constraint of Orienteering / Team-Orienteering — this moves the benchmark into the family the routing foundation models actually transfer 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Extension 2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Pipeline changes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/>
            </a:pPr>
            <a:r>
              <a:t>• ① Label farm — every vehicle draws ρᵥ; fleets are heterogeneous (65%) or homogeneous (35%)</a:t>
            </a:r>
          </a:p>
          <a:p>
            <a:pPr>
              <a:defRPr sz="1200" b="0"/>
            </a:pPr>
            <a:r>
              <a:t>   – trained ρ anchors {1.0, 1.5, 2.0, 3.0} · held out for the exam: {1.25, 1.75} and {4.0}</a:t>
            </a:r>
          </a:p>
          <a:p>
            <a:pPr>
              <a:defRPr sz="1200" b="0"/>
            </a:pPr>
            <a:r>
              <a:t>   – 10 780 labels, 0 errors, 0 hit the 60 s cap (previous farm: 5.1% capped) · ~17 min on 15 workers</a:t>
            </a:r>
          </a:p>
          <a:p>
            <a:pPr>
              <a:defRPr sz="1350" b="1"/>
            </a:pPr>
            <a:r>
              <a:t>• ② Encoder task token gains the budget attribute (RouteFinder-style attribute embedding):</a:t>
            </a:r>
          </a:p>
          <a:p>
            <a:pPr>
              <a:defRPr sz="1350" b="0"/>
            </a:pPr>
            <a:r>
              <a:t>        Emb_o(o) + Emb_d(d) + Proj(t0)   →   … + Proj([ρᵥ , Bᵥ/H])          (+0.3 k params)</a:t>
            </a:r>
          </a:p>
          <a:p>
            <a:pPr>
              <a:defRPr sz="1350" b="1"/>
            </a:pPr>
            <a:r>
              <a:t>• ③ Decoder feasibility mask switches threshold — the one change that makes budgets GENERALISE:</a:t>
            </a:r>
          </a:p>
          <a:p>
            <a:pPr>
              <a:defRPr sz="1350" b="0"/>
            </a:pPr>
            <a:r>
              <a:t>        min_finish(j, t, d) ≤ H   →   min_finish(j, t, d) ≤ t0ᵥ + Bᵥ</a:t>
            </a:r>
          </a:p>
          <a:p>
            <a:pPr>
              <a:defRPr sz="1200" b="0"/>
            </a:pPr>
            <a:r>
              <a:t>   – the budget enters through a HARD mechanical channel, not only as a soft preference in the labels ⇒ an unseen budget still yields a feasible route by construction</a:t>
            </a:r>
          </a:p>
          <a:p>
            <a:pPr>
              <a:defRPr sz="1350" b="1"/>
            </a:pPr>
            <a:r>
              <a:t>• ④ Exam gains layer L4 = budgets never seen in training (interpolation + extrapolation), plus a coverage-vs-ρ response curve against Gurobi</a:t>
            </a:r>
          </a:p>
          <a:p>
            <a:pPr>
              <a:defRPr sz="1350" b="0"/>
            </a:pPr>
            <a:r>
              <a:t>• Unchanged: teacher forcing on next-link CE, model selection on masked-greedy objective gap, no solver in the training loop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Extension 2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Results — five-layer exam</a:t>
            </a:r>
            <a:endParaRPr lang="zh-CN" altLang="en-US" sz="2800" dirty="0"/>
          </a:p>
        </p:txBody>
      </p:sp>
      <p:pic>
        <p:nvPicPr>
          <p:cNvPr id="204" name="Picture 203" descr="figS3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68" y="1371600"/>
            <a:ext cx="8595360" cy="4052617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40080" y="550468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/>
            </a:pPr>
            <a:r>
              <a:t>• 3 seeds × 60 epochs (1.04 M params, ~4 min/seed, one RTX 3090) · 6–9 ms per case · 274/800 of L1 match or beat Gurobi</a:t>
            </a:r>
          </a:p>
          <a:p>
            <a:pPr>
              <a:defRPr sz="1250" b="1"/>
            </a:pPr>
            <a:r>
              <a:t>• NOT comparable with the extension-1 numbers: different denominator (Σ Bᵥ vs V·H) and a different label set — a new baseline, not an improvement claim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Extension 2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Results — the dial generalises</a:t>
            </a:r>
            <a:endParaRPr lang="zh-CN" altLang="en-US" sz="2800" dirty="0"/>
          </a:p>
        </p:txBody>
      </p:sp>
      <p:pic>
        <p:nvPicPr>
          <p:cNvPr id="204" name="Picture 203" descr="figS2_respons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1371600"/>
            <a:ext cx="8229600" cy="4053969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640080" y="55321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/>
            </a:pPr>
            <a:r>
              <a:t>• Monotone response reproduced — including at ρ = 1.25 / 1.75 / 4.0, absent from every training label. At ρ = 1 the model is EXACTLY optimal (60/60); tracking degrades as slack grows (ρ = 4: 514 vs 708 cells)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Where this leaves us</a:t>
            </a:r>
            <a:endParaRPr lang="zh-CN" altLang="en-US" sz="28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0080" y="15087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• One recipe, now with a physically meaningful control: Gurobi labels offline → small Transformer → guaranteed-feasible millisecond inference, conditioned on per-vehicle budget</a:t>
            </a:r>
          </a:p>
          <a:p>
            <a:pPr>
              <a:defRPr sz="1400" b="0"/>
            </a:pPr>
            <a:r>
              <a:t>• The α analysis is a result in its own right: a normalized weight can still be a switch when the two objective terms are marginally 1:1 coupled — worth a paragraph in the paper</a:t>
            </a:r>
          </a:p>
          <a:p>
            <a:pPr>
              <a:defRPr sz="1400" b="0"/>
            </a:pPr>
            <a:r>
              <a:t>• Known degeneracy, deliberately left open: with uniform cell utility, overlap = 0 in 92% of labels ⇒ coverage ≈ cost. The budget controls HOW MUCH to roam; WHICH cells to prefer needs heterogeneous utility wᵢ (deferred by decision — the α₂/α₁ ratio becomes a real threshold then)</a:t>
            </a:r>
          </a:p>
          <a:p>
            <a:pPr>
              <a:defRPr sz="1400" b="0"/>
            </a:pPr>
            <a:r>
              <a:t>• Next levers, in order: multi-sample (non-greedy) decoding · data-volume slope · wider ρ range to repair L4b extrapolation · then the 5×5 real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4053</TotalTime>
  <Words>664</Words>
  <Application>Microsoft Office PowerPoint</Application>
  <PresentationFormat>Widescreen</PresentationFormat>
  <Paragraphs>133</Paragraphs>
  <Slides>10</Slides>
  <Notes>1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等线</vt:lpstr>
      <vt:lpstr>Amasis MT Pro</vt:lpstr>
      <vt:lpstr>Amasis MT Pro Medium</vt:lpstr>
      <vt:lpstr>Arial</vt:lpstr>
      <vt:lpstr>Cambria Math</vt:lpstr>
      <vt:lpstr>Times New Roman</vt:lpstr>
      <vt:lpstr>Wingdings</vt:lpstr>
      <vt:lpstr>PU</vt:lpstr>
      <vt:lpstr>Yilin Wang  Dec.12nd 2025</vt:lpstr>
      <vt:lpstr>PowerPoint Presentation</vt:lpstr>
      <vt:lpstr>PowerPoint Presentation</vt:lpstr>
      <vt:lpstr>PowerPoint Presentation</vt:lpstr>
      <vt:lpstr>Yilin Wang: wang4517@purdue.edu Yiheng Feng*: feng333@purdue.edu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Yilin Wang  Nov.4th 2025</dc:title>
  <dc:creator>Yilin Wang</dc:creator>
  <cp:lastModifiedBy>Yilin Wang</cp:lastModifiedBy>
  <cp:revision>59</cp:revision>
  <dcterms:created xsi:type="dcterms:W3CDTF">2025-11-01T23:58:16Z</dcterms:created>
  <dcterms:modified xsi:type="dcterms:W3CDTF">2026-08-02T19:39:51Z</dcterms:modified>
</cp:coreProperties>
</file>